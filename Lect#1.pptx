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686" r:id="rId3"/>
    <p:sldId id="257" r:id="rId4"/>
    <p:sldId id="259" r:id="rId5"/>
    <p:sldId id="726" r:id="rId6"/>
    <p:sldId id="727" r:id="rId7"/>
    <p:sldId id="723" r:id="rId8"/>
    <p:sldId id="687" r:id="rId9"/>
    <p:sldId id="696" r:id="rId10"/>
    <p:sldId id="316" r:id="rId11"/>
    <p:sldId id="697" r:id="rId12"/>
    <p:sldId id="724" r:id="rId13"/>
    <p:sldId id="725" r:id="rId14"/>
    <p:sldId id="698" r:id="rId15"/>
    <p:sldId id="699" r:id="rId16"/>
    <p:sldId id="700" r:id="rId17"/>
    <p:sldId id="701" r:id="rId18"/>
    <p:sldId id="702" r:id="rId19"/>
    <p:sldId id="703" r:id="rId20"/>
    <p:sldId id="704" r:id="rId21"/>
    <p:sldId id="690" r:id="rId22"/>
    <p:sldId id="691" r:id="rId23"/>
    <p:sldId id="708" r:id="rId24"/>
    <p:sldId id="709" r:id="rId25"/>
    <p:sldId id="7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6BCAD-F85B-4D1C-842A-2A67481993F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831B2-9A46-4E67-98F8-10F9AEB69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49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A973-A6ED-44CC-8114-1A00AB1B776F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0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38E47-246A-44F3-95E5-2838FA574091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4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4FDD-7E3A-4CC7-A33E-9EA27EA3D5F6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8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70B5-0EA2-4CD0-AFD9-2E565B19C71A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7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6147-2893-4D46-ACF5-0C0873351A79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1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6366-8D0D-47C8-A172-A5EF1E2BFFB5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6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47534-8391-40D7-B163-F108D07A6C52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2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6520-C7A4-4DF1-8CE2-B2D07F3CE5A6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3C8B-F730-4384-81EE-E89BC4341F1B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9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AD98-BA1E-4EE6-BE4C-1C0E58F06E0F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4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6416-D8B7-45F2-84FD-6657A6C4632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5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F9BD4-5D6D-4274-9F6F-447E9A22D200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3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uchismita@nitrkl.ac.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49135"/>
            <a:ext cx="9144000" cy="280138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err="1" smtClean="0"/>
              <a:t>IoT</a:t>
            </a:r>
            <a:r>
              <a:rPr lang="en-US" b="1" dirty="0" smtClean="0"/>
              <a:t> &amp; Embedded Systems</a:t>
            </a:r>
            <a:br>
              <a:rPr lang="en-US" b="1" dirty="0" smtClean="0"/>
            </a:br>
            <a:r>
              <a:rPr lang="en-US" b="1" dirty="0" err="1" smtClean="0"/>
              <a:t>Lect</a:t>
            </a:r>
            <a:r>
              <a:rPr lang="en-US" b="1" dirty="0" smtClean="0"/>
              <a:t> #01</a:t>
            </a:r>
            <a:r>
              <a:rPr lang="en-US" b="1" dirty="0"/>
              <a:t/>
            </a:r>
            <a:br>
              <a:rPr lang="en-US" b="1" dirty="0"/>
            </a:br>
            <a:r>
              <a:rPr lang="en-US" sz="4400" b="1" dirty="0"/>
              <a:t>Autumn </a:t>
            </a:r>
            <a:r>
              <a:rPr lang="en-US" sz="4400" b="1" dirty="0" smtClean="0"/>
              <a:t>2026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3641" y="4264429"/>
            <a:ext cx="9144000" cy="2027412"/>
          </a:xfrm>
        </p:spPr>
        <p:txBody>
          <a:bodyPr>
            <a:normAutofit/>
          </a:bodyPr>
          <a:lstStyle/>
          <a:p>
            <a:r>
              <a:rPr lang="en-US" b="1" dirty="0"/>
              <a:t>Prof. </a:t>
            </a:r>
            <a:r>
              <a:rPr lang="en-US" b="1" dirty="0" err="1"/>
              <a:t>Suchismita</a:t>
            </a:r>
            <a:r>
              <a:rPr lang="en-US" b="1" dirty="0"/>
              <a:t> </a:t>
            </a:r>
            <a:r>
              <a:rPr lang="en-US" b="1" dirty="0" err="1"/>
              <a:t>Chinara</a:t>
            </a:r>
            <a:endParaRPr lang="en-US" b="1" dirty="0"/>
          </a:p>
          <a:p>
            <a:r>
              <a:rPr lang="en-US" b="1" dirty="0"/>
              <a:t>Dept. of Computer Science </a:t>
            </a:r>
            <a:r>
              <a:rPr lang="en-US" b="1" dirty="0" err="1"/>
              <a:t>Engg</a:t>
            </a:r>
            <a:r>
              <a:rPr lang="en-US" b="1" dirty="0"/>
              <a:t>.</a:t>
            </a:r>
          </a:p>
          <a:p>
            <a:r>
              <a:rPr lang="en-US" b="1" dirty="0"/>
              <a:t>National Institute of Technology Rourkela-769008</a:t>
            </a:r>
          </a:p>
          <a:p>
            <a:r>
              <a:rPr lang="en-US" b="1" dirty="0"/>
              <a:t>Email: </a:t>
            </a:r>
            <a:r>
              <a:rPr lang="en-US" b="1" dirty="0">
                <a:hlinkClick r:id="rId2"/>
              </a:rPr>
              <a:t>suchismita@nitrkl.ac.in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EE189-A515-41E1-9A51-DED951A465A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56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Internet </a:t>
            </a:r>
            <a:r>
              <a:rPr lang="en-IN" dirty="0"/>
              <a:t>of Things :Principles and Paradigms by Rajkumar </a:t>
            </a:r>
            <a:r>
              <a:rPr lang="en-IN" dirty="0" err="1"/>
              <a:t>Buyaa</a:t>
            </a:r>
            <a:r>
              <a:rPr lang="en-IN" dirty="0"/>
              <a:t> and Amir Vahid </a:t>
            </a:r>
            <a:r>
              <a:rPr lang="en-IN" dirty="0" err="1"/>
              <a:t>Dastjerdi</a:t>
            </a:r>
            <a:r>
              <a:rPr lang="en-IN" dirty="0"/>
              <a:t>, Elsevier.</a:t>
            </a:r>
          </a:p>
          <a:p>
            <a:r>
              <a:rPr lang="en-IN" dirty="0"/>
              <a:t>Internet of Things: A Hands-on approach by A </a:t>
            </a:r>
            <a:r>
              <a:rPr lang="en-IN" dirty="0" err="1"/>
              <a:t>Bahga</a:t>
            </a:r>
            <a:r>
              <a:rPr lang="en-IN" dirty="0"/>
              <a:t> and V </a:t>
            </a:r>
            <a:r>
              <a:rPr lang="en-IN" dirty="0" err="1"/>
              <a:t>Madisetti</a:t>
            </a:r>
            <a:r>
              <a:rPr lang="en-IN" dirty="0"/>
              <a:t>, University press.</a:t>
            </a:r>
          </a:p>
          <a:p>
            <a:r>
              <a:rPr lang="en-IN" dirty="0"/>
              <a:t>The Internet of Things: Enabling Technologies, Platforms, and Use cases by P Raj and  A C Raman, CRC Press.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E1B8-9901-4584-B96F-9E03128CD123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0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7088"/>
          </a:xfrm>
        </p:spPr>
        <p:txBody>
          <a:bodyPr/>
          <a:lstStyle/>
          <a:p>
            <a:pPr algn="ctr"/>
            <a:r>
              <a:rPr lang="en-US" b="1" dirty="0"/>
              <a:t>Definition of </a:t>
            </a:r>
            <a:r>
              <a:rPr lang="en-US" b="1" dirty="0" err="1"/>
              <a:t>IoT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IoT</a:t>
            </a:r>
            <a:r>
              <a:rPr lang="en-US" dirty="0"/>
              <a:t> refers to the interconnection via the Internet of computing devices embedded in everyday objects, enabling them to send and receive data.</a:t>
            </a:r>
          </a:p>
          <a:p>
            <a:pPr algn="just"/>
            <a:r>
              <a:rPr lang="en-US" dirty="0" err="1"/>
              <a:t>IoT</a:t>
            </a:r>
            <a:r>
              <a:rPr lang="en-US" dirty="0"/>
              <a:t> can also be defined as the analysis of data to generate a meaningful action.</a:t>
            </a:r>
          </a:p>
          <a:p>
            <a:pPr algn="just"/>
            <a:r>
              <a:rPr lang="en-US" dirty="0"/>
              <a:t>The scope of IoT is </a:t>
            </a:r>
            <a:r>
              <a:rPr lang="en-US" dirty="0" smtClean="0"/>
              <a:t>getting </a:t>
            </a:r>
            <a:r>
              <a:rPr lang="en-US" dirty="0"/>
              <a:t>the devices </a:t>
            </a:r>
            <a:r>
              <a:rPr lang="en-US" dirty="0" smtClean="0"/>
              <a:t>connected and exchange </a:t>
            </a:r>
            <a:r>
              <a:rPr lang="en-US" dirty="0"/>
              <a:t>of </a:t>
            </a:r>
            <a:r>
              <a:rPr lang="en-US" dirty="0" smtClean="0"/>
              <a:t>information </a:t>
            </a:r>
            <a:r>
              <a:rPr lang="en-US" dirty="0"/>
              <a:t>from one device to another </a:t>
            </a:r>
            <a:r>
              <a:rPr lang="en-US" dirty="0" smtClean="0"/>
              <a:t>for </a:t>
            </a:r>
            <a:r>
              <a:rPr lang="en-US" dirty="0"/>
              <a:t>the accurate </a:t>
            </a:r>
            <a:r>
              <a:rPr lang="en-US" dirty="0" smtClean="0"/>
              <a:t>interpretation. </a:t>
            </a:r>
            <a:endParaRPr lang="en-US" dirty="0"/>
          </a:p>
          <a:p>
            <a:pPr algn="just"/>
            <a:r>
              <a:rPr lang="en-US" dirty="0" err="1"/>
              <a:t>IoT</a:t>
            </a:r>
            <a:r>
              <a:rPr lang="en-US" dirty="0"/>
              <a:t> is </a:t>
            </a:r>
            <a:r>
              <a:rPr lang="en-US" dirty="0" smtClean="0"/>
              <a:t>a </a:t>
            </a:r>
            <a:r>
              <a:rPr lang="en-US" dirty="0"/>
              <a:t>combination of technologies and domain </a:t>
            </a:r>
            <a:r>
              <a:rPr lang="en-US" dirty="0" err="1" smtClean="0"/>
              <a:t>knowledges</a:t>
            </a:r>
            <a:r>
              <a:rPr lang="en-US" dirty="0" smtClean="0"/>
              <a:t>. </a:t>
            </a:r>
            <a:r>
              <a:rPr lang="en-US" dirty="0"/>
              <a:t>So </a:t>
            </a:r>
            <a:r>
              <a:rPr lang="en-US" dirty="0" err="1"/>
              <a:t>IoT</a:t>
            </a:r>
            <a:r>
              <a:rPr lang="en-US" dirty="0"/>
              <a:t> is not owned by one engineering branch. </a:t>
            </a:r>
            <a:endParaRPr lang="en-US" dirty="0" smtClean="0"/>
          </a:p>
          <a:p>
            <a:pPr algn="just"/>
            <a:r>
              <a:rPr lang="en-US" dirty="0"/>
              <a:t>Father of </a:t>
            </a:r>
            <a:r>
              <a:rPr lang="en-US" dirty="0" err="1"/>
              <a:t>IoT</a:t>
            </a:r>
            <a:r>
              <a:rPr lang="en-US" dirty="0"/>
              <a:t>: </a:t>
            </a:r>
            <a:r>
              <a:rPr lang="en-US" dirty="0" err="1"/>
              <a:t>kevin</a:t>
            </a:r>
            <a:r>
              <a:rPr lang="en-US" dirty="0"/>
              <a:t> Ashton</a:t>
            </a:r>
          </a:p>
          <a:p>
            <a:pPr algn="just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2EAE6-D4C2-47FE-9030-CB6A33214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028F-D97F-476F-B95B-B2BA2DA796B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3D5E6-A786-485B-8062-B2908C63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196E7-597E-4FB7-915C-1CD11353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1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7695"/>
            <a:ext cx="10515600" cy="963093"/>
          </a:xfrm>
        </p:spPr>
        <p:txBody>
          <a:bodyPr/>
          <a:lstStyle/>
          <a:p>
            <a:pPr algn="ctr"/>
            <a:r>
              <a:rPr lang="en-US" b="1" dirty="0"/>
              <a:t>Life in an </a:t>
            </a:r>
            <a:r>
              <a:rPr lang="en-US" b="1" dirty="0" err="1"/>
              <a:t>IoT</a:t>
            </a:r>
            <a:r>
              <a:rPr lang="en-US" b="1" dirty="0"/>
              <a:t>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>
            <a:normAutofit/>
          </a:bodyPr>
          <a:lstStyle/>
          <a:p>
            <a:r>
              <a:rPr lang="en-US" dirty="0"/>
              <a:t>When you wakeup, the water heater would have hot water ready</a:t>
            </a:r>
          </a:p>
          <a:p>
            <a:r>
              <a:rPr lang="en-US" dirty="0"/>
              <a:t>During your bath, the microwave would have cooked your food.</a:t>
            </a:r>
          </a:p>
          <a:p>
            <a:r>
              <a:rPr lang="en-US" dirty="0"/>
              <a:t>When you lock the door of your house, the car doors would open for you.</a:t>
            </a:r>
          </a:p>
          <a:p>
            <a:r>
              <a:rPr lang="en-US" dirty="0"/>
              <a:t>Your AC would adjust based on your body temperature/ room temperature</a:t>
            </a:r>
          </a:p>
          <a:p>
            <a:r>
              <a:rPr lang="en-US" dirty="0"/>
              <a:t>The pill box would </a:t>
            </a:r>
            <a:r>
              <a:rPr lang="en-US" dirty="0" smtClean="0"/>
              <a:t>remind you </a:t>
            </a:r>
            <a:r>
              <a:rPr lang="en-US" dirty="0"/>
              <a:t>at the time of your medicine intake.</a:t>
            </a:r>
          </a:p>
          <a:p>
            <a:r>
              <a:rPr lang="en-US" dirty="0"/>
              <a:t>Your refrigerator would order milk / egg on need</a:t>
            </a:r>
          </a:p>
          <a:p>
            <a:r>
              <a:rPr lang="en-US" dirty="0"/>
              <a:t>While nearing your house, the house lights would turn ON with appropriate brightness.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B6814-6586-491F-923D-6F391513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0D62-254E-4ED2-9120-86CFADDCA2B8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6152B-257F-4FE1-93B4-91B11678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757E5-573D-4CAF-B6E5-81E003C9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4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920"/>
            <a:ext cx="10591799" cy="606841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3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894997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6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471"/>
          </a:xfrm>
        </p:spPr>
        <p:txBody>
          <a:bodyPr/>
          <a:lstStyle/>
          <a:p>
            <a:pPr algn="ctr"/>
            <a:r>
              <a:rPr lang="en-US" b="1" dirty="0" err="1" smtClean="0"/>
              <a:t>IoT</a:t>
            </a:r>
            <a:r>
              <a:rPr lang="en-US" b="1" dirty="0" smtClean="0"/>
              <a:t> Components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38E47-246A-44F3-95E5-2838FA574091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Internet of Things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7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585" y="1371600"/>
            <a:ext cx="8101808" cy="483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6573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Pillars of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/>
          </a:bodyPr>
          <a:lstStyle/>
          <a:p>
            <a:r>
              <a:rPr lang="en-IN" dirty="0"/>
              <a:t>Based of two Important pillars: Internet &amp; Things</a:t>
            </a:r>
          </a:p>
          <a:p>
            <a:r>
              <a:rPr lang="en-IN" dirty="0"/>
              <a:t>Internet ( well known term)</a:t>
            </a:r>
          </a:p>
          <a:p>
            <a:pPr lvl="1"/>
            <a:r>
              <a:rPr lang="en-IN" b="1" dirty="0" smtClean="0"/>
              <a:t>Applications</a:t>
            </a:r>
            <a:r>
              <a:rPr lang="en-IN" dirty="0" smtClean="0"/>
              <a:t> need </a:t>
            </a:r>
            <a:r>
              <a:rPr lang="en-IN" dirty="0"/>
              <a:t>to support a diverse set of devices for data analysis &amp;</a:t>
            </a:r>
            <a:r>
              <a:rPr lang="en-IN" dirty="0" smtClean="0"/>
              <a:t>knowledge </a:t>
            </a:r>
            <a:r>
              <a:rPr lang="en-IN" dirty="0"/>
              <a:t>extraction</a:t>
            </a:r>
          </a:p>
          <a:p>
            <a:pPr lvl="1"/>
            <a:r>
              <a:rPr lang="en-IN" b="1" dirty="0"/>
              <a:t>Communication protocols</a:t>
            </a:r>
          </a:p>
          <a:p>
            <a:pPr lvl="1"/>
            <a:r>
              <a:rPr lang="en-IN" b="1" dirty="0"/>
              <a:t>Integration</a:t>
            </a:r>
            <a:r>
              <a:rPr lang="en-IN" dirty="0"/>
              <a:t> of mobile devices, edge devices, and humans as controllers</a:t>
            </a:r>
          </a:p>
          <a:p>
            <a:pPr lvl="1"/>
            <a:endParaRPr lang="en-IN" dirty="0"/>
          </a:p>
          <a:p>
            <a:r>
              <a:rPr lang="en-IN" dirty="0"/>
              <a:t>Things</a:t>
            </a:r>
          </a:p>
          <a:p>
            <a:pPr lvl="1"/>
            <a:r>
              <a:rPr lang="en-IN" dirty="0"/>
              <a:t>Smart devices / Sensors / Human beings</a:t>
            </a:r>
          </a:p>
          <a:p>
            <a:pPr lvl="1"/>
            <a:r>
              <a:rPr lang="en-IN" dirty="0"/>
              <a:t>Any device that is able to communicate with other entities making it accessible at any time and anywhere.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B809-B808-4DFA-B91E-C639E3D0359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65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324E-8FF6-4397-A3C1-36859D20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Design goals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BBE1-0400-4DB7-95BB-07A1AA0F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4F954-ED78-453E-A906-387F8F5DC63C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1768D-8888-4A71-8DDA-135F1345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A511E-21F9-4D9A-B358-2E38F389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E3228-A0C4-4813-AB96-D3E878511644}"/>
              </a:ext>
            </a:extLst>
          </p:cNvPr>
          <p:cNvSpPr/>
          <p:nvPr/>
        </p:nvSpPr>
        <p:spPr>
          <a:xfrm>
            <a:off x="838200" y="2159000"/>
            <a:ext cx="2571750" cy="828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Any Time – Any Device</a:t>
            </a:r>
            <a:endParaRPr lang="en-IN" sz="2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4A9AB-A4D2-42EA-B4C6-E35EFFAAFB46}"/>
              </a:ext>
            </a:extLst>
          </p:cNvPr>
          <p:cNvSpPr/>
          <p:nvPr/>
        </p:nvSpPr>
        <p:spPr>
          <a:xfrm>
            <a:off x="4381500" y="2159000"/>
            <a:ext cx="2571750" cy="828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Anyone</a:t>
            </a:r>
            <a:endParaRPr lang="en-IN" sz="20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FE33EF-E7AD-49EB-9405-987C05E678C5}"/>
              </a:ext>
            </a:extLst>
          </p:cNvPr>
          <p:cNvSpPr/>
          <p:nvPr/>
        </p:nvSpPr>
        <p:spPr>
          <a:xfrm>
            <a:off x="7924800" y="2159000"/>
            <a:ext cx="3257550" cy="828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Any Service / Any business</a:t>
            </a:r>
            <a:endParaRPr lang="en-IN" sz="20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9589E6-2782-4D27-9397-E77225E771D7}"/>
              </a:ext>
            </a:extLst>
          </p:cNvPr>
          <p:cNvSpPr/>
          <p:nvPr/>
        </p:nvSpPr>
        <p:spPr>
          <a:xfrm>
            <a:off x="2828925" y="4845050"/>
            <a:ext cx="2571750" cy="828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Any network</a:t>
            </a:r>
            <a:endParaRPr lang="en-IN" sz="20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B2F237-2E05-426D-9FA3-785F1473CECA}"/>
              </a:ext>
            </a:extLst>
          </p:cNvPr>
          <p:cNvSpPr/>
          <p:nvPr/>
        </p:nvSpPr>
        <p:spPr>
          <a:xfrm>
            <a:off x="7324724" y="4845050"/>
            <a:ext cx="2886075" cy="828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Anywhere / Any location</a:t>
            </a:r>
            <a:endParaRPr lang="en-IN" sz="2000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6F1BA3-9CA2-4415-BC41-575796CD5DCC}"/>
              </a:ext>
            </a:extLst>
          </p:cNvPr>
          <p:cNvSpPr/>
          <p:nvPr/>
        </p:nvSpPr>
        <p:spPr>
          <a:xfrm>
            <a:off x="5400675" y="3455987"/>
            <a:ext cx="2352675" cy="115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IoT</a:t>
            </a:r>
            <a:endParaRPr lang="en-I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19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Why </a:t>
            </a:r>
            <a:r>
              <a:rPr lang="en-IN" b="1" dirty="0" err="1"/>
              <a:t>IoT</a:t>
            </a:r>
            <a:r>
              <a:rPr lang="en-IN" b="1" dirty="0"/>
              <a:t>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Want to automate</a:t>
            </a:r>
          </a:p>
          <a:p>
            <a:r>
              <a:rPr lang="en-IN" dirty="0"/>
              <a:t>Want to control everything</a:t>
            </a:r>
          </a:p>
          <a:p>
            <a:r>
              <a:rPr lang="en-IN" dirty="0"/>
              <a:t>Want to receive more data</a:t>
            </a:r>
          </a:p>
          <a:p>
            <a:r>
              <a:rPr lang="en-IN" dirty="0"/>
              <a:t>Want to make things faster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A01F-2A65-4302-9D84-EC49844C8B6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68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51CB-345A-402A-918B-4A3BBEAD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Area of IoT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9B6C4-C688-44E4-9EF7-322D5108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6CBE-361C-4D4B-B802-9D20DDE77279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2E991-3347-49A0-B776-B3666BAB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408AB-4206-4B52-8A81-49F9FF65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11</a:t>
            </a:fld>
            <a:endParaRPr lang="en-US"/>
          </a:p>
        </p:txBody>
      </p:sp>
      <p:pic>
        <p:nvPicPr>
          <p:cNvPr id="1028" name="Picture 4" descr="10 Best IoT Applications (Internet of Things: Applications)">
            <a:extLst>
              <a:ext uri="{FF2B5EF4-FFF2-40B4-BE49-F238E27FC236}">
                <a16:creationId xmlns:a16="http://schemas.microsoft.com/office/drawing/2014/main" id="{C5A4E835-4171-4131-A6D3-0A285CA091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247775"/>
            <a:ext cx="10229850" cy="510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174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Horizontal and vertical aspects of </a:t>
            </a:r>
            <a:r>
              <a:rPr lang="en-US" dirty="0" err="1" smtClean="0"/>
              <a:t>IoT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890" y="1519084"/>
            <a:ext cx="9955162" cy="483726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38E47-246A-44F3-95E5-2838FA574091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Internet of Things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34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/>
              <a:t>IIoT</a:t>
            </a:r>
            <a:r>
              <a:rPr lang="en-US" dirty="0" smtClean="0"/>
              <a:t>: The largest vertical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Energy production</a:t>
            </a:r>
          </a:p>
          <a:p>
            <a:r>
              <a:rPr lang="en-US" dirty="0" smtClean="0"/>
              <a:t>Manufacturing</a:t>
            </a:r>
          </a:p>
          <a:p>
            <a:r>
              <a:rPr lang="en-US" dirty="0" smtClean="0"/>
              <a:t>Agriculture</a:t>
            </a:r>
          </a:p>
          <a:p>
            <a:r>
              <a:rPr lang="en-US" dirty="0" smtClean="0"/>
              <a:t>Healthcare</a:t>
            </a:r>
          </a:p>
          <a:p>
            <a:r>
              <a:rPr lang="en-US" dirty="0" smtClean="0"/>
              <a:t>Retail</a:t>
            </a:r>
          </a:p>
          <a:p>
            <a:r>
              <a:rPr lang="en-US" dirty="0" smtClean="0"/>
              <a:t>Transportation</a:t>
            </a:r>
          </a:p>
          <a:p>
            <a:r>
              <a:rPr lang="en-US" dirty="0" smtClean="0"/>
              <a:t>Logistics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38E47-246A-44F3-95E5-2838FA574091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Internet of Things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84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961E-2953-448C-BFD9-2DDB6702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IoT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24D4-20B7-4AF1-AF2B-289D35ED0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Connectivity</a:t>
            </a:r>
          </a:p>
          <a:p>
            <a:pPr marL="514350" indent="-514350">
              <a:buAutoNum type="arabicPeriod"/>
            </a:pPr>
            <a:r>
              <a:rPr lang="en-US" dirty="0"/>
              <a:t>Intelligence and identity</a:t>
            </a:r>
          </a:p>
          <a:p>
            <a:pPr marL="514350" indent="-514350">
              <a:buAutoNum type="arabicPeriod"/>
            </a:pPr>
            <a:r>
              <a:rPr lang="en-US" dirty="0"/>
              <a:t>Scalability</a:t>
            </a:r>
          </a:p>
          <a:p>
            <a:pPr marL="514350" indent="-514350">
              <a:buAutoNum type="arabicPeriod"/>
            </a:pPr>
            <a:r>
              <a:rPr lang="en-US" dirty="0"/>
              <a:t>Dynamic and self-adapting</a:t>
            </a:r>
          </a:p>
          <a:p>
            <a:pPr marL="514350" indent="-514350">
              <a:buAutoNum type="arabicPeriod"/>
            </a:pPr>
            <a:r>
              <a:rPr lang="en-US" dirty="0"/>
              <a:t>Architecture</a:t>
            </a:r>
          </a:p>
          <a:p>
            <a:pPr marL="514350" indent="-514350">
              <a:buAutoNum type="arabicPeriod"/>
            </a:pPr>
            <a:r>
              <a:rPr lang="en-US" dirty="0"/>
              <a:t>safety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9FAD-210D-40BE-95FE-3BF8681F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D8BF-FB51-4B7C-9258-F6D55834D696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7CCDB-EA04-41D5-87D7-8947AC53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9AEF-44B5-40E7-B224-C4D3759F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26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F20FE-CFA8-4AAB-98DF-2A050BCE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Connectivity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6C3E-41CC-4861-A6BE-84B8E8FE6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most important requirement of IoT infrastructure</a:t>
            </a:r>
          </a:p>
          <a:p>
            <a:r>
              <a:rPr lang="en-US" dirty="0"/>
              <a:t>THINGS should be connected to IoT infrastructure ( wireless connection)</a:t>
            </a:r>
          </a:p>
          <a:p>
            <a:r>
              <a:rPr lang="en-US" dirty="0"/>
              <a:t>Connection should be guaranteed anytime, anywhere, with anyone</a:t>
            </a:r>
          </a:p>
          <a:p>
            <a:r>
              <a:rPr lang="en-US" dirty="0"/>
              <a:t>No connectivity – No IoT exists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46530-0666-4034-A54E-21D5D268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642BF-D389-4C82-9931-A54EC303A3B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22375-4112-45D9-A3A8-33F11C0A0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93F66-70E8-4B0E-A2C3-791F1CB1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90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A79E-32CD-4C58-A669-A0C15AD9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Intelligence &amp; identity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B846C-3F51-4FBC-AF3B-346DC7E0C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extraction of knowledge from the generated data is more important.</a:t>
            </a:r>
          </a:p>
          <a:p>
            <a:r>
              <a:rPr lang="en-US" dirty="0"/>
              <a:t>Ex: the sensor generated data will be useful only when it is interpreted properly. Each IoT device has an unique identifier called IP address.</a:t>
            </a:r>
          </a:p>
          <a:p>
            <a:r>
              <a:rPr lang="en-US" dirty="0"/>
              <a:t>The identification is helpful in tracking the object.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F6B0F-796C-48F6-B4BE-01E091D2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2278-95DE-4473-A105-4CB56916632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3D418-3CF3-4FF9-B3F1-F2F92BC5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0B731-100E-4F27-8BBA-FECD34BB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36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61C4-449B-4068-9F23-117C9871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D4D1-43FC-4A0B-B39A-74F7C0BB2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devices connected to IoT eco system is increasing day by day.</a:t>
            </a:r>
          </a:p>
          <a:p>
            <a:r>
              <a:rPr lang="en-US" dirty="0"/>
              <a:t>Any IoT setup should be capable of handling the massive growth in number.</a:t>
            </a:r>
          </a:p>
          <a:p>
            <a:r>
              <a:rPr lang="en-US" dirty="0"/>
              <a:t>The data generated is also enormous.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800C9-D239-43BB-B394-2A938524F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1AD-AA80-4A83-BB4A-5715E4C52A8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4EF-BF1C-4CE1-81EC-5AB4E12E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D8EA8-E3D5-40E7-A8D0-5247F354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4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F351-17A7-4C07-9535-ACDC2C83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and self adapting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2ABF7-C5C9-45DE-B62C-6BF18E51A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devices should dynamically adapt themselves to the changing contexts or scenarios. </a:t>
            </a:r>
          </a:p>
          <a:p>
            <a:r>
              <a:rPr lang="en-US" dirty="0"/>
              <a:t>Ex: a camera working in an IoT environment should be adaptable to work in different condition and different intensity of light.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52EBC-DA7F-48D3-A14F-AC67585F6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E89A-3D30-44F0-9E7A-AC3B4B999E20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4435F-E053-4C1C-9242-77AE2A131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4BA37-3A87-47FB-9610-C16095B8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2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4E8-1A29-455D-B8D8-C862EE5C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01DB8-7B0B-42D4-A6A8-16F055887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architecture can not be homogeneous in nature. </a:t>
            </a:r>
          </a:p>
          <a:p>
            <a:r>
              <a:rPr lang="en-US" dirty="0"/>
              <a:t>It should by hybrid, supporting different manufacturer’s product to function in the IoT network.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339B4-7DAE-453C-8A6F-157796DA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82F4-94D2-497F-8C9D-3463B15C9F9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DD38B-DFDC-497E-84A9-360F673F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7F037-6825-45DC-86F1-9AEF38E63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44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0FD8-D23D-4338-8960-AADCB6BE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C76A2-B3A1-47C4-BE47-A0D75E7FB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threat of sensitive personal details of an user getting compromised when all his devices are connected to the internet. </a:t>
            </a:r>
          </a:p>
          <a:p>
            <a:r>
              <a:rPr lang="en-US" dirty="0"/>
              <a:t>This could cause a loss to the user. </a:t>
            </a:r>
          </a:p>
          <a:p>
            <a:r>
              <a:rPr lang="en-US" dirty="0"/>
              <a:t>The equipment safety is also critical.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9B2D2-16BE-46AC-96A2-AB912F29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D944-44AC-4EB7-98F7-97B4194D1029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02C80-88C8-4B46-BB7F-CCCD4620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95BF9-CCA5-4537-B5A0-114A5647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20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3"/>
            <a:ext cx="10515600" cy="862883"/>
          </a:xfrm>
        </p:spPr>
        <p:txBody>
          <a:bodyPr/>
          <a:lstStyle/>
          <a:p>
            <a:r>
              <a:rPr lang="en-IN" b="1" dirty="0"/>
              <a:t>Example IoT Ecosystem</a:t>
            </a: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14" y="980840"/>
            <a:ext cx="11088710" cy="5381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F71C-9A18-47CE-858D-85A2CD83A0E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56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5111"/>
          </a:xfrm>
        </p:spPr>
        <p:txBody>
          <a:bodyPr/>
          <a:lstStyle/>
          <a:p>
            <a:r>
              <a:rPr lang="en-IN" b="1" dirty="0" err="1"/>
              <a:t>IoT</a:t>
            </a:r>
            <a:r>
              <a:rPr lang="en-IN" b="1" dirty="0"/>
              <a:t> Ecosystem</a:t>
            </a:r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75" y="1375872"/>
            <a:ext cx="10600013" cy="484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FEB7A-C727-420F-A3FD-4E1A9A97C8D7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44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0B2A-4F45-4DFD-AED1-45418BF7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4572"/>
          </a:xfrm>
        </p:spPr>
        <p:txBody>
          <a:bodyPr/>
          <a:lstStyle/>
          <a:p>
            <a:r>
              <a:rPr lang="en-US" b="1" dirty="0"/>
              <a:t>THINGS of IoT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88027-6D33-4027-A770-A9A4CCDC9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574"/>
            <a:ext cx="10515600" cy="4569389"/>
          </a:xfrm>
        </p:spPr>
        <p:txBody>
          <a:bodyPr/>
          <a:lstStyle/>
          <a:p>
            <a:pPr algn="just"/>
            <a:r>
              <a:rPr lang="en-US" dirty="0"/>
              <a:t>The “thing” in an IoT system is something that has an identity of existence. (IP address)</a:t>
            </a:r>
          </a:p>
          <a:p>
            <a:pPr algn="just"/>
            <a:r>
              <a:rPr lang="en-US" dirty="0"/>
              <a:t>The thing can measure / monitor / exchange data</a:t>
            </a:r>
          </a:p>
          <a:p>
            <a:pPr algn="just"/>
            <a:r>
              <a:rPr lang="en-US" dirty="0"/>
              <a:t>Example of THINGS are – temp sensor, pressure sensor, human / server / vehicles/ shoes/ wearables/ pacemaker/ food quality measuring/ biochip transponders for animals in farms etc.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“THINGS” = HARDWARE + SOFTWARE +SERVICE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499F2-C171-4861-99D8-FC2DEC3D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8/7/2020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44FC5-2FDC-46E8-9936-9D536C6C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5086B-1EC7-4E60-95D5-AF6DAAD1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76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C8DF-2414-4591-A641-C31254D4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223"/>
          </a:xfrm>
        </p:spPr>
        <p:txBody>
          <a:bodyPr/>
          <a:lstStyle/>
          <a:p>
            <a:r>
              <a:rPr lang="en-US" b="1" dirty="0"/>
              <a:t>Example: THINGS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673B5-550C-4280-B27B-E58BD50F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8/7/2020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EA7CE-5086-464D-811B-4FD35159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6C8F4-BF7D-447C-B48B-9DB0F075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24</a:t>
            </a:fld>
            <a:endParaRPr lang="en-US"/>
          </a:p>
        </p:txBody>
      </p:sp>
      <p:pic>
        <p:nvPicPr>
          <p:cNvPr id="1026" name="Picture 2" descr="Internet of Things: What It Is, How It Works, Examples and More">
            <a:extLst>
              <a:ext uri="{FF2B5EF4-FFF2-40B4-BE49-F238E27FC236}">
                <a16:creationId xmlns:a16="http://schemas.microsoft.com/office/drawing/2014/main" id="{FAE56B69-CB70-48CA-8396-075EE5CDEF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523784"/>
            <a:ext cx="8884096" cy="483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256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08FA8-2C4E-4188-A976-00B20784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9714"/>
          </a:xfrm>
        </p:spPr>
        <p:txBody>
          <a:bodyPr/>
          <a:lstStyle/>
          <a:p>
            <a:r>
              <a:rPr lang="en-US" b="1" dirty="0" smtClean="0"/>
              <a:t>Ex: possible </a:t>
            </a:r>
            <a:r>
              <a:rPr lang="en-US" b="1" dirty="0"/>
              <a:t>things for home automation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AE98E-E5EC-43B4-985E-4D818C82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0310"/>
            <a:ext cx="10515600" cy="4436653"/>
          </a:xfrm>
        </p:spPr>
        <p:txBody>
          <a:bodyPr>
            <a:normAutofit/>
          </a:bodyPr>
          <a:lstStyle/>
          <a:p>
            <a:r>
              <a:rPr lang="en-US" dirty="0"/>
              <a:t> Alexa</a:t>
            </a:r>
          </a:p>
          <a:p>
            <a:r>
              <a:rPr lang="en-US" dirty="0" smtClean="0"/>
              <a:t>Smart </a:t>
            </a:r>
            <a:r>
              <a:rPr lang="en-US" dirty="0"/>
              <a:t>bulb</a:t>
            </a:r>
          </a:p>
          <a:p>
            <a:r>
              <a:rPr lang="en-US" dirty="0"/>
              <a:t>Camera</a:t>
            </a:r>
          </a:p>
          <a:p>
            <a:r>
              <a:rPr lang="en-US" dirty="0"/>
              <a:t>Controllers</a:t>
            </a:r>
          </a:p>
          <a:p>
            <a:r>
              <a:rPr lang="en-US" dirty="0"/>
              <a:t>Refrigerator</a:t>
            </a:r>
          </a:p>
          <a:p>
            <a:r>
              <a:rPr lang="en-US" dirty="0"/>
              <a:t>TV</a:t>
            </a:r>
          </a:p>
          <a:p>
            <a:r>
              <a:rPr lang="en-US" dirty="0"/>
              <a:t>Microwave</a:t>
            </a:r>
          </a:p>
          <a:p>
            <a:r>
              <a:rPr lang="en-US" dirty="0"/>
              <a:t>Washing machine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E39CD-8167-446D-B8F7-9D726A2D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8/7/2020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55A76-6A46-4306-983D-0769C6AB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50D31-2F24-44DC-891C-2B9209B8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75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48204</TotalTime>
  <Words>873</Words>
  <Application>Microsoft Office PowerPoint</Application>
  <PresentationFormat>Widescreen</PresentationFormat>
  <Paragraphs>177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  IoT &amp; Embedded Systems Lect #01 Autumn 2026</vt:lpstr>
      <vt:lpstr>Books:</vt:lpstr>
      <vt:lpstr>Definition of IoT</vt:lpstr>
      <vt:lpstr>Life in an IoT ecosystem</vt:lpstr>
      <vt:lpstr>PowerPoint Presentation</vt:lpstr>
      <vt:lpstr>PowerPoint Presentation</vt:lpstr>
      <vt:lpstr>IoT Components</vt:lpstr>
      <vt:lpstr>Pillars of IoT</vt:lpstr>
      <vt:lpstr>IoT Design goals</vt:lpstr>
      <vt:lpstr> Why IoT ?</vt:lpstr>
      <vt:lpstr>Application Area of IoT</vt:lpstr>
      <vt:lpstr>Horizontal and vertical aspects of IoT</vt:lpstr>
      <vt:lpstr> IIoT: The largest vertical </vt:lpstr>
      <vt:lpstr>Characteristics of IoT</vt:lpstr>
      <vt:lpstr>Connectivity</vt:lpstr>
      <vt:lpstr>Intelligence &amp; identity</vt:lpstr>
      <vt:lpstr>Scalability</vt:lpstr>
      <vt:lpstr>Dynamic and self adapting</vt:lpstr>
      <vt:lpstr>Architecture</vt:lpstr>
      <vt:lpstr>safety</vt:lpstr>
      <vt:lpstr>Example IoT Ecosystem</vt:lpstr>
      <vt:lpstr>IoT Ecosystem</vt:lpstr>
      <vt:lpstr>THINGS of IoT</vt:lpstr>
      <vt:lpstr>Example: THINGS</vt:lpstr>
      <vt:lpstr>Ex: possible things for home automation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of Things</dc:title>
  <dc:creator>DR. S . CHINARA</dc:creator>
  <cp:lastModifiedBy>admin</cp:lastModifiedBy>
  <cp:revision>255</cp:revision>
  <dcterms:created xsi:type="dcterms:W3CDTF">2019-01-04T12:03:41Z</dcterms:created>
  <dcterms:modified xsi:type="dcterms:W3CDTF">2026-07-23T07:05:24Z</dcterms:modified>
</cp:coreProperties>
</file>