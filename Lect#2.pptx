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309" r:id="rId3"/>
    <p:sldId id="310" r:id="rId4"/>
    <p:sldId id="311" r:id="rId5"/>
    <p:sldId id="312" r:id="rId6"/>
    <p:sldId id="313" r:id="rId7"/>
    <p:sldId id="314" r:id="rId8"/>
    <p:sldId id="315" r:id="rId9"/>
    <p:sldId id="316" r:id="rId10"/>
    <p:sldId id="317" r:id="rId11"/>
    <p:sldId id="318" r:id="rId12"/>
    <p:sldId id="319" r:id="rId13"/>
    <p:sldId id="320" r:id="rId14"/>
    <p:sldId id="257" r:id="rId15"/>
    <p:sldId id="258" r:id="rId16"/>
    <p:sldId id="259" r:id="rId17"/>
    <p:sldId id="261" r:id="rId18"/>
    <p:sldId id="262" r:id="rId19"/>
    <p:sldId id="267" r:id="rId20"/>
    <p:sldId id="268" r:id="rId21"/>
    <p:sldId id="269" r:id="rId22"/>
    <p:sldId id="279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16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804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76BCAD-F85B-4D1C-842A-2A67481993F5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A831B2-9A46-4E67-98F8-10F9AEB69C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54912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98C4A-8BB2-46E3-AC9E-4F0F5D7CD124}" type="datetime1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of Things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1CA4D-55D5-43B2-9EAD-DBFCD82C4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703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9D0A9-B9F7-4C31-9608-A7A411E003B7}" type="datetime1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of Things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1CA4D-55D5-43B2-9EAD-DBFCD82C4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246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F3C33-0A50-4084-851D-C25CD69E93B9}" type="datetime1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of Things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1CA4D-55D5-43B2-9EAD-DBFCD82C4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881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22313-EE91-4E26-8218-DAE62F390CE3}" type="datetime1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of Things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1CA4D-55D5-43B2-9EAD-DBFCD82C4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579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A2640-7323-4A47-AF29-14FABDB69C5A}" type="datetime1">
              <a:rPr lang="en-US" smtClean="0"/>
              <a:t>7/31/2026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of Things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1CA4D-55D5-43B2-9EAD-DBFCD82C4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519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D03F8-0508-4A91-A6FA-2117D97A9B9C}" type="datetime1">
              <a:rPr lang="en-US" smtClean="0"/>
              <a:t>7/31/2026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of Things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1CA4D-55D5-43B2-9EAD-DBFCD82C4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5652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F47A6-0129-4160-8493-5EAECAE8F98C}" type="datetime1">
              <a:rPr lang="en-US" smtClean="0"/>
              <a:t>7/31/2026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of Things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1CA4D-55D5-43B2-9EAD-DBFCD82C4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5202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3712D-5E95-409D-8294-888BE241A9D3}" type="datetime1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of Things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1CA4D-55D5-43B2-9EAD-DBFCD82C4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074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3C033-BE0E-4C7B-8873-8B5F3BAD7E0E}" type="datetime1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of Things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1CA4D-55D5-43B2-9EAD-DBFCD82C4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892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E4720-DB7C-4657-A7E2-3E5D6AC54D37}" type="datetime1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of Things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1CA4D-55D5-43B2-9EAD-DBFCD82C4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147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CFAC0-E7BE-4928-AEB0-91A6DA32DA3B}" type="datetime1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of Things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1CA4D-55D5-43B2-9EAD-DBFCD82C4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751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2CC878-0A63-4B08-BA57-DF48C7D19460}" type="datetime1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Internet of Things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11CA4D-55D5-43B2-9EAD-DBFCD82C4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938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rfwireless-world.com/Tutorials/LiFi-tutorial.html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image" Target="../media/image9.jpeg"/><Relationship Id="rId7" Type="http://schemas.openxmlformats.org/officeDocument/2006/relationships/image" Target="../media/image13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jpeg"/><Relationship Id="rId9" Type="http://schemas.openxmlformats.org/officeDocument/2006/relationships/image" Target="../media/image15.jpe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66386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Internet of Things</a:t>
            </a:r>
            <a:br>
              <a:rPr lang="en-US" b="1" dirty="0"/>
            </a:br>
            <a:r>
              <a:rPr lang="en-US" b="1" dirty="0" err="1" smtClean="0"/>
              <a:t>Lect</a:t>
            </a:r>
            <a:r>
              <a:rPr lang="en-US" b="1" dirty="0" smtClean="0"/>
              <a:t> #02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691186"/>
          </a:xfrm>
        </p:spPr>
        <p:txBody>
          <a:bodyPr/>
          <a:lstStyle/>
          <a:p>
            <a:endParaRPr lang="en-US" b="1" dirty="0"/>
          </a:p>
          <a:p>
            <a:endParaRPr lang="en-US" b="1" dirty="0"/>
          </a:p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Prof. </a:t>
            </a:r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Suchismita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Chinara</a:t>
            </a:r>
            <a:endParaRPr 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Dept. of Computer Science </a:t>
            </a:r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Engg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National Institute of Technology Rourkela-769008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B2DA1-C51A-49D1-9414-6E05A45088C0}" type="datetime1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of Things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1CA4D-55D5-43B2-9EAD-DBFCD82C487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356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54F58-C90A-4C46-8C7C-C85FD0B23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999101"/>
          </a:xfrm>
        </p:spPr>
        <p:txBody>
          <a:bodyPr/>
          <a:lstStyle/>
          <a:p>
            <a:r>
              <a:rPr lang="en-US" b="1" dirty="0"/>
              <a:t>IoT Protocol Stack Layers</a:t>
            </a:r>
            <a:endParaRPr lang="en-IN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60B99D-CED8-4EB8-A058-F99E3C05E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BEABD-AABD-4AC0-AA38-5E45B25377F7}" type="datetime1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741F3C-9555-457C-AD55-4D67819AA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of Things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0F09B-E5B8-43AC-B044-CB3B39639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1CA4D-55D5-43B2-9EAD-DBFCD82C487F}" type="slidenum">
              <a:rPr lang="en-US" smtClean="0"/>
              <a:t>2</a:t>
            </a:fld>
            <a:endParaRPr lang="en-US"/>
          </a:p>
        </p:txBody>
      </p:sp>
      <p:pic>
        <p:nvPicPr>
          <p:cNvPr id="2050" name="Picture 2" descr="IoT Protocol Stack Layers | IoT Stack Layer 1 to Layer 7">
            <a:extLst>
              <a:ext uri="{FF2B5EF4-FFF2-40B4-BE49-F238E27FC236}">
                <a16:creationId xmlns:a16="http://schemas.microsoft.com/office/drawing/2014/main" id="{CF44B598-26B5-4ABD-8938-115D933CCFD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1674" y="1312606"/>
            <a:ext cx="9382125" cy="5043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74751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6D77D-410B-4C84-A6F1-B56A0DE8A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7485"/>
            <a:ext cx="10515600" cy="1111403"/>
          </a:xfrm>
        </p:spPr>
        <p:txBody>
          <a:bodyPr/>
          <a:lstStyle/>
          <a:p>
            <a:r>
              <a:rPr lang="en-US" b="1" dirty="0"/>
              <a:t>Layer 1: Physical or Sensor Layer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0E74E-5C82-4E38-B21E-7CD1070C02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955" y="1438275"/>
            <a:ext cx="11371006" cy="4738688"/>
          </a:xfrm>
        </p:spPr>
        <p:txBody>
          <a:bodyPr>
            <a:normAutofit/>
          </a:bodyPr>
          <a:lstStyle/>
          <a:p>
            <a:pPr algn="just"/>
            <a:r>
              <a:rPr lang="en-US" sz="3200" dirty="0"/>
              <a:t>This layer is concerned about the physical components, mainly includes sensors.</a:t>
            </a:r>
          </a:p>
          <a:p>
            <a:pPr algn="just"/>
            <a:r>
              <a:rPr lang="en-US" sz="3200" dirty="0"/>
              <a:t>This layer is responsible for data collection ( mostly sensing).</a:t>
            </a:r>
          </a:p>
          <a:p>
            <a:pPr algn="just"/>
            <a:r>
              <a:rPr lang="en-US" sz="3200" dirty="0"/>
              <a:t>Choosing the appropriate sensor is the major challenge, as many sensors are available that can do the same task but at different cost.</a:t>
            </a:r>
          </a:p>
          <a:p>
            <a:pPr algn="just"/>
            <a:r>
              <a:rPr lang="en-US" sz="3200" dirty="0"/>
              <a:t>Ex: temp sensor, humidity sensor etc. are major components for this layer. For industrial automation (</a:t>
            </a:r>
            <a:r>
              <a:rPr lang="en-US" sz="3200" dirty="0" err="1"/>
              <a:t>IIoT</a:t>
            </a:r>
            <a:r>
              <a:rPr lang="en-US" sz="3200" dirty="0"/>
              <a:t>) PLC, actuators are the major components of layer 1.</a:t>
            </a:r>
            <a:endParaRPr lang="en-IN" sz="3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32C99-6BAF-4A4F-A3B0-C57808B2C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03D08-83D6-4B5B-B8E3-0176E0E19AF5}" type="datetime1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0A8BBF-7407-4EB5-9359-773B13C31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of Things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C1C1A8-55BE-4218-B01B-0FF6A861E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1CA4D-55D5-43B2-9EAD-DBFCD82C487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7012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DE728-BA6E-4E46-BB75-379D7C654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190624"/>
          </a:xfrm>
        </p:spPr>
        <p:txBody>
          <a:bodyPr/>
          <a:lstStyle/>
          <a:p>
            <a:r>
              <a:rPr lang="en-US" b="1" dirty="0"/>
              <a:t>Example of Layer 1 devices</a:t>
            </a:r>
            <a:endParaRPr lang="en-IN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0E15B6-0FD0-455E-B376-B717D9414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4A8AF-BF8F-4AFC-801D-000AF78D0D38}" type="datetime1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02AAE8-59DC-4E3A-8EF7-4F20F3BFE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of Things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D2AD6E-6193-4413-9822-24B1DBC31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1CA4D-55D5-43B2-9EAD-DBFCD82C487F}" type="slidenum">
              <a:rPr lang="en-US" smtClean="0"/>
              <a:t>4</a:t>
            </a:fld>
            <a:endParaRPr lang="en-US"/>
          </a:p>
        </p:txBody>
      </p:sp>
      <p:pic>
        <p:nvPicPr>
          <p:cNvPr id="3074" name="Picture 2" descr="List of Commonly used Sensors in the Internet of Things (IoT) Devices you  need to know - IoTEDU">
            <a:extLst>
              <a:ext uri="{FF2B5EF4-FFF2-40B4-BE49-F238E27FC236}">
                <a16:creationId xmlns:a16="http://schemas.microsoft.com/office/drawing/2014/main" id="{9FE6F61A-1E64-4DE1-8594-F0CC4D257D9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445" y="1190625"/>
            <a:ext cx="11135031" cy="5302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21104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B6B36-7F4F-439B-85FD-A8CCED784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365126"/>
            <a:ext cx="10704871" cy="1092200"/>
          </a:xfrm>
        </p:spPr>
        <p:txBody>
          <a:bodyPr/>
          <a:lstStyle/>
          <a:p>
            <a:r>
              <a:rPr lang="en-US" b="1" dirty="0"/>
              <a:t>Layer 2 : Processing and Control action layer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95026-7DAE-4315-8E27-D27D1D8E5F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7325"/>
            <a:ext cx="10515600" cy="4719638"/>
          </a:xfrm>
        </p:spPr>
        <p:txBody>
          <a:bodyPr/>
          <a:lstStyle/>
          <a:p>
            <a:pPr algn="just"/>
            <a:r>
              <a:rPr lang="en-US" dirty="0"/>
              <a:t>This layer comprises of core components like microcontrollers or processors. </a:t>
            </a:r>
          </a:p>
          <a:p>
            <a:pPr algn="just"/>
            <a:r>
              <a:rPr lang="en-US" dirty="0"/>
              <a:t>The data is received by the microcontrollers from the sensors. </a:t>
            </a:r>
          </a:p>
          <a:p>
            <a:pPr algn="just"/>
            <a:r>
              <a:rPr lang="en-US" dirty="0"/>
              <a:t>Example microcontrollers are: Arduino, </a:t>
            </a:r>
            <a:r>
              <a:rPr lang="en-US" dirty="0" err="1"/>
              <a:t>NodeMCU</a:t>
            </a:r>
            <a:r>
              <a:rPr lang="en-US" dirty="0"/>
              <a:t>, </a:t>
            </a:r>
            <a:r>
              <a:rPr lang="en-US" dirty="0" smtClean="0"/>
              <a:t>ESP, </a:t>
            </a:r>
            <a:r>
              <a:rPr lang="en-US" dirty="0"/>
              <a:t>ARM etc.</a:t>
            </a:r>
          </a:p>
          <a:p>
            <a:pPr algn="just"/>
            <a:r>
              <a:rPr lang="en-US" dirty="0"/>
              <a:t>Operating systems, Android, IOS, Linux play a major role to execute the task.</a:t>
            </a:r>
          </a:p>
          <a:p>
            <a:pPr algn="just"/>
            <a:r>
              <a:rPr lang="en-US" dirty="0"/>
              <a:t> The data collected from the sensors is processed in this layer. </a:t>
            </a:r>
          </a:p>
          <a:p>
            <a:pPr algn="just"/>
            <a:r>
              <a:rPr lang="en-US" dirty="0"/>
              <a:t>To determine if the data is meaningful a microcontroller should be present.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90D9AA-0B5E-40D5-BB18-01CC47971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85E8B-99AC-45BF-BE43-A9A7963829C9}" type="datetime1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078189-7560-4733-96DB-16BB11302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of Things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9D326C-B66D-4DCD-862C-6981F7094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1CA4D-55D5-43B2-9EAD-DBFCD82C487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8022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6CB93-0162-4A60-8AD6-CB0C9C694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88615"/>
          </a:xfrm>
        </p:spPr>
        <p:txBody>
          <a:bodyPr/>
          <a:lstStyle/>
          <a:p>
            <a:r>
              <a:rPr lang="en-US" b="1" dirty="0"/>
              <a:t>Examples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107F1-CEDA-45A5-97D6-8915D928CF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Microcontrollers:</a:t>
            </a:r>
          </a:p>
          <a:p>
            <a:pPr lvl="1"/>
            <a:r>
              <a:rPr lang="en-US" dirty="0" smtClean="0"/>
              <a:t>ARM</a:t>
            </a:r>
            <a:r>
              <a:rPr lang="en-US" dirty="0"/>
              <a:t>/ INTEL boards</a:t>
            </a:r>
          </a:p>
          <a:p>
            <a:r>
              <a:rPr lang="en-US" dirty="0"/>
              <a:t>DEV kits:</a:t>
            </a:r>
          </a:p>
          <a:p>
            <a:pPr lvl="1"/>
            <a:r>
              <a:rPr lang="en-US" dirty="0"/>
              <a:t>Arduino, </a:t>
            </a:r>
            <a:r>
              <a:rPr lang="en-US" dirty="0" smtClean="0"/>
              <a:t>Raspberry</a:t>
            </a:r>
            <a:endParaRPr lang="en-US" dirty="0"/>
          </a:p>
          <a:p>
            <a:r>
              <a:rPr lang="en-US" dirty="0"/>
              <a:t>OS:</a:t>
            </a:r>
          </a:p>
          <a:p>
            <a:pPr lvl="1"/>
            <a:r>
              <a:rPr lang="en-US" dirty="0"/>
              <a:t>RTOS, Linux, </a:t>
            </a:r>
            <a:r>
              <a:rPr lang="en-US" dirty="0" smtClean="0"/>
              <a:t>Android</a:t>
            </a:r>
            <a:r>
              <a:rPr lang="en-US" dirty="0"/>
              <a:t>, </a:t>
            </a:r>
            <a:r>
              <a:rPr lang="en-US" dirty="0" err="1" smtClean="0"/>
              <a:t>IoS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236F7E-13CE-4EA4-916F-7AE65F472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E9001-EA43-4EA5-961B-6707F4FB8E4E}" type="datetime1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1B6FA2-36F2-4CD7-847F-BCD448986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of Things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C53B9-1AF5-47EF-BE3B-361ED9021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1CA4D-55D5-43B2-9EAD-DBFCD82C487F}" type="slidenum">
              <a:rPr lang="en-US" smtClean="0"/>
              <a:t>6</a:t>
            </a:fld>
            <a:endParaRPr lang="en-US"/>
          </a:p>
        </p:txBody>
      </p:sp>
      <p:pic>
        <p:nvPicPr>
          <p:cNvPr id="1026" name="Picture 2" descr="Arduino Uno Rev3 — Arduino Official Store">
            <a:extLst>
              <a:ext uri="{FF2B5EF4-FFF2-40B4-BE49-F238E27FC236}">
                <a16:creationId xmlns:a16="http://schemas.microsoft.com/office/drawing/2014/main" id="{A88871C6-CDC3-4D56-A440-D628D1B17E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3775" y="1340802"/>
            <a:ext cx="2466975" cy="184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Raspberry Pi Products Category on Adafruit Industries">
            <a:extLst>
              <a:ext uri="{FF2B5EF4-FFF2-40B4-BE49-F238E27FC236}">
                <a16:creationId xmlns:a16="http://schemas.microsoft.com/office/drawing/2014/main" id="{3354AEDF-9A81-4CEF-BCAD-1FFEB6838E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3775" y="4029869"/>
            <a:ext cx="2533650" cy="1809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4F7E9E3-BF15-40A4-B615-DCCB2C96AF1C}"/>
              </a:ext>
            </a:extLst>
          </p:cNvPr>
          <p:cNvSpPr txBox="1"/>
          <p:nvPr/>
        </p:nvSpPr>
        <p:spPr>
          <a:xfrm>
            <a:off x="7591425" y="3188652"/>
            <a:ext cx="13789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Arduino Uno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8A6007-85DF-453A-BC16-3493150F312A}"/>
              </a:ext>
            </a:extLst>
          </p:cNvPr>
          <p:cNvSpPr txBox="1"/>
          <p:nvPr/>
        </p:nvSpPr>
        <p:spPr>
          <a:xfrm>
            <a:off x="7048500" y="5559981"/>
            <a:ext cx="1362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Raspberry pi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3814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11261-95F4-44B3-95B1-3B1AAE451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53959"/>
          </a:xfrm>
        </p:spPr>
        <p:txBody>
          <a:bodyPr/>
          <a:lstStyle/>
          <a:p>
            <a:r>
              <a:rPr lang="en-US" b="1" dirty="0"/>
              <a:t>Layer 3: Hardware interface layer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4C6990-8EF4-42EF-AFA8-28F1B93CE0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6065"/>
            <a:ext cx="10515600" cy="4480898"/>
          </a:xfrm>
        </p:spPr>
        <p:txBody>
          <a:bodyPr/>
          <a:lstStyle/>
          <a:p>
            <a:pPr algn="just"/>
            <a:r>
              <a:rPr lang="en-IN" b="0" i="0" dirty="0">
                <a:solidFill>
                  <a:srgbClr val="555555"/>
                </a:solidFill>
                <a:effectLst/>
                <a:latin typeface="Arial" panose="020B0604020202020204" pitchFamily="34" charset="0"/>
              </a:rPr>
              <a:t>This layer include components or interfaces used for communication such as RS232, RS485, </a:t>
            </a:r>
            <a:r>
              <a:rPr lang="en-IN" b="0" i="0" dirty="0" smtClean="0">
                <a:solidFill>
                  <a:srgbClr val="555555"/>
                </a:solidFill>
                <a:effectLst/>
                <a:latin typeface="Arial" panose="020B0604020202020204" pitchFamily="34" charset="0"/>
              </a:rPr>
              <a:t>SPI (Serial Peripheral Interface), I2C (Inter- integrated Circuit), </a:t>
            </a:r>
            <a:r>
              <a:rPr lang="en-IN" b="0" i="0" dirty="0">
                <a:solidFill>
                  <a:srgbClr val="555555"/>
                </a:solidFill>
                <a:effectLst/>
                <a:latin typeface="Arial" panose="020B0604020202020204" pitchFamily="34" charset="0"/>
              </a:rPr>
              <a:t>CAN, SCI etc. </a:t>
            </a:r>
          </a:p>
          <a:p>
            <a:pPr algn="just"/>
            <a:r>
              <a:rPr lang="en-IN" b="0" i="0" dirty="0">
                <a:solidFill>
                  <a:srgbClr val="555555"/>
                </a:solidFill>
                <a:effectLst/>
                <a:latin typeface="Arial" panose="020B0604020202020204" pitchFamily="34" charset="0"/>
              </a:rPr>
              <a:t>These interfaces are used for serial or parallel communication at various baud rates in synchronous/asynchronous modes.</a:t>
            </a:r>
          </a:p>
          <a:p>
            <a:pPr algn="just"/>
            <a:r>
              <a:rPr lang="en-IN" b="0" i="0" dirty="0">
                <a:solidFill>
                  <a:srgbClr val="555555"/>
                </a:solidFill>
                <a:effectLst/>
                <a:latin typeface="Arial" panose="020B0604020202020204" pitchFamily="34" charset="0"/>
              </a:rPr>
              <a:t> The above mentioned interface protocols ensure flawless communication.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1398A-7637-4504-9CBC-085F4A354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C927C-9694-46CE-96EA-11089ECD8F6F}" type="datetime1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A1F2AF-D2FA-4DAA-8D1F-361C89176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of Things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B21109-DF28-473B-B92A-73EE5A3FA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1CA4D-55D5-43B2-9EAD-DBFCD82C487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7871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EF68F-6F33-4A05-AD77-314B4A09F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88488"/>
          </a:xfrm>
        </p:spPr>
        <p:txBody>
          <a:bodyPr/>
          <a:lstStyle/>
          <a:p>
            <a:r>
              <a:rPr lang="en-US" b="1" dirty="0"/>
              <a:t>HW Interface Layer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0A5416-BE0A-42C4-B567-163435DC1B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3832"/>
            <a:ext cx="10515600" cy="4643131"/>
          </a:xfrm>
        </p:spPr>
        <p:txBody>
          <a:bodyPr/>
          <a:lstStyle/>
          <a:p>
            <a:r>
              <a:rPr lang="en-US" dirty="0"/>
              <a:t>Components for communication:</a:t>
            </a:r>
          </a:p>
          <a:p>
            <a:r>
              <a:rPr lang="en-US" dirty="0"/>
              <a:t>Serial / Parallel standards, RS 232, USB, I</a:t>
            </a:r>
            <a:r>
              <a:rPr lang="en-US" baseline="30000" dirty="0"/>
              <a:t>2</a:t>
            </a:r>
            <a:r>
              <a:rPr lang="en-US" dirty="0"/>
              <a:t>C, SPI, CAN, routers etc.</a:t>
            </a:r>
          </a:p>
          <a:p>
            <a:r>
              <a:rPr lang="en-US" dirty="0"/>
              <a:t>Layer responsible for handshake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66F0FD-2A00-4226-8117-BD674AB32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194C8-203B-4B5F-A28F-43E960925FC8}" type="datetime1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138CC-E872-42F2-AB63-C72B54087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of Things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9B8C38-3808-4BE3-91F3-CFCA9A8BA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1CA4D-55D5-43B2-9EAD-DBFCD82C487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4491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452FA-B075-4118-BF27-B816B0AD1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742" y="162233"/>
            <a:ext cx="10515600" cy="915680"/>
          </a:xfrm>
        </p:spPr>
        <p:txBody>
          <a:bodyPr/>
          <a:lstStyle/>
          <a:p>
            <a:r>
              <a:rPr lang="en-US" b="1" dirty="0"/>
              <a:t>Layer 4: RF Layer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B605A8-3F1F-4717-BBAE-B5C1CE9C10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7300"/>
            <a:ext cx="10515600" cy="4919663"/>
          </a:xfrm>
        </p:spPr>
        <p:txBody>
          <a:bodyPr>
            <a:normAutofit/>
          </a:bodyPr>
          <a:lstStyle/>
          <a:p>
            <a:pPr algn="just"/>
            <a:r>
              <a:rPr lang="en-US" b="0" i="0" dirty="0">
                <a:solidFill>
                  <a:srgbClr val="555555"/>
                </a:solidFill>
                <a:effectLst/>
                <a:latin typeface="Arial" panose="020B0604020202020204" pitchFamily="34" charset="0"/>
              </a:rPr>
              <a:t>This radio frequency layer houses RF technologies based on short range or long range and data rate desired by the application of use.</a:t>
            </a:r>
          </a:p>
          <a:p>
            <a:pPr algn="just"/>
            <a:r>
              <a:rPr lang="en-US" b="0" i="0" dirty="0">
                <a:solidFill>
                  <a:srgbClr val="555555"/>
                </a:solidFill>
                <a:effectLst/>
                <a:latin typeface="Arial" panose="020B0604020202020204" pitchFamily="34" charset="0"/>
              </a:rPr>
              <a:t> The common indoor RF/wireless technologies include </a:t>
            </a:r>
            <a:r>
              <a:rPr lang="en-US" b="0" i="0" dirty="0" err="1">
                <a:solidFill>
                  <a:srgbClr val="555555"/>
                </a:solidFill>
                <a:effectLst/>
                <a:latin typeface="Arial" panose="020B0604020202020204" pitchFamily="34" charset="0"/>
              </a:rPr>
              <a:t>Wifi</a:t>
            </a:r>
            <a:r>
              <a:rPr lang="en-US" b="0" i="0" dirty="0">
                <a:solidFill>
                  <a:srgbClr val="555555"/>
                </a:solidFill>
                <a:effectLst/>
                <a:latin typeface="Arial" panose="020B0604020202020204" pitchFamily="34" charset="0"/>
              </a:rPr>
              <a:t>, Bluetooth, </a:t>
            </a:r>
            <a:r>
              <a:rPr lang="en-US" b="0" i="0" dirty="0" err="1">
                <a:solidFill>
                  <a:srgbClr val="555555"/>
                </a:solidFill>
                <a:effectLst/>
                <a:latin typeface="Arial" panose="020B0604020202020204" pitchFamily="34" charset="0"/>
              </a:rPr>
              <a:t>Zigbee</a:t>
            </a:r>
            <a:r>
              <a:rPr lang="en-US" b="0" i="0" dirty="0" smtClean="0">
                <a:solidFill>
                  <a:srgbClr val="555555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en-US" b="0" i="0" dirty="0">
                <a:solidFill>
                  <a:srgbClr val="555555"/>
                </a:solidFill>
                <a:effectLst/>
                <a:latin typeface="Arial" panose="020B0604020202020204" pitchFamily="34" charset="0"/>
              </a:rPr>
              <a:t>NFC, RFID etc. </a:t>
            </a:r>
          </a:p>
          <a:p>
            <a:pPr algn="just"/>
            <a:r>
              <a:rPr lang="en-US" b="0" i="0" dirty="0">
                <a:solidFill>
                  <a:srgbClr val="555555"/>
                </a:solidFill>
                <a:effectLst/>
                <a:latin typeface="Arial" panose="020B0604020202020204" pitchFamily="34" charset="0"/>
              </a:rPr>
              <a:t>The common outdoor RF cellular technologies include GSM/GPRS, CDMA</a:t>
            </a:r>
            <a:r>
              <a:rPr lang="en-US" b="0" i="0" dirty="0" smtClean="0">
                <a:solidFill>
                  <a:srgbClr val="555555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en-US" b="0" i="0" dirty="0">
                <a:solidFill>
                  <a:srgbClr val="555555"/>
                </a:solidFill>
                <a:effectLst/>
                <a:latin typeface="Arial" panose="020B0604020202020204" pitchFamily="34" charset="0"/>
              </a:rPr>
              <a:t>NB-IoT, 5G etc. </a:t>
            </a:r>
          </a:p>
          <a:p>
            <a:pPr algn="just"/>
            <a:r>
              <a:rPr lang="en-US" b="0" i="0" dirty="0">
                <a:solidFill>
                  <a:srgbClr val="555555"/>
                </a:solidFill>
                <a:effectLst/>
                <a:latin typeface="Arial" panose="020B0604020202020204" pitchFamily="34" charset="0"/>
              </a:rPr>
              <a:t>RF layer does communication of data using radio frequency based EM waves. </a:t>
            </a:r>
          </a:p>
          <a:p>
            <a:pPr algn="just"/>
            <a:r>
              <a:rPr lang="en-US" b="0" i="0" dirty="0">
                <a:solidFill>
                  <a:srgbClr val="555555"/>
                </a:solidFill>
                <a:effectLst/>
                <a:latin typeface="Arial" panose="020B0604020202020204" pitchFamily="34" charset="0"/>
              </a:rPr>
              <a:t>There is another technology which uses light waves for data </a:t>
            </a:r>
            <a:r>
              <a:rPr lang="en-US" b="0" i="0" dirty="0" smtClean="0">
                <a:solidFill>
                  <a:srgbClr val="555555"/>
                </a:solidFill>
                <a:effectLst/>
                <a:latin typeface="Arial" panose="020B0604020202020204" pitchFamily="34" charset="0"/>
              </a:rPr>
              <a:t>communication</a:t>
            </a:r>
            <a:r>
              <a:rPr lang="en-US" dirty="0">
                <a:solidFill>
                  <a:srgbClr val="555555"/>
                </a:solidFill>
                <a:latin typeface="Arial" panose="020B0604020202020204" pitchFamily="34" charset="0"/>
              </a:rPr>
              <a:t> </a:t>
            </a:r>
            <a:r>
              <a:rPr lang="en-US" dirty="0" smtClean="0">
                <a:solidFill>
                  <a:srgbClr val="555555"/>
                </a:solidFill>
                <a:latin typeface="Arial" panose="020B0604020202020204" pitchFamily="34" charset="0"/>
              </a:rPr>
              <a:t>is</a:t>
            </a:r>
            <a:r>
              <a:rPr lang="en-US" b="0" i="0" dirty="0">
                <a:solidFill>
                  <a:srgbClr val="555555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US" b="0" i="0" u="none" strike="noStrike" dirty="0" err="1">
                <a:solidFill>
                  <a:srgbClr val="0000FF"/>
                </a:solidFill>
                <a:effectLst/>
                <a:latin typeface="Arial" panose="020B0604020202020204" pitchFamily="34" charset="0"/>
                <a:hlinkClick r:id="rId2"/>
              </a:rPr>
              <a:t>LiFi</a:t>
            </a:r>
            <a:r>
              <a:rPr lang="en-US" b="0" i="0" dirty="0">
                <a:solidFill>
                  <a:srgbClr val="555555"/>
                </a:solidFill>
                <a:effectLst/>
                <a:latin typeface="Arial" panose="020B0604020202020204" pitchFamily="34" charset="0"/>
              </a:rPr>
              <a:t>.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99267C-A34D-467A-AE7A-77DDF30A9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6568F-4970-487B-AC61-0B58A7BDD143}" type="datetime1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6CA0F8-7F50-41FD-98AE-3DD34A2BB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of Things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492B26-2310-48F9-AE8E-14FC9FC5B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1CA4D-55D5-43B2-9EAD-DBFCD82C487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198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6D741-8516-42A5-8F9E-B0062E676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6981"/>
            <a:ext cx="10515600" cy="1153343"/>
          </a:xfrm>
        </p:spPr>
        <p:txBody>
          <a:bodyPr/>
          <a:lstStyle/>
          <a:p>
            <a:r>
              <a:rPr lang="en-US" b="1" dirty="0"/>
              <a:t>Example: RF Layer</a:t>
            </a:r>
            <a:endParaRPr lang="en-IN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5B43CF-EEAF-48C4-BDB7-955AA216A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B3676-C616-42AB-9672-DF6DC27A418A}" type="datetime1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FF0C4E-493F-4909-A77D-1D70DC932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of Things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64028-7069-4461-8F8D-D05229855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1CA4D-55D5-43B2-9EAD-DBFCD82C487F}" type="slidenum">
              <a:rPr lang="en-US" smtClean="0"/>
              <a:t>10</a:t>
            </a:fld>
            <a:endParaRPr lang="en-US"/>
          </a:p>
        </p:txBody>
      </p:sp>
      <p:pic>
        <p:nvPicPr>
          <p:cNvPr id="1026" name="Picture 2" descr="Frequently asked questions about NFC">
            <a:extLst>
              <a:ext uri="{FF2B5EF4-FFF2-40B4-BE49-F238E27FC236}">
                <a16:creationId xmlns:a16="http://schemas.microsoft.com/office/drawing/2014/main" id="{196F95BC-0482-40EF-8FDD-DF5EECFF7BA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8650" y="4286249"/>
            <a:ext cx="3314700" cy="1381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What is Bluetooth Low Energy (BLE) and how does it work? - Centare Blog">
            <a:extLst>
              <a:ext uri="{FF2B5EF4-FFF2-40B4-BE49-F238E27FC236}">
                <a16:creationId xmlns:a16="http://schemas.microsoft.com/office/drawing/2014/main" id="{C86E2C83-4F2D-45C2-80AF-84ED4F3F86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3105149"/>
            <a:ext cx="2562225" cy="2562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University Libraries &amp; Learning Sciences - Network Outage - Zimmerman  Library">
            <a:extLst>
              <a:ext uri="{FF2B5EF4-FFF2-40B4-BE49-F238E27FC236}">
                <a16:creationId xmlns:a16="http://schemas.microsoft.com/office/drawing/2014/main" id="{DF3FB6C0-9FD9-48DD-A94B-F40CEF2CA4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4375" y="3524249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0D7012F-77D5-4020-96BC-D189CCFBD6D5}"/>
              </a:ext>
            </a:extLst>
          </p:cNvPr>
          <p:cNvSpPr txBox="1"/>
          <p:nvPr/>
        </p:nvSpPr>
        <p:spPr>
          <a:xfrm>
            <a:off x="1942178" y="1696134"/>
            <a:ext cx="44971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Short Range: Low bandwidth, High bandwidth</a:t>
            </a:r>
          </a:p>
          <a:p>
            <a:r>
              <a:rPr lang="en-US" dirty="0"/>
              <a:t>Long Range: Low bandwidth, High bandwidth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48B9D2-C896-4EA6-8482-510062199842}"/>
              </a:ext>
            </a:extLst>
          </p:cNvPr>
          <p:cNvSpPr txBox="1"/>
          <p:nvPr/>
        </p:nvSpPr>
        <p:spPr>
          <a:xfrm>
            <a:off x="1571625" y="5688696"/>
            <a:ext cx="1076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BLE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3F49EB-8E79-47AA-98FD-889A21BD833B}"/>
              </a:ext>
            </a:extLst>
          </p:cNvPr>
          <p:cNvSpPr txBox="1"/>
          <p:nvPr/>
        </p:nvSpPr>
        <p:spPr>
          <a:xfrm>
            <a:off x="9401175" y="5987018"/>
            <a:ext cx="1076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Wi-Fi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07218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3623D-260A-4797-8F7B-16FFD87CC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6475"/>
          </a:xfrm>
        </p:spPr>
        <p:txBody>
          <a:bodyPr/>
          <a:lstStyle/>
          <a:p>
            <a:r>
              <a:rPr lang="en-US" b="1" dirty="0"/>
              <a:t>Layer 5: Session / Message Layer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9FDC21-9035-4C23-9ADF-5F08178C90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3329"/>
            <a:ext cx="10515600" cy="4613634"/>
          </a:xfrm>
        </p:spPr>
        <p:txBody>
          <a:bodyPr/>
          <a:lstStyle/>
          <a:p>
            <a:pPr algn="just"/>
            <a:r>
              <a:rPr lang="en-US" b="0" i="0" dirty="0">
                <a:solidFill>
                  <a:srgbClr val="555555"/>
                </a:solidFill>
                <a:effectLst/>
                <a:latin typeface="Arial" panose="020B0604020202020204" pitchFamily="34" charset="0"/>
              </a:rPr>
              <a:t>This layer deals with various messaging protocols such as MQTT, CoAP, HTTP, FTP (or Secured FTP), SSH etc. </a:t>
            </a:r>
          </a:p>
          <a:p>
            <a:pPr algn="just"/>
            <a:r>
              <a:rPr lang="en-US" b="0" i="0" dirty="0">
                <a:solidFill>
                  <a:srgbClr val="555555"/>
                </a:solidFill>
                <a:effectLst/>
                <a:latin typeface="Arial" panose="020B0604020202020204" pitchFamily="34" charset="0"/>
              </a:rPr>
              <a:t>It defines how messages are broadcasted to the cloud. </a:t>
            </a:r>
          </a:p>
          <a:p>
            <a:pPr algn="just"/>
            <a:endParaRPr lang="en-US" b="0" i="0" dirty="0">
              <a:solidFill>
                <a:srgbClr val="555555"/>
              </a:solidFill>
              <a:effectLst/>
              <a:latin typeface="Arial" panose="020B0604020202020204" pitchFamily="34" charset="0"/>
            </a:endParaRPr>
          </a:p>
          <a:p>
            <a:pPr algn="just"/>
            <a:r>
              <a:rPr lang="en-IN" dirty="0">
                <a:solidFill>
                  <a:srgbClr val="FF0000"/>
                </a:solidFill>
              </a:rPr>
              <a:t>Example Protocols: MQTT, CoAP, HTTP, FTP, SSH</a:t>
            </a:r>
          </a:p>
          <a:p>
            <a:pPr algn="just"/>
            <a:r>
              <a:rPr lang="en-IN" dirty="0">
                <a:solidFill>
                  <a:srgbClr val="FF0000"/>
                </a:solidFill>
              </a:rPr>
              <a:t>Content: Messaging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8A9E5F-2D1C-46C3-A9E2-EC1219E9D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CEA0B-597C-4E38-9D2D-143A85FF8CA5}" type="datetime1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90367A-6323-4D1D-BAF4-658EE4C30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of Things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2E471-8035-4AF0-B1FE-F6B27D5B1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1CA4D-55D5-43B2-9EAD-DBFCD82C487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1813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C75C4-E2F2-45B1-AC3B-90E6A3796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550"/>
            <a:ext cx="10515600" cy="801690"/>
          </a:xfrm>
        </p:spPr>
        <p:txBody>
          <a:bodyPr/>
          <a:lstStyle/>
          <a:p>
            <a:r>
              <a:rPr lang="en-US" b="1" dirty="0"/>
              <a:t>Layer 5: User experience layer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65678-B516-45E1-AB79-7729AEF3A3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3961" y="1011240"/>
            <a:ext cx="10999839" cy="5165724"/>
          </a:xfrm>
        </p:spPr>
        <p:txBody>
          <a:bodyPr/>
          <a:lstStyle/>
          <a:p>
            <a:pPr algn="just"/>
            <a:r>
              <a:rPr lang="en-US" b="0" i="0" dirty="0">
                <a:solidFill>
                  <a:srgbClr val="555555"/>
                </a:solidFill>
                <a:effectLst/>
                <a:latin typeface="Arial" panose="020B0604020202020204" pitchFamily="34" charset="0"/>
              </a:rPr>
              <a:t>This layer deals with providing best experience to the end users of IoT products. </a:t>
            </a:r>
          </a:p>
          <a:p>
            <a:pPr algn="just"/>
            <a:r>
              <a:rPr lang="en-US" b="0" i="0" dirty="0" smtClean="0">
                <a:solidFill>
                  <a:srgbClr val="555555"/>
                </a:solidFill>
                <a:effectLst/>
                <a:latin typeface="Arial" panose="020B0604020202020204" pitchFamily="34" charset="0"/>
              </a:rPr>
              <a:t>This </a:t>
            </a:r>
            <a:r>
              <a:rPr lang="en-US" b="0" i="0" dirty="0">
                <a:solidFill>
                  <a:srgbClr val="555555"/>
                </a:solidFill>
                <a:effectLst/>
                <a:latin typeface="Arial" panose="020B0604020202020204" pitchFamily="34" charset="0"/>
              </a:rPr>
              <a:t>layer takes care of rich UI designs with lots of features. </a:t>
            </a:r>
          </a:p>
          <a:p>
            <a:pPr algn="just"/>
            <a:r>
              <a:rPr lang="en-US" b="0" i="0" dirty="0">
                <a:solidFill>
                  <a:srgbClr val="555555"/>
                </a:solidFill>
                <a:effectLst/>
                <a:latin typeface="Arial" panose="020B0604020202020204" pitchFamily="34" charset="0"/>
              </a:rPr>
              <a:t>Various languages and tools are developed for the design of GUI interface software. </a:t>
            </a:r>
          </a:p>
          <a:p>
            <a:pPr algn="just"/>
            <a:r>
              <a:rPr lang="en-US" b="0" i="0" dirty="0">
                <a:solidFill>
                  <a:srgbClr val="555555"/>
                </a:solidFill>
                <a:effectLst/>
                <a:latin typeface="Arial" panose="020B0604020202020204" pitchFamily="34" charset="0"/>
              </a:rPr>
              <a:t>These include object oriented and procedure oriented technologies as well database languages (DBMS, SQL) in addition to analytics tools.</a:t>
            </a:r>
          </a:p>
          <a:p>
            <a:pPr algn="just"/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</a:rPr>
              <a:t>Technologies: Object oriented, Procedure Oriented</a:t>
            </a:r>
          </a:p>
          <a:p>
            <a:pPr algn="just"/>
            <a:r>
              <a:rPr lang="en-IN" dirty="0">
                <a:solidFill>
                  <a:srgbClr val="FF0000"/>
                </a:solidFill>
              </a:rPr>
              <a:t>DBMS , SQL: Analytics Tools / Software from vendors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9588AB-B7B6-4F1B-9393-C25B0E95E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9AE62-1085-4138-94DA-4C728C801775}" type="datetime1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944BE7-39F5-47DA-9A36-45940B126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of Things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764811-FBE7-4EBB-A5A4-0A85F0629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1CA4D-55D5-43B2-9EAD-DBFCD82C487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7497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CF589-4BEC-408F-A773-08D5DB8BA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03236"/>
          </a:xfrm>
        </p:spPr>
        <p:txBody>
          <a:bodyPr/>
          <a:lstStyle/>
          <a:p>
            <a:r>
              <a:rPr lang="en-US" b="1" dirty="0"/>
              <a:t>Layer 7: Application Layer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9C9C0F-30F4-401B-8813-B386475A07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3832"/>
            <a:ext cx="10515600" cy="4643131"/>
          </a:xfrm>
        </p:spPr>
        <p:txBody>
          <a:bodyPr/>
          <a:lstStyle/>
          <a:p>
            <a:r>
              <a:rPr lang="en-US" dirty="0"/>
              <a:t>This layer talks about the possible applications that can be built with the support of the rest of the layers.</a:t>
            </a:r>
          </a:p>
          <a:p>
            <a:r>
              <a:rPr lang="en-US" dirty="0"/>
              <a:t>It can range from a simple automation application to smart city application.</a:t>
            </a:r>
          </a:p>
          <a:p>
            <a:r>
              <a:rPr lang="en-US" dirty="0">
                <a:solidFill>
                  <a:srgbClr val="FF0000"/>
                </a:solidFill>
              </a:rPr>
              <a:t>Example: Smart home, smart city, smart parking, smart energy, smart retail etc.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848ECB-D910-4422-B075-AD65DBEAE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F8A35-D24F-40C1-B2BC-82F81C70F94E}" type="datetime1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8194C4-83A7-4A70-88F0-9735AEF7E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of Things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A312C-1E70-442A-9403-51E1FB56C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1CA4D-55D5-43B2-9EAD-DBFCD82C487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5583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A568A-B2B9-4121-A186-2B60DA7AB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IoT Enabling Technologies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E474F4-6E24-4DF8-867D-AE29FE056C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Technologies that help in acquiring / sensing data</a:t>
            </a:r>
          </a:p>
          <a:p>
            <a:r>
              <a:rPr lang="en-US" dirty="0"/>
              <a:t>Technologies that help in </a:t>
            </a:r>
            <a:r>
              <a:rPr lang="en-US" dirty="0" smtClean="0"/>
              <a:t>analyzing </a:t>
            </a:r>
            <a:r>
              <a:rPr lang="en-US" dirty="0"/>
              <a:t>/ processing data</a:t>
            </a:r>
          </a:p>
          <a:p>
            <a:r>
              <a:rPr lang="en-US" dirty="0"/>
              <a:t>Technologies that help in taking control </a:t>
            </a:r>
            <a:r>
              <a:rPr lang="en-US" dirty="0" smtClean="0"/>
              <a:t>action (Embedded technology)</a:t>
            </a:r>
            <a:endParaRPr lang="en-US" dirty="0"/>
          </a:p>
          <a:p>
            <a:r>
              <a:rPr lang="en-US" dirty="0"/>
              <a:t>Technologies that help in enhancing security / privacy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C0A414-6B0D-43DA-88A8-7A7755ECA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C48C2-A435-4753-959F-D90624E0992C}" type="datetime1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AAAD8C-6955-45A3-AA4F-4AF4CCE9E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of Things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AC0B2B-2913-42CA-B71D-9F0B92EBE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1CA4D-55D5-43B2-9EAD-DBFCD82C487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2483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2D49B-45D7-468F-A778-A98AA94FC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0343"/>
          </a:xfrm>
        </p:spPr>
        <p:txBody>
          <a:bodyPr/>
          <a:lstStyle/>
          <a:p>
            <a:r>
              <a:rPr lang="en-US" b="1" dirty="0"/>
              <a:t>Sensors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BB5CFB-A203-4161-881D-D20008BAB3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9790"/>
            <a:ext cx="10515600" cy="4747173"/>
          </a:xfrm>
        </p:spPr>
        <p:txBody>
          <a:bodyPr/>
          <a:lstStyle/>
          <a:p>
            <a:r>
              <a:rPr lang="en-US" dirty="0"/>
              <a:t>Sensors sense the environment and retrieve data. </a:t>
            </a:r>
          </a:p>
          <a:p>
            <a:r>
              <a:rPr lang="en-US" dirty="0"/>
              <a:t>They are the starting point in any </a:t>
            </a:r>
            <a:r>
              <a:rPr lang="en-US" dirty="0" err="1"/>
              <a:t>IoT</a:t>
            </a:r>
            <a:r>
              <a:rPr lang="en-US" dirty="0"/>
              <a:t> </a:t>
            </a:r>
            <a:r>
              <a:rPr lang="en-US" dirty="0" smtClean="0"/>
              <a:t>application.</a:t>
            </a:r>
            <a:endParaRPr lang="en-US" dirty="0"/>
          </a:p>
          <a:p>
            <a:r>
              <a:rPr lang="en-US" dirty="0"/>
              <a:t>Ex: for a temperature monitoring application, the temperature sensor fetches data for us to operate on.</a:t>
            </a:r>
          </a:p>
          <a:p>
            <a:r>
              <a:rPr lang="en-US" dirty="0"/>
              <a:t>Sensors could be analog or digital.</a:t>
            </a:r>
          </a:p>
          <a:p>
            <a:r>
              <a:rPr lang="en-US" dirty="0"/>
              <a:t>Digital Sensor: LED, Push button </a:t>
            </a:r>
            <a:r>
              <a:rPr lang="en-US" dirty="0" smtClean="0"/>
              <a:t>switches </a:t>
            </a:r>
            <a:r>
              <a:rPr lang="en-US" dirty="0"/>
              <a:t>etc.</a:t>
            </a:r>
          </a:p>
          <a:p>
            <a:r>
              <a:rPr lang="en-US" dirty="0"/>
              <a:t>Analog Sensor: Pressure, Temperature etc.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484211-2D54-4872-9734-5F3220180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DEFBC-6DD1-476B-89DA-4532AD599749}" type="datetime1">
              <a:rPr lang="en-US" smtClean="0"/>
              <a:t>7/31/2026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C1BEA3-F398-43C9-85FD-D9A3D98DE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Internet of Things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681BA8-3349-41BD-AD33-94590D7E4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4D8FF-EF5B-4EB3-8932-2954AF2E825B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89142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8DD02-32D8-479E-B776-1937046E9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1995"/>
          </a:xfrm>
        </p:spPr>
        <p:txBody>
          <a:bodyPr/>
          <a:lstStyle/>
          <a:p>
            <a:r>
              <a:rPr lang="en-US" b="1" dirty="0"/>
              <a:t>Sensors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07E3BE-DDDB-4C36-9CD5-D6545518FE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87120"/>
            <a:ext cx="10515600" cy="5089843"/>
          </a:xfrm>
        </p:spPr>
        <p:txBody>
          <a:bodyPr>
            <a:normAutofit/>
          </a:bodyPr>
          <a:lstStyle/>
          <a:p>
            <a:pPr algn="just"/>
            <a:r>
              <a:rPr lang="en-US" sz="3200" i="0" dirty="0">
                <a:solidFill>
                  <a:srgbClr val="202124"/>
                </a:solidFill>
                <a:effectLst/>
              </a:rPr>
              <a:t>A sensor converts the physical action to be measured into an electrical equivalent and processes it so that the electrical signals can be easily sent and further processed.</a:t>
            </a:r>
          </a:p>
          <a:p>
            <a:pPr algn="l"/>
            <a:r>
              <a:rPr lang="en-US" sz="3200" b="0" i="0" dirty="0">
                <a:solidFill>
                  <a:srgbClr val="333333"/>
                </a:solidFill>
                <a:effectLst/>
              </a:rPr>
              <a:t>A sensor consists of three main components:</a:t>
            </a:r>
          </a:p>
          <a:p>
            <a:pPr lvl="1"/>
            <a:r>
              <a:rPr lang="en-US" sz="2800" b="1" i="0" dirty="0">
                <a:solidFill>
                  <a:srgbClr val="333333"/>
                </a:solidFill>
                <a:effectLst/>
              </a:rPr>
              <a:t>(1)</a:t>
            </a:r>
            <a:r>
              <a:rPr lang="en-US" sz="2800" b="0" i="0" dirty="0">
                <a:solidFill>
                  <a:srgbClr val="333333"/>
                </a:solidFill>
                <a:effectLst/>
              </a:rPr>
              <a:t> The sensing section contains the sensor itself which is based on a particular technology. </a:t>
            </a:r>
            <a:endParaRPr lang="en-US" sz="2800" b="0" i="0" dirty="0" smtClean="0">
              <a:solidFill>
                <a:srgbClr val="333333"/>
              </a:solidFill>
              <a:effectLst/>
            </a:endParaRPr>
          </a:p>
          <a:p>
            <a:pPr lvl="1"/>
            <a:r>
              <a:rPr lang="en-US" sz="2800" b="1" i="0" dirty="0" smtClean="0">
                <a:solidFill>
                  <a:srgbClr val="333333"/>
                </a:solidFill>
                <a:effectLst/>
              </a:rPr>
              <a:t>(</a:t>
            </a:r>
            <a:r>
              <a:rPr lang="en-US" sz="2800" b="1" i="0" dirty="0">
                <a:solidFill>
                  <a:srgbClr val="333333"/>
                </a:solidFill>
                <a:effectLst/>
              </a:rPr>
              <a:t>2)</a:t>
            </a:r>
            <a:r>
              <a:rPr lang="en-US" sz="2800" b="0" i="0" dirty="0">
                <a:solidFill>
                  <a:srgbClr val="333333"/>
                </a:solidFill>
                <a:effectLst/>
              </a:rPr>
              <a:t> The processing circuitry converts the physical variable into an electrical variable.</a:t>
            </a:r>
          </a:p>
          <a:p>
            <a:pPr lvl="1"/>
            <a:r>
              <a:rPr lang="en-US" sz="2800" b="1" i="0" dirty="0">
                <a:solidFill>
                  <a:srgbClr val="333333"/>
                </a:solidFill>
                <a:effectLst/>
              </a:rPr>
              <a:t>(3)</a:t>
            </a:r>
            <a:r>
              <a:rPr lang="en-US" sz="2800" b="0" i="0" dirty="0">
                <a:solidFill>
                  <a:srgbClr val="333333"/>
                </a:solidFill>
                <a:effectLst/>
              </a:rPr>
              <a:t> The signal output contains the </a:t>
            </a:r>
            <a:r>
              <a:rPr lang="en-US" sz="2800" b="0" i="0" dirty="0" smtClean="0">
                <a:solidFill>
                  <a:srgbClr val="333333"/>
                </a:solidFill>
                <a:effectLst/>
              </a:rPr>
              <a:t>electronics </a:t>
            </a:r>
            <a:r>
              <a:rPr lang="en-US" sz="2800" b="0" i="0" dirty="0">
                <a:solidFill>
                  <a:srgbClr val="333333"/>
                </a:solidFill>
                <a:effectLst/>
              </a:rPr>
              <a:t>connected to a control system.</a:t>
            </a:r>
          </a:p>
          <a:p>
            <a:pPr algn="just"/>
            <a:endParaRPr lang="en-US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442F7D-DB0E-4A47-B850-B1C5DC1F5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6F587-B680-4833-B93B-A700F64E46EE}" type="datetime1">
              <a:rPr lang="en-US" smtClean="0"/>
              <a:t>7/31/2026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523801-0C9F-403D-95C1-D7F68E6F6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Internet of Things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E84E00-8736-436F-A2A0-DCB8DEA57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4D8FF-EF5B-4EB3-8932-2954AF2E825B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25834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0957E-8728-4414-9E2A-B1C2957D9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6918"/>
          </a:xfrm>
        </p:spPr>
        <p:txBody>
          <a:bodyPr/>
          <a:lstStyle/>
          <a:p>
            <a:r>
              <a:rPr lang="en-US" b="1" dirty="0"/>
              <a:t>Sensors</a:t>
            </a:r>
            <a:endParaRPr lang="en-IN" b="1" dirty="0"/>
          </a:p>
        </p:txBody>
      </p:sp>
      <p:pic>
        <p:nvPicPr>
          <p:cNvPr id="1026" name="Picture 2" descr="OEM Vibration Sensor Module Alarm Motion Sensor Module Vibration Switch  SW-420 : Amazon.in: Industrial &amp; Scientific">
            <a:extLst>
              <a:ext uri="{FF2B5EF4-FFF2-40B4-BE49-F238E27FC236}">
                <a16:creationId xmlns:a16="http://schemas.microsoft.com/office/drawing/2014/main" id="{97312C65-88B0-44D1-B9DB-0B5C01CA586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437" y="1103949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exas LM35DZ Temperature Sensor with Analog Output, Accuracy: +-0.5 Degree  Celsius, | ID: 18271493591">
            <a:extLst>
              <a:ext uri="{FF2B5EF4-FFF2-40B4-BE49-F238E27FC236}">
                <a16:creationId xmlns:a16="http://schemas.microsoft.com/office/drawing/2014/main" id="{ED6209FC-DBA8-4414-B127-2B56BAA328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9950" y="1206659"/>
            <a:ext cx="2209800" cy="2066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oil Moisture Sensor with Analog to Digital Converter ADC121C021 -  store.ncd.io">
            <a:extLst>
              <a:ext uri="{FF2B5EF4-FFF2-40B4-BE49-F238E27FC236}">
                <a16:creationId xmlns:a16="http://schemas.microsoft.com/office/drawing/2014/main" id="{C3E3E196-93E7-419A-8514-6373802DCE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993" y="1319333"/>
            <a:ext cx="2619375" cy="174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FAQ: What are the Different Camera Sensor Sizes?">
            <a:extLst>
              <a:ext uri="{FF2B5EF4-FFF2-40B4-BE49-F238E27FC236}">
                <a16:creationId xmlns:a16="http://schemas.microsoft.com/office/drawing/2014/main" id="{D5F4C23A-80EB-4919-B419-709D36F97E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9677" y="1282146"/>
            <a:ext cx="28575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3526CAE7-6FEC-4996-AD4D-D946D9A58A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779" y="3717925"/>
            <a:ext cx="2638425" cy="2638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HC-SR501 PIR Motion Sensor Module - Elektor">
            <a:extLst>
              <a:ext uri="{FF2B5EF4-FFF2-40B4-BE49-F238E27FC236}">
                <a16:creationId xmlns:a16="http://schemas.microsoft.com/office/drawing/2014/main" id="{9082D90E-A011-4D81-8581-F30C6168E6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8100" y="3544092"/>
            <a:ext cx="2247900" cy="203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pH Sensor - Instruments Direct">
            <a:extLst>
              <a:ext uri="{FF2B5EF4-FFF2-40B4-BE49-F238E27FC236}">
                <a16:creationId xmlns:a16="http://schemas.microsoft.com/office/drawing/2014/main" id="{4382F95C-EB0D-4798-8772-DA03840B19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7128" y="3795553"/>
            <a:ext cx="2867025" cy="159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>
            <a:extLst>
              <a:ext uri="{FF2B5EF4-FFF2-40B4-BE49-F238E27FC236}">
                <a16:creationId xmlns:a16="http://schemas.microsoft.com/office/drawing/2014/main" id="{C3FA563A-D099-41F2-B096-47E136539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7248" y="3557744"/>
            <a:ext cx="2638425" cy="2638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C628215-B949-425E-A6B9-1CD814F92D92}"/>
              </a:ext>
            </a:extLst>
          </p:cNvPr>
          <p:cNvSpPr txBox="1"/>
          <p:nvPr/>
        </p:nvSpPr>
        <p:spPr>
          <a:xfrm>
            <a:off x="434343" y="3062408"/>
            <a:ext cx="17198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Vibration sensor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D9D6DB-61B2-41AD-8D1D-29E69F828716}"/>
              </a:ext>
            </a:extLst>
          </p:cNvPr>
          <p:cNvSpPr txBox="1"/>
          <p:nvPr/>
        </p:nvSpPr>
        <p:spPr>
          <a:xfrm>
            <a:off x="5631808" y="3118584"/>
            <a:ext cx="1818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Moisture sensor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E4C572-53A8-47FA-94BD-27229310037B}"/>
              </a:ext>
            </a:extLst>
          </p:cNvPr>
          <p:cNvSpPr txBox="1"/>
          <p:nvPr/>
        </p:nvSpPr>
        <p:spPr>
          <a:xfrm>
            <a:off x="3278822" y="3143330"/>
            <a:ext cx="13696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Temp sensor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FE2BC6-A109-4BA1-A718-DAC61D0D6062}"/>
              </a:ext>
            </a:extLst>
          </p:cNvPr>
          <p:cNvSpPr txBox="1"/>
          <p:nvPr/>
        </p:nvSpPr>
        <p:spPr>
          <a:xfrm>
            <a:off x="8961120" y="3059649"/>
            <a:ext cx="9044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Camera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5E2610-2068-4DAC-A4D5-8487BEB8194F}"/>
              </a:ext>
            </a:extLst>
          </p:cNvPr>
          <p:cNvSpPr txBox="1"/>
          <p:nvPr/>
        </p:nvSpPr>
        <p:spPr>
          <a:xfrm>
            <a:off x="1800532" y="6303690"/>
            <a:ext cx="1478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OBD: ELM327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0016DE-73A8-40DC-992F-AC6829024FD4}"/>
              </a:ext>
            </a:extLst>
          </p:cNvPr>
          <p:cNvSpPr txBox="1"/>
          <p:nvPr/>
        </p:nvSpPr>
        <p:spPr>
          <a:xfrm>
            <a:off x="4165600" y="5781040"/>
            <a:ext cx="1157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PIR sensor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C87472-2B5F-49B9-B048-5CCC08ED041A}"/>
              </a:ext>
            </a:extLst>
          </p:cNvPr>
          <p:cNvSpPr txBox="1"/>
          <p:nvPr/>
        </p:nvSpPr>
        <p:spPr>
          <a:xfrm>
            <a:off x="6541128" y="5582442"/>
            <a:ext cx="1119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PH sensor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F650B8-27EC-493D-A893-D4B986324FB4}"/>
              </a:ext>
            </a:extLst>
          </p:cNvPr>
          <p:cNvSpPr txBox="1"/>
          <p:nvPr/>
        </p:nvSpPr>
        <p:spPr>
          <a:xfrm>
            <a:off x="8959320" y="6446510"/>
            <a:ext cx="3232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Pressure, Temp, humidity sensor</a:t>
            </a:r>
            <a:endParaRPr lang="en-IN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CFE90A-1F58-480F-8770-C9FDD31C8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E01C5-E451-4127-9DDE-7A7C0E32BE03}" type="datetime1">
              <a:rPr lang="en-US" smtClean="0"/>
              <a:t>7/31/2026</a:t>
            </a:fld>
            <a:endParaRPr lang="en-IN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565FDC75-A3CB-4465-A759-0B6D95A09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Internet of Things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F6EEC8D-FEFF-48F7-BC37-9B18A018B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4D8FF-EF5B-4EB3-8932-2954AF2E825B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55693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99A6C-12D3-4342-BBC4-AD38C11C3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8780"/>
          </a:xfrm>
        </p:spPr>
        <p:txBody>
          <a:bodyPr/>
          <a:lstStyle/>
          <a:p>
            <a:r>
              <a:rPr lang="en-US" b="1" dirty="0" smtClean="0"/>
              <a:t> Computing / Storage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93017E-D5D5-4B39-819E-248FB7548F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1920"/>
            <a:ext cx="10515600" cy="4785043"/>
          </a:xfrm>
        </p:spPr>
        <p:txBody>
          <a:bodyPr>
            <a:normAutofit/>
          </a:bodyPr>
          <a:lstStyle/>
          <a:p>
            <a:pPr algn="just"/>
            <a:r>
              <a:rPr lang="en-US" dirty="0" smtClean="0"/>
              <a:t>Computing </a:t>
            </a:r>
            <a:r>
              <a:rPr lang="en-US" dirty="0"/>
              <a:t>is a significant technology in IoT.</a:t>
            </a:r>
          </a:p>
          <a:p>
            <a:pPr algn="just"/>
            <a:r>
              <a:rPr lang="en-US" dirty="0"/>
              <a:t>As data storage plays a major role in IoT, cloud has grown much more popular as it serves as an affordable, effective and efficient medium for data storage. </a:t>
            </a:r>
          </a:p>
          <a:p>
            <a:pPr algn="just"/>
            <a:r>
              <a:rPr lang="en-US" dirty="0"/>
              <a:t>Different popular cloud services are:</a:t>
            </a:r>
          </a:p>
          <a:p>
            <a:pPr lvl="1" algn="just"/>
            <a:r>
              <a:rPr lang="en-US" dirty="0" smtClean="0"/>
              <a:t>IaaS (Infrastructure as a Service) (AWS, </a:t>
            </a:r>
            <a:r>
              <a:rPr lang="en-US" dirty="0" err="1" smtClean="0"/>
              <a:t>Ms</a:t>
            </a:r>
            <a:r>
              <a:rPr lang="en-US" dirty="0" smtClean="0"/>
              <a:t> Azure)</a:t>
            </a:r>
          </a:p>
          <a:p>
            <a:pPr lvl="1" algn="just"/>
            <a:r>
              <a:rPr lang="en-US" dirty="0" smtClean="0"/>
              <a:t>PaaS </a:t>
            </a:r>
            <a:r>
              <a:rPr lang="en-US" dirty="0"/>
              <a:t>(Platform as a Service)</a:t>
            </a:r>
          </a:p>
          <a:p>
            <a:pPr lvl="1" algn="just"/>
            <a:r>
              <a:rPr lang="en-US" dirty="0"/>
              <a:t>SaaS (Software as a Service)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6F1482-3E82-4D01-864F-773DDB789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474F8-9BCE-4E82-85FF-FCBC4B9A0AB7}" type="datetime1">
              <a:rPr lang="en-US" smtClean="0"/>
              <a:t>7/31/2026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761F3C-3830-4FF7-B796-1438325F8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Internet of Things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B7B24B-8BE3-4971-90B8-84B5E24F3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4D8FF-EF5B-4EB3-8932-2954AF2E825B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73122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A6BDF-F438-45F0-A1BB-06EF21670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Embedded Computing Boards 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41E4D7-A5E6-4CE2-B41C-711EB5508B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0258" y="1825625"/>
            <a:ext cx="10411485" cy="4351338"/>
          </a:xfrm>
        </p:spPr>
        <p:txBody>
          <a:bodyPr/>
          <a:lstStyle/>
          <a:p>
            <a:r>
              <a:rPr lang="en-US" dirty="0"/>
              <a:t>It brings IoT design to reality.</a:t>
            </a:r>
          </a:p>
          <a:p>
            <a:r>
              <a:rPr lang="en-US" dirty="0"/>
              <a:t>Most of the computing boards available in market are driven by microcontrollers or processors. </a:t>
            </a:r>
          </a:p>
          <a:p>
            <a:r>
              <a:rPr lang="en-US" dirty="0"/>
              <a:t>Example computing boards are:</a:t>
            </a:r>
          </a:p>
          <a:p>
            <a:pPr lvl="1"/>
            <a:r>
              <a:rPr lang="en-US" dirty="0"/>
              <a:t>Raspberry Pi</a:t>
            </a:r>
          </a:p>
          <a:p>
            <a:pPr lvl="1"/>
            <a:r>
              <a:rPr lang="en-US" dirty="0"/>
              <a:t>Arduino</a:t>
            </a:r>
          </a:p>
          <a:p>
            <a:pPr lvl="1"/>
            <a:r>
              <a:rPr lang="en-US" dirty="0"/>
              <a:t>Node MCU</a:t>
            </a:r>
          </a:p>
          <a:p>
            <a:pPr lvl="1"/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6FA47A-5F2B-47E6-A0C7-01B3049CF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D5CE1-F1F3-4E61-9AD5-3A527E8B1FC2}" type="datetime1">
              <a:rPr lang="en-US" smtClean="0"/>
              <a:t>7/31/2026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32277A-476C-46EA-9759-999C0D833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Internet of Things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9D8691-5D15-4DB2-A89E-089B2DA7D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4D8FF-EF5B-4EB3-8932-2954AF2E825B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31675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BE194-E4B9-417F-BA0B-3A5D1FDDE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b="1" dirty="0"/>
              <a:t>Example computing boards</a:t>
            </a:r>
            <a:endParaRPr lang="en-IN" b="1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BD0EF3F-7A21-43A1-BCE2-A7838214095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2559" y="2390774"/>
            <a:ext cx="3034671" cy="2953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ow to Get Started with Arduino">
            <a:extLst>
              <a:ext uri="{FF2B5EF4-FFF2-40B4-BE49-F238E27FC236}">
                <a16:creationId xmlns:a16="http://schemas.microsoft.com/office/drawing/2014/main" id="{501CB30D-CC22-40D7-9742-4CEEC71CCE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2513" y="2505074"/>
            <a:ext cx="3464786" cy="2595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840A9637-1789-47BC-8F63-A4CDB6EADD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0388" y="2335995"/>
            <a:ext cx="3464786" cy="2764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0C39719-3E89-4EFA-9045-3A1740C420E9}"/>
              </a:ext>
            </a:extLst>
          </p:cNvPr>
          <p:cNvSpPr txBox="1"/>
          <p:nvPr/>
        </p:nvSpPr>
        <p:spPr>
          <a:xfrm>
            <a:off x="1727200" y="5516880"/>
            <a:ext cx="8989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Node MCU                                                        Arduino Uno                                           Raspberry Pi 4</a:t>
            </a:r>
            <a:endParaRPr lang="en-IN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774615-64A5-4ECF-9724-768F4BF93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E2583-D565-41CE-A0F6-5ADACD9B23B3}" type="datetime1">
              <a:rPr lang="en-US" smtClean="0"/>
              <a:t>7/31/2026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00CB60-A4C4-40E3-9517-0A8D69123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Internet of Things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B5242E-D8F0-4E70-90B8-B902BFEBE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4D8FF-EF5B-4EB3-8932-2954AF2E825B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24877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A43C1-BFEE-4818-8BB3-DE385B822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Communication Protocols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79460-A6AA-466E-9B7F-0BCB3726B1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5280"/>
            <a:ext cx="10515600" cy="4571683"/>
          </a:xfrm>
        </p:spPr>
        <p:txBody>
          <a:bodyPr>
            <a:normAutofit/>
          </a:bodyPr>
          <a:lstStyle/>
          <a:p>
            <a:r>
              <a:rPr lang="en-US" dirty="0"/>
              <a:t>Data exchange is possible because of the protocols.</a:t>
            </a:r>
          </a:p>
          <a:p>
            <a:r>
              <a:rPr lang="en-US" dirty="0"/>
              <a:t>Protocols take care of the following:</a:t>
            </a:r>
          </a:p>
          <a:p>
            <a:pPr lvl="1"/>
            <a:r>
              <a:rPr lang="en-US" dirty="0"/>
              <a:t>Addressing</a:t>
            </a:r>
          </a:p>
          <a:p>
            <a:pPr lvl="1"/>
            <a:r>
              <a:rPr lang="en-US" dirty="0"/>
              <a:t>Format of the message</a:t>
            </a:r>
          </a:p>
          <a:p>
            <a:pPr lvl="1"/>
            <a:r>
              <a:rPr lang="en-US" dirty="0"/>
              <a:t>Message security (encryption &amp; decryption)</a:t>
            </a:r>
          </a:p>
          <a:p>
            <a:pPr lvl="1"/>
            <a:r>
              <a:rPr lang="en-US" dirty="0"/>
              <a:t>Routing</a:t>
            </a:r>
          </a:p>
          <a:p>
            <a:pPr lvl="1"/>
            <a:r>
              <a:rPr lang="en-US" dirty="0"/>
              <a:t>Flow control</a:t>
            </a:r>
          </a:p>
          <a:p>
            <a:pPr lvl="1"/>
            <a:r>
              <a:rPr lang="en-US" dirty="0"/>
              <a:t>Error monitoring</a:t>
            </a:r>
          </a:p>
          <a:p>
            <a:pPr lvl="1"/>
            <a:r>
              <a:rPr lang="en-US" dirty="0"/>
              <a:t>Sequencing</a:t>
            </a:r>
          </a:p>
          <a:p>
            <a:pPr lvl="1"/>
            <a:r>
              <a:rPr lang="en-US" dirty="0"/>
              <a:t>Retransmission guidelines</a:t>
            </a:r>
          </a:p>
          <a:p>
            <a:pPr lvl="1"/>
            <a:r>
              <a:rPr lang="en-US" dirty="0"/>
              <a:t>Segmentation of the data packet</a:t>
            </a:r>
          </a:p>
          <a:p>
            <a:pPr marL="914400" lvl="2" indent="0">
              <a:buNone/>
            </a:pP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46312-8CE9-4A2D-A0BB-93C1A7049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36906-BAE6-47C4-8973-9D484CA19D17}" type="datetime1">
              <a:rPr lang="en-US" smtClean="0"/>
              <a:t>7/31/2026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12F89D-B066-4125-B18C-0CB115E5B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Internet of Things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5D11E1-0EE5-44AA-B229-E7FD5B8C3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4D8FF-EF5B-4EB3-8932-2954AF2E825B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98030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98162"/>
          </a:xfrm>
        </p:spPr>
        <p:txBody>
          <a:bodyPr/>
          <a:lstStyle/>
          <a:p>
            <a:r>
              <a:rPr lang="en-US" b="1" dirty="0" smtClean="0"/>
              <a:t>Embedded Systems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 smtClean="0"/>
              <a:t>An embedded system is a computer hardware and software embedded together to perform specific tasks. </a:t>
            </a:r>
          </a:p>
          <a:p>
            <a:pPr algn="just"/>
            <a:r>
              <a:rPr lang="en-IN" dirty="0" smtClean="0"/>
              <a:t>Key components of an embedded system include microprocessor or microcontroller, memory, networking units, I/O units, and storage.</a:t>
            </a:r>
          </a:p>
          <a:p>
            <a:pPr algn="just"/>
            <a:r>
              <a:rPr lang="en-IN" dirty="0" smtClean="0"/>
              <a:t>Embedded systems run embedded operating systems such as real-time systems (RTOS).</a:t>
            </a:r>
          </a:p>
          <a:p>
            <a:pPr algn="just"/>
            <a:r>
              <a:rPr lang="en-IN" dirty="0" smtClean="0"/>
              <a:t>Embedded systems range from low-cost miniaturize devices such as digital watches to cameras, vending machines, appliances etc. 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6221C-2507-4C14-9805-BA84EBB5E36B}" type="datetime1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Internet of Things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1CA4D-55D5-43B2-9EAD-DBFCD82C487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864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52627</TotalTime>
  <Words>1108</Words>
  <Application>Microsoft Office PowerPoint</Application>
  <PresentationFormat>Widescreen</PresentationFormat>
  <Paragraphs>191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Office Theme</vt:lpstr>
      <vt:lpstr>Internet of Things Lect #02</vt:lpstr>
      <vt:lpstr>IoT Protocol Stack Layers</vt:lpstr>
      <vt:lpstr>Layer 1: Physical or Sensor Layer</vt:lpstr>
      <vt:lpstr>Example of Layer 1 devices</vt:lpstr>
      <vt:lpstr>Layer 2 : Processing and Control action layer</vt:lpstr>
      <vt:lpstr>Examples</vt:lpstr>
      <vt:lpstr>Layer 3: Hardware interface layer</vt:lpstr>
      <vt:lpstr>HW Interface Layer</vt:lpstr>
      <vt:lpstr>Layer 4: RF Layer</vt:lpstr>
      <vt:lpstr>Example: RF Layer</vt:lpstr>
      <vt:lpstr>Layer 5: Session / Message Layer</vt:lpstr>
      <vt:lpstr>Layer 5: User experience layer</vt:lpstr>
      <vt:lpstr>Layer 7: Application Layer</vt:lpstr>
      <vt:lpstr>IoT Enabling Technologies</vt:lpstr>
      <vt:lpstr>Sensors</vt:lpstr>
      <vt:lpstr>Sensors</vt:lpstr>
      <vt:lpstr>Sensors</vt:lpstr>
      <vt:lpstr> Computing / Storage</vt:lpstr>
      <vt:lpstr>Embedded Computing Boards </vt:lpstr>
      <vt:lpstr> Example computing boards</vt:lpstr>
      <vt:lpstr>Communication Protocols</vt:lpstr>
      <vt:lpstr>Embedded Systems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 of Things</dc:title>
  <dc:creator>DR. S . CHINARA</dc:creator>
  <cp:lastModifiedBy>admin</cp:lastModifiedBy>
  <cp:revision>299</cp:revision>
  <dcterms:created xsi:type="dcterms:W3CDTF">2019-01-04T12:03:41Z</dcterms:created>
  <dcterms:modified xsi:type="dcterms:W3CDTF">2026-07-31T07:30:04Z</dcterms:modified>
</cp:coreProperties>
</file>