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0" d="100"/>
          <a:sy n="60" d="100"/>
        </p:scale>
        <p:origin x="72" y="114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12E54C7-B1C0-4224-BD19-AD7653E9E853}" type="datetimeFigureOut">
              <a:rPr lang="en-IN" smtClean="0"/>
              <a:t>07-08-2026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7B18D9-73E8-4C7D-AC04-127BD809EB99}" type="slidenum">
              <a:rPr lang="en-IN" smtClean="0"/>
              <a:t>‹#›</a:t>
            </a:fld>
            <a:endParaRPr lang="en-IN"/>
          </a:p>
        </p:txBody>
      </p:sp>
    </p:spTree>
    <p:extLst>
      <p:ext uri="{BB962C8B-B14F-4D97-AF65-F5344CB8AC3E}">
        <p14:creationId xmlns:p14="http://schemas.microsoft.com/office/powerpoint/2010/main" val="197132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5" name="Google Shape;95;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606914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5" name="Google Shape;105;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975776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 name="Google Shape;114;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596005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 name="Google Shape;123;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412395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3" name="Google Shape;133;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242705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2" name="Google Shape;142;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228004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1" name="Google Shape;151;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175291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0" name="Google Shape;160;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162191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9" name="Google Shape;169;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241836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A10FE5-84FC-4796-8B02-701DD45DA9A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492663D-A0F0-425C-B761-95B388F409F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B0AB18B-ED1B-421D-9A56-307CA5EE5A67}"/>
              </a:ext>
            </a:extLst>
          </p:cNvPr>
          <p:cNvSpPr>
            <a:spLocks noGrp="1"/>
          </p:cNvSpPr>
          <p:nvPr>
            <p:ph type="dt" sz="half" idx="10"/>
          </p:nvPr>
        </p:nvSpPr>
        <p:spPr/>
        <p:txBody>
          <a:bodyPr/>
          <a:lstStyle/>
          <a:p>
            <a:fld id="{E1E16264-1748-4D2E-8DBD-8C263395763C}" type="datetime1">
              <a:rPr lang="en-IN" smtClean="0"/>
              <a:t>07-08-2026</a:t>
            </a:fld>
            <a:endParaRPr lang="en-IN"/>
          </a:p>
        </p:txBody>
      </p:sp>
      <p:sp>
        <p:nvSpPr>
          <p:cNvPr id="5" name="Footer Placeholder 4">
            <a:extLst>
              <a:ext uri="{FF2B5EF4-FFF2-40B4-BE49-F238E27FC236}">
                <a16:creationId xmlns:a16="http://schemas.microsoft.com/office/drawing/2014/main" id="{D37FA99B-343A-491D-88AA-2C1CAFD2CF05}"/>
              </a:ext>
            </a:extLst>
          </p:cNvPr>
          <p:cNvSpPr>
            <a:spLocks noGrp="1"/>
          </p:cNvSpPr>
          <p:nvPr>
            <p:ph type="ftr" sz="quarter" idx="11"/>
          </p:nvPr>
        </p:nvSpPr>
        <p:spPr/>
        <p:txBody>
          <a:bodyPr/>
          <a:lstStyle/>
          <a:p>
            <a:r>
              <a:rPr lang="en-IN"/>
              <a:t>Internet of Things</a:t>
            </a:r>
          </a:p>
        </p:txBody>
      </p:sp>
      <p:sp>
        <p:nvSpPr>
          <p:cNvPr id="6" name="Slide Number Placeholder 5">
            <a:extLst>
              <a:ext uri="{FF2B5EF4-FFF2-40B4-BE49-F238E27FC236}">
                <a16:creationId xmlns:a16="http://schemas.microsoft.com/office/drawing/2014/main" id="{3109A177-874F-4912-8951-30C19E299EA2}"/>
              </a:ext>
            </a:extLst>
          </p:cNvPr>
          <p:cNvSpPr>
            <a:spLocks noGrp="1"/>
          </p:cNvSpPr>
          <p:nvPr>
            <p:ph type="sldNum" sz="quarter" idx="12"/>
          </p:nvPr>
        </p:nvSpPr>
        <p:spPr/>
        <p:txBody>
          <a:bodyPr/>
          <a:lstStyle/>
          <a:p>
            <a:fld id="{140593C2-417E-40DC-85D1-1831D854EDDA}" type="slidenum">
              <a:rPr lang="en-IN" smtClean="0"/>
              <a:t>‹#›</a:t>
            </a:fld>
            <a:endParaRPr lang="en-IN"/>
          </a:p>
        </p:txBody>
      </p:sp>
    </p:spTree>
    <p:extLst>
      <p:ext uri="{BB962C8B-B14F-4D97-AF65-F5344CB8AC3E}">
        <p14:creationId xmlns:p14="http://schemas.microsoft.com/office/powerpoint/2010/main" val="6389637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14184-0523-4E75-8643-7945DDF3BC6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F80C99A-71DE-4F3D-8EA9-05ADB30BEF8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6441624-3A53-42DE-B0AF-B1B79E428768}"/>
              </a:ext>
            </a:extLst>
          </p:cNvPr>
          <p:cNvSpPr>
            <a:spLocks noGrp="1"/>
          </p:cNvSpPr>
          <p:nvPr>
            <p:ph type="dt" sz="half" idx="10"/>
          </p:nvPr>
        </p:nvSpPr>
        <p:spPr/>
        <p:txBody>
          <a:bodyPr/>
          <a:lstStyle/>
          <a:p>
            <a:fld id="{56788749-7A84-4180-AFA5-8FFBADE1B764}" type="datetime1">
              <a:rPr lang="en-IN" smtClean="0"/>
              <a:t>07-08-2026</a:t>
            </a:fld>
            <a:endParaRPr lang="en-IN"/>
          </a:p>
        </p:txBody>
      </p:sp>
      <p:sp>
        <p:nvSpPr>
          <p:cNvPr id="5" name="Footer Placeholder 4">
            <a:extLst>
              <a:ext uri="{FF2B5EF4-FFF2-40B4-BE49-F238E27FC236}">
                <a16:creationId xmlns:a16="http://schemas.microsoft.com/office/drawing/2014/main" id="{A2CAB06E-8F8F-4F7F-B8D2-0A0FA47650B5}"/>
              </a:ext>
            </a:extLst>
          </p:cNvPr>
          <p:cNvSpPr>
            <a:spLocks noGrp="1"/>
          </p:cNvSpPr>
          <p:nvPr>
            <p:ph type="ftr" sz="quarter" idx="11"/>
          </p:nvPr>
        </p:nvSpPr>
        <p:spPr/>
        <p:txBody>
          <a:bodyPr/>
          <a:lstStyle/>
          <a:p>
            <a:r>
              <a:rPr lang="en-IN"/>
              <a:t>Internet of Things</a:t>
            </a:r>
          </a:p>
        </p:txBody>
      </p:sp>
      <p:sp>
        <p:nvSpPr>
          <p:cNvPr id="6" name="Slide Number Placeholder 5">
            <a:extLst>
              <a:ext uri="{FF2B5EF4-FFF2-40B4-BE49-F238E27FC236}">
                <a16:creationId xmlns:a16="http://schemas.microsoft.com/office/drawing/2014/main" id="{4EF36277-31C7-412C-BB40-3D19985D1FE6}"/>
              </a:ext>
            </a:extLst>
          </p:cNvPr>
          <p:cNvSpPr>
            <a:spLocks noGrp="1"/>
          </p:cNvSpPr>
          <p:nvPr>
            <p:ph type="sldNum" sz="quarter" idx="12"/>
          </p:nvPr>
        </p:nvSpPr>
        <p:spPr/>
        <p:txBody>
          <a:bodyPr/>
          <a:lstStyle/>
          <a:p>
            <a:fld id="{140593C2-417E-40DC-85D1-1831D854EDDA}" type="slidenum">
              <a:rPr lang="en-IN" smtClean="0"/>
              <a:t>‹#›</a:t>
            </a:fld>
            <a:endParaRPr lang="en-IN"/>
          </a:p>
        </p:txBody>
      </p:sp>
    </p:spTree>
    <p:extLst>
      <p:ext uri="{BB962C8B-B14F-4D97-AF65-F5344CB8AC3E}">
        <p14:creationId xmlns:p14="http://schemas.microsoft.com/office/powerpoint/2010/main" val="18338131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264212-1B03-449A-982D-3032CB2BC8B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B50B0BD-C8D2-49EB-A409-2B699FFC832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0F14C04-6B0F-494F-A8EF-3A64D29F0C45}"/>
              </a:ext>
            </a:extLst>
          </p:cNvPr>
          <p:cNvSpPr>
            <a:spLocks noGrp="1"/>
          </p:cNvSpPr>
          <p:nvPr>
            <p:ph type="dt" sz="half" idx="10"/>
          </p:nvPr>
        </p:nvSpPr>
        <p:spPr/>
        <p:txBody>
          <a:bodyPr/>
          <a:lstStyle/>
          <a:p>
            <a:fld id="{EDCA1132-DFB3-4F7A-965F-33F3407E2767}" type="datetime1">
              <a:rPr lang="en-IN" smtClean="0"/>
              <a:t>07-08-2026</a:t>
            </a:fld>
            <a:endParaRPr lang="en-IN"/>
          </a:p>
        </p:txBody>
      </p:sp>
      <p:sp>
        <p:nvSpPr>
          <p:cNvPr id="5" name="Footer Placeholder 4">
            <a:extLst>
              <a:ext uri="{FF2B5EF4-FFF2-40B4-BE49-F238E27FC236}">
                <a16:creationId xmlns:a16="http://schemas.microsoft.com/office/drawing/2014/main" id="{4C0CF50D-8162-4B8A-A24D-9C8EF651C8A7}"/>
              </a:ext>
            </a:extLst>
          </p:cNvPr>
          <p:cNvSpPr>
            <a:spLocks noGrp="1"/>
          </p:cNvSpPr>
          <p:nvPr>
            <p:ph type="ftr" sz="quarter" idx="11"/>
          </p:nvPr>
        </p:nvSpPr>
        <p:spPr/>
        <p:txBody>
          <a:bodyPr/>
          <a:lstStyle/>
          <a:p>
            <a:r>
              <a:rPr lang="en-IN"/>
              <a:t>Internet of Things</a:t>
            </a:r>
          </a:p>
        </p:txBody>
      </p:sp>
      <p:sp>
        <p:nvSpPr>
          <p:cNvPr id="6" name="Slide Number Placeholder 5">
            <a:extLst>
              <a:ext uri="{FF2B5EF4-FFF2-40B4-BE49-F238E27FC236}">
                <a16:creationId xmlns:a16="http://schemas.microsoft.com/office/drawing/2014/main" id="{68F02EA8-86D5-4B8A-ABAB-842F4BFDEC91}"/>
              </a:ext>
            </a:extLst>
          </p:cNvPr>
          <p:cNvSpPr>
            <a:spLocks noGrp="1"/>
          </p:cNvSpPr>
          <p:nvPr>
            <p:ph type="sldNum" sz="quarter" idx="12"/>
          </p:nvPr>
        </p:nvSpPr>
        <p:spPr/>
        <p:txBody>
          <a:bodyPr/>
          <a:lstStyle/>
          <a:p>
            <a:fld id="{140593C2-417E-40DC-85D1-1831D854EDDA}" type="slidenum">
              <a:rPr lang="en-IN" smtClean="0"/>
              <a:t>‹#›</a:t>
            </a:fld>
            <a:endParaRPr lang="en-IN"/>
          </a:p>
        </p:txBody>
      </p:sp>
    </p:spTree>
    <p:extLst>
      <p:ext uri="{BB962C8B-B14F-4D97-AF65-F5344CB8AC3E}">
        <p14:creationId xmlns:p14="http://schemas.microsoft.com/office/powerpoint/2010/main" val="36881192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08A1D9-0061-4D47-944F-0DF6ECD813E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AE03BF2-BD7A-44FD-B0E7-AB0EC928BED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E37DD6F-C0A5-420A-BC9C-265E4D09F09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1265276-22CC-4087-9DD5-036EA17F4343}"/>
              </a:ext>
            </a:extLst>
          </p:cNvPr>
          <p:cNvSpPr>
            <a:spLocks noGrp="1"/>
          </p:cNvSpPr>
          <p:nvPr>
            <p:ph type="dt" sz="half" idx="10"/>
          </p:nvPr>
        </p:nvSpPr>
        <p:spPr/>
        <p:txBody>
          <a:bodyPr/>
          <a:lstStyle/>
          <a:p>
            <a:fld id="{D309DBAD-B7AD-49E1-88A6-555DCA8EBC0E}" type="datetime1">
              <a:rPr lang="en-IN" smtClean="0"/>
              <a:t>07-08-2026</a:t>
            </a:fld>
            <a:endParaRPr lang="en-IN"/>
          </a:p>
        </p:txBody>
      </p:sp>
      <p:sp>
        <p:nvSpPr>
          <p:cNvPr id="6" name="Footer Placeholder 5">
            <a:extLst>
              <a:ext uri="{FF2B5EF4-FFF2-40B4-BE49-F238E27FC236}">
                <a16:creationId xmlns:a16="http://schemas.microsoft.com/office/drawing/2014/main" id="{8AC7D97C-8FE9-4685-AA84-0C9B763B36A6}"/>
              </a:ext>
            </a:extLst>
          </p:cNvPr>
          <p:cNvSpPr>
            <a:spLocks noGrp="1"/>
          </p:cNvSpPr>
          <p:nvPr>
            <p:ph type="ftr" sz="quarter" idx="11"/>
          </p:nvPr>
        </p:nvSpPr>
        <p:spPr/>
        <p:txBody>
          <a:bodyPr/>
          <a:lstStyle/>
          <a:p>
            <a:r>
              <a:rPr lang="en-IN"/>
              <a:t>Internet of Things</a:t>
            </a:r>
          </a:p>
        </p:txBody>
      </p:sp>
      <p:sp>
        <p:nvSpPr>
          <p:cNvPr id="7" name="Slide Number Placeholder 6">
            <a:extLst>
              <a:ext uri="{FF2B5EF4-FFF2-40B4-BE49-F238E27FC236}">
                <a16:creationId xmlns:a16="http://schemas.microsoft.com/office/drawing/2014/main" id="{942A0511-6A41-47CE-999F-C9782D4BDE61}"/>
              </a:ext>
            </a:extLst>
          </p:cNvPr>
          <p:cNvSpPr>
            <a:spLocks noGrp="1"/>
          </p:cNvSpPr>
          <p:nvPr>
            <p:ph type="sldNum" sz="quarter" idx="12"/>
          </p:nvPr>
        </p:nvSpPr>
        <p:spPr/>
        <p:txBody>
          <a:bodyPr/>
          <a:lstStyle/>
          <a:p>
            <a:fld id="{140593C2-417E-40DC-85D1-1831D854EDDA}" type="slidenum">
              <a:rPr lang="en-IN" smtClean="0"/>
              <a:t>‹#›</a:t>
            </a:fld>
            <a:endParaRPr lang="en-IN"/>
          </a:p>
        </p:txBody>
      </p:sp>
    </p:spTree>
    <p:extLst>
      <p:ext uri="{BB962C8B-B14F-4D97-AF65-F5344CB8AC3E}">
        <p14:creationId xmlns:p14="http://schemas.microsoft.com/office/powerpoint/2010/main" val="22180256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8ABA94-B3CC-41FE-8595-92AC3F58883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01665F4-15D5-4548-AD6A-F1A1A0D88D4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3E3F35B-DBA7-4748-B882-E1A13FE22FE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6222FD9-ADB8-4A61-AA3E-CD867212C47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9DCC548-133D-49CF-88E0-65E30B12C2F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05432E1-4671-4924-93AF-20636BFDD221}"/>
              </a:ext>
            </a:extLst>
          </p:cNvPr>
          <p:cNvSpPr>
            <a:spLocks noGrp="1"/>
          </p:cNvSpPr>
          <p:nvPr>
            <p:ph type="dt" sz="half" idx="10"/>
          </p:nvPr>
        </p:nvSpPr>
        <p:spPr/>
        <p:txBody>
          <a:bodyPr/>
          <a:lstStyle/>
          <a:p>
            <a:fld id="{7A135F41-426C-4147-94E6-8E586F98091C}" type="datetime1">
              <a:rPr lang="en-IN" smtClean="0"/>
              <a:t>07-08-2026</a:t>
            </a:fld>
            <a:endParaRPr lang="en-IN"/>
          </a:p>
        </p:txBody>
      </p:sp>
      <p:sp>
        <p:nvSpPr>
          <p:cNvPr id="8" name="Footer Placeholder 7">
            <a:extLst>
              <a:ext uri="{FF2B5EF4-FFF2-40B4-BE49-F238E27FC236}">
                <a16:creationId xmlns:a16="http://schemas.microsoft.com/office/drawing/2014/main" id="{E2187E72-2A4A-48BC-B451-B1A4C1B2D364}"/>
              </a:ext>
            </a:extLst>
          </p:cNvPr>
          <p:cNvSpPr>
            <a:spLocks noGrp="1"/>
          </p:cNvSpPr>
          <p:nvPr>
            <p:ph type="ftr" sz="quarter" idx="11"/>
          </p:nvPr>
        </p:nvSpPr>
        <p:spPr/>
        <p:txBody>
          <a:bodyPr/>
          <a:lstStyle/>
          <a:p>
            <a:r>
              <a:rPr lang="en-IN"/>
              <a:t>Internet of Things</a:t>
            </a:r>
          </a:p>
        </p:txBody>
      </p:sp>
      <p:sp>
        <p:nvSpPr>
          <p:cNvPr id="9" name="Slide Number Placeholder 8">
            <a:extLst>
              <a:ext uri="{FF2B5EF4-FFF2-40B4-BE49-F238E27FC236}">
                <a16:creationId xmlns:a16="http://schemas.microsoft.com/office/drawing/2014/main" id="{A2F11D72-4043-4AFD-9B86-35693F7F5746}"/>
              </a:ext>
            </a:extLst>
          </p:cNvPr>
          <p:cNvSpPr>
            <a:spLocks noGrp="1"/>
          </p:cNvSpPr>
          <p:nvPr>
            <p:ph type="sldNum" sz="quarter" idx="12"/>
          </p:nvPr>
        </p:nvSpPr>
        <p:spPr/>
        <p:txBody>
          <a:bodyPr/>
          <a:lstStyle/>
          <a:p>
            <a:fld id="{140593C2-417E-40DC-85D1-1831D854EDDA}" type="slidenum">
              <a:rPr lang="en-IN" smtClean="0"/>
              <a:t>‹#›</a:t>
            </a:fld>
            <a:endParaRPr lang="en-IN"/>
          </a:p>
        </p:txBody>
      </p:sp>
    </p:spTree>
    <p:extLst>
      <p:ext uri="{BB962C8B-B14F-4D97-AF65-F5344CB8AC3E}">
        <p14:creationId xmlns:p14="http://schemas.microsoft.com/office/powerpoint/2010/main" val="39199208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9D63E2-EBE2-4242-BAD4-3E454246DAB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938EDA0-E37F-4B28-BBD0-21D81989B22E}"/>
              </a:ext>
            </a:extLst>
          </p:cNvPr>
          <p:cNvSpPr>
            <a:spLocks noGrp="1"/>
          </p:cNvSpPr>
          <p:nvPr>
            <p:ph type="dt" sz="half" idx="10"/>
          </p:nvPr>
        </p:nvSpPr>
        <p:spPr/>
        <p:txBody>
          <a:bodyPr/>
          <a:lstStyle/>
          <a:p>
            <a:fld id="{5023611B-8690-4F71-AF5E-73ACA3BF1741}" type="datetime1">
              <a:rPr lang="en-IN" smtClean="0"/>
              <a:t>07-08-2026</a:t>
            </a:fld>
            <a:endParaRPr lang="en-IN"/>
          </a:p>
        </p:txBody>
      </p:sp>
      <p:sp>
        <p:nvSpPr>
          <p:cNvPr id="4" name="Footer Placeholder 3">
            <a:extLst>
              <a:ext uri="{FF2B5EF4-FFF2-40B4-BE49-F238E27FC236}">
                <a16:creationId xmlns:a16="http://schemas.microsoft.com/office/drawing/2014/main" id="{749B62D3-7E91-49EB-846C-F7FEAD56B361}"/>
              </a:ext>
            </a:extLst>
          </p:cNvPr>
          <p:cNvSpPr>
            <a:spLocks noGrp="1"/>
          </p:cNvSpPr>
          <p:nvPr>
            <p:ph type="ftr" sz="quarter" idx="11"/>
          </p:nvPr>
        </p:nvSpPr>
        <p:spPr/>
        <p:txBody>
          <a:bodyPr/>
          <a:lstStyle/>
          <a:p>
            <a:r>
              <a:rPr lang="en-IN"/>
              <a:t>Internet of Things</a:t>
            </a:r>
          </a:p>
        </p:txBody>
      </p:sp>
      <p:sp>
        <p:nvSpPr>
          <p:cNvPr id="5" name="Slide Number Placeholder 4">
            <a:extLst>
              <a:ext uri="{FF2B5EF4-FFF2-40B4-BE49-F238E27FC236}">
                <a16:creationId xmlns:a16="http://schemas.microsoft.com/office/drawing/2014/main" id="{71E15895-CFEF-4690-B5A7-3C7E671F0D87}"/>
              </a:ext>
            </a:extLst>
          </p:cNvPr>
          <p:cNvSpPr>
            <a:spLocks noGrp="1"/>
          </p:cNvSpPr>
          <p:nvPr>
            <p:ph type="sldNum" sz="quarter" idx="12"/>
          </p:nvPr>
        </p:nvSpPr>
        <p:spPr/>
        <p:txBody>
          <a:bodyPr/>
          <a:lstStyle/>
          <a:p>
            <a:fld id="{140593C2-417E-40DC-85D1-1831D854EDDA}" type="slidenum">
              <a:rPr lang="en-IN" smtClean="0"/>
              <a:t>‹#›</a:t>
            </a:fld>
            <a:endParaRPr lang="en-IN"/>
          </a:p>
        </p:txBody>
      </p:sp>
    </p:spTree>
    <p:extLst>
      <p:ext uri="{BB962C8B-B14F-4D97-AF65-F5344CB8AC3E}">
        <p14:creationId xmlns:p14="http://schemas.microsoft.com/office/powerpoint/2010/main" val="22384239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86A4051-EC2D-43AB-91B4-CAEB941C654A}"/>
              </a:ext>
            </a:extLst>
          </p:cNvPr>
          <p:cNvSpPr>
            <a:spLocks noGrp="1"/>
          </p:cNvSpPr>
          <p:nvPr>
            <p:ph type="dt" sz="half" idx="10"/>
          </p:nvPr>
        </p:nvSpPr>
        <p:spPr/>
        <p:txBody>
          <a:bodyPr/>
          <a:lstStyle/>
          <a:p>
            <a:fld id="{DD0E674E-74A3-403E-A7DC-A9E8E694D6B0}" type="datetime1">
              <a:rPr lang="en-IN" smtClean="0"/>
              <a:t>07-08-2026</a:t>
            </a:fld>
            <a:endParaRPr lang="en-IN"/>
          </a:p>
        </p:txBody>
      </p:sp>
      <p:sp>
        <p:nvSpPr>
          <p:cNvPr id="3" name="Footer Placeholder 2">
            <a:extLst>
              <a:ext uri="{FF2B5EF4-FFF2-40B4-BE49-F238E27FC236}">
                <a16:creationId xmlns:a16="http://schemas.microsoft.com/office/drawing/2014/main" id="{9E933263-50CD-45F1-A288-12A2887EA824}"/>
              </a:ext>
            </a:extLst>
          </p:cNvPr>
          <p:cNvSpPr>
            <a:spLocks noGrp="1"/>
          </p:cNvSpPr>
          <p:nvPr>
            <p:ph type="ftr" sz="quarter" idx="11"/>
          </p:nvPr>
        </p:nvSpPr>
        <p:spPr/>
        <p:txBody>
          <a:bodyPr/>
          <a:lstStyle/>
          <a:p>
            <a:r>
              <a:rPr lang="en-IN"/>
              <a:t>Internet of Things</a:t>
            </a:r>
          </a:p>
        </p:txBody>
      </p:sp>
      <p:sp>
        <p:nvSpPr>
          <p:cNvPr id="4" name="Slide Number Placeholder 3">
            <a:extLst>
              <a:ext uri="{FF2B5EF4-FFF2-40B4-BE49-F238E27FC236}">
                <a16:creationId xmlns:a16="http://schemas.microsoft.com/office/drawing/2014/main" id="{92EAE967-A4AB-42EE-BB1D-AA162164EC37}"/>
              </a:ext>
            </a:extLst>
          </p:cNvPr>
          <p:cNvSpPr>
            <a:spLocks noGrp="1"/>
          </p:cNvSpPr>
          <p:nvPr>
            <p:ph type="sldNum" sz="quarter" idx="12"/>
          </p:nvPr>
        </p:nvSpPr>
        <p:spPr/>
        <p:txBody>
          <a:bodyPr/>
          <a:lstStyle/>
          <a:p>
            <a:fld id="{140593C2-417E-40DC-85D1-1831D854EDDA}" type="slidenum">
              <a:rPr lang="en-IN" smtClean="0"/>
              <a:t>‹#›</a:t>
            </a:fld>
            <a:endParaRPr lang="en-IN"/>
          </a:p>
        </p:txBody>
      </p:sp>
    </p:spTree>
    <p:extLst>
      <p:ext uri="{BB962C8B-B14F-4D97-AF65-F5344CB8AC3E}">
        <p14:creationId xmlns:p14="http://schemas.microsoft.com/office/powerpoint/2010/main" val="24651999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26076A-0C47-4784-92CD-1BB228F97ED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564755F-F688-4E76-ADC7-942B27E2772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CD2CF81-31D8-41F8-9DE5-26269DF8E73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D8D8EF4-FB8A-4A3F-A8EB-3A1FFDC994FA}"/>
              </a:ext>
            </a:extLst>
          </p:cNvPr>
          <p:cNvSpPr>
            <a:spLocks noGrp="1"/>
          </p:cNvSpPr>
          <p:nvPr>
            <p:ph type="dt" sz="half" idx="10"/>
          </p:nvPr>
        </p:nvSpPr>
        <p:spPr/>
        <p:txBody>
          <a:bodyPr/>
          <a:lstStyle/>
          <a:p>
            <a:fld id="{9F8EFCD9-E4B7-4B3F-AE1D-94F58EEE354F}" type="datetime1">
              <a:rPr lang="en-IN" smtClean="0"/>
              <a:t>07-08-2026</a:t>
            </a:fld>
            <a:endParaRPr lang="en-IN"/>
          </a:p>
        </p:txBody>
      </p:sp>
      <p:sp>
        <p:nvSpPr>
          <p:cNvPr id="6" name="Footer Placeholder 5">
            <a:extLst>
              <a:ext uri="{FF2B5EF4-FFF2-40B4-BE49-F238E27FC236}">
                <a16:creationId xmlns:a16="http://schemas.microsoft.com/office/drawing/2014/main" id="{36129085-5215-4C1C-B582-490C282E315B}"/>
              </a:ext>
            </a:extLst>
          </p:cNvPr>
          <p:cNvSpPr>
            <a:spLocks noGrp="1"/>
          </p:cNvSpPr>
          <p:nvPr>
            <p:ph type="ftr" sz="quarter" idx="11"/>
          </p:nvPr>
        </p:nvSpPr>
        <p:spPr/>
        <p:txBody>
          <a:bodyPr/>
          <a:lstStyle/>
          <a:p>
            <a:r>
              <a:rPr lang="en-IN"/>
              <a:t>Internet of Things</a:t>
            </a:r>
          </a:p>
        </p:txBody>
      </p:sp>
      <p:sp>
        <p:nvSpPr>
          <p:cNvPr id="7" name="Slide Number Placeholder 6">
            <a:extLst>
              <a:ext uri="{FF2B5EF4-FFF2-40B4-BE49-F238E27FC236}">
                <a16:creationId xmlns:a16="http://schemas.microsoft.com/office/drawing/2014/main" id="{A99F74AF-7F16-4F2E-A2D1-3C642042FC3A}"/>
              </a:ext>
            </a:extLst>
          </p:cNvPr>
          <p:cNvSpPr>
            <a:spLocks noGrp="1"/>
          </p:cNvSpPr>
          <p:nvPr>
            <p:ph type="sldNum" sz="quarter" idx="12"/>
          </p:nvPr>
        </p:nvSpPr>
        <p:spPr/>
        <p:txBody>
          <a:bodyPr/>
          <a:lstStyle/>
          <a:p>
            <a:fld id="{140593C2-417E-40DC-85D1-1831D854EDDA}" type="slidenum">
              <a:rPr lang="en-IN" smtClean="0"/>
              <a:t>‹#›</a:t>
            </a:fld>
            <a:endParaRPr lang="en-IN"/>
          </a:p>
        </p:txBody>
      </p:sp>
    </p:spTree>
    <p:extLst>
      <p:ext uri="{BB962C8B-B14F-4D97-AF65-F5344CB8AC3E}">
        <p14:creationId xmlns:p14="http://schemas.microsoft.com/office/powerpoint/2010/main" val="42713636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41CBA9-37B7-4095-8847-8315DECC66A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9EB3383-9328-42BA-9BC3-FE529BBB6F5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8373E8E-5B9B-404B-BB11-74080B090A0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944E6C4-1A68-42D1-A7B8-2ED3A053BCBE}"/>
              </a:ext>
            </a:extLst>
          </p:cNvPr>
          <p:cNvSpPr>
            <a:spLocks noGrp="1"/>
          </p:cNvSpPr>
          <p:nvPr>
            <p:ph type="dt" sz="half" idx="10"/>
          </p:nvPr>
        </p:nvSpPr>
        <p:spPr/>
        <p:txBody>
          <a:bodyPr/>
          <a:lstStyle/>
          <a:p>
            <a:fld id="{D50619C8-9734-42FF-8FF1-0E8C8EB02D3D}" type="datetime1">
              <a:rPr lang="en-IN" smtClean="0"/>
              <a:t>07-08-2026</a:t>
            </a:fld>
            <a:endParaRPr lang="en-IN"/>
          </a:p>
        </p:txBody>
      </p:sp>
      <p:sp>
        <p:nvSpPr>
          <p:cNvPr id="6" name="Footer Placeholder 5">
            <a:extLst>
              <a:ext uri="{FF2B5EF4-FFF2-40B4-BE49-F238E27FC236}">
                <a16:creationId xmlns:a16="http://schemas.microsoft.com/office/drawing/2014/main" id="{910E4283-D1F3-4A75-8E21-A808C5540786}"/>
              </a:ext>
            </a:extLst>
          </p:cNvPr>
          <p:cNvSpPr>
            <a:spLocks noGrp="1"/>
          </p:cNvSpPr>
          <p:nvPr>
            <p:ph type="ftr" sz="quarter" idx="11"/>
          </p:nvPr>
        </p:nvSpPr>
        <p:spPr/>
        <p:txBody>
          <a:bodyPr/>
          <a:lstStyle/>
          <a:p>
            <a:r>
              <a:rPr lang="en-IN"/>
              <a:t>Internet of Things</a:t>
            </a:r>
          </a:p>
        </p:txBody>
      </p:sp>
      <p:sp>
        <p:nvSpPr>
          <p:cNvPr id="7" name="Slide Number Placeholder 6">
            <a:extLst>
              <a:ext uri="{FF2B5EF4-FFF2-40B4-BE49-F238E27FC236}">
                <a16:creationId xmlns:a16="http://schemas.microsoft.com/office/drawing/2014/main" id="{4E30F093-CCF9-411A-8FB4-371F881D2C96}"/>
              </a:ext>
            </a:extLst>
          </p:cNvPr>
          <p:cNvSpPr>
            <a:spLocks noGrp="1"/>
          </p:cNvSpPr>
          <p:nvPr>
            <p:ph type="sldNum" sz="quarter" idx="12"/>
          </p:nvPr>
        </p:nvSpPr>
        <p:spPr/>
        <p:txBody>
          <a:bodyPr/>
          <a:lstStyle/>
          <a:p>
            <a:fld id="{140593C2-417E-40DC-85D1-1831D854EDDA}" type="slidenum">
              <a:rPr lang="en-IN" smtClean="0"/>
              <a:t>‹#›</a:t>
            </a:fld>
            <a:endParaRPr lang="en-IN"/>
          </a:p>
        </p:txBody>
      </p:sp>
    </p:spTree>
    <p:extLst>
      <p:ext uri="{BB962C8B-B14F-4D97-AF65-F5344CB8AC3E}">
        <p14:creationId xmlns:p14="http://schemas.microsoft.com/office/powerpoint/2010/main" val="6369421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1520E2-240A-418E-9A2A-696EBD910F5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29ACCBD-7CD2-45EA-8756-5BEE5E5026D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3C608D4-033F-46B5-A30F-753435AB44C6}"/>
              </a:ext>
            </a:extLst>
          </p:cNvPr>
          <p:cNvSpPr>
            <a:spLocks noGrp="1"/>
          </p:cNvSpPr>
          <p:nvPr>
            <p:ph type="dt" sz="half" idx="10"/>
          </p:nvPr>
        </p:nvSpPr>
        <p:spPr/>
        <p:txBody>
          <a:bodyPr/>
          <a:lstStyle/>
          <a:p>
            <a:fld id="{F0063322-BEB2-47CB-B721-C91CAE320D4D}" type="datetime1">
              <a:rPr lang="en-IN" smtClean="0"/>
              <a:t>07-08-2026</a:t>
            </a:fld>
            <a:endParaRPr lang="en-IN"/>
          </a:p>
        </p:txBody>
      </p:sp>
      <p:sp>
        <p:nvSpPr>
          <p:cNvPr id="5" name="Footer Placeholder 4">
            <a:extLst>
              <a:ext uri="{FF2B5EF4-FFF2-40B4-BE49-F238E27FC236}">
                <a16:creationId xmlns:a16="http://schemas.microsoft.com/office/drawing/2014/main" id="{DF17C9D9-D4BD-480C-B560-1D936F3F3563}"/>
              </a:ext>
            </a:extLst>
          </p:cNvPr>
          <p:cNvSpPr>
            <a:spLocks noGrp="1"/>
          </p:cNvSpPr>
          <p:nvPr>
            <p:ph type="ftr" sz="quarter" idx="11"/>
          </p:nvPr>
        </p:nvSpPr>
        <p:spPr/>
        <p:txBody>
          <a:bodyPr/>
          <a:lstStyle/>
          <a:p>
            <a:r>
              <a:rPr lang="en-IN"/>
              <a:t>Internet of Things</a:t>
            </a:r>
          </a:p>
        </p:txBody>
      </p:sp>
      <p:sp>
        <p:nvSpPr>
          <p:cNvPr id="6" name="Slide Number Placeholder 5">
            <a:extLst>
              <a:ext uri="{FF2B5EF4-FFF2-40B4-BE49-F238E27FC236}">
                <a16:creationId xmlns:a16="http://schemas.microsoft.com/office/drawing/2014/main" id="{28AA959E-EB04-4DC5-8546-A75A1E4FD61D}"/>
              </a:ext>
            </a:extLst>
          </p:cNvPr>
          <p:cNvSpPr>
            <a:spLocks noGrp="1"/>
          </p:cNvSpPr>
          <p:nvPr>
            <p:ph type="sldNum" sz="quarter" idx="12"/>
          </p:nvPr>
        </p:nvSpPr>
        <p:spPr/>
        <p:txBody>
          <a:bodyPr/>
          <a:lstStyle/>
          <a:p>
            <a:fld id="{140593C2-417E-40DC-85D1-1831D854EDDA}" type="slidenum">
              <a:rPr lang="en-IN" smtClean="0"/>
              <a:t>‹#›</a:t>
            </a:fld>
            <a:endParaRPr lang="en-IN"/>
          </a:p>
        </p:txBody>
      </p:sp>
    </p:spTree>
    <p:extLst>
      <p:ext uri="{BB962C8B-B14F-4D97-AF65-F5344CB8AC3E}">
        <p14:creationId xmlns:p14="http://schemas.microsoft.com/office/powerpoint/2010/main" val="40390508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368B0FD-694D-4E26-A833-2BB3EBBB540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678273B-77B7-4305-A153-1896816FCDF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D425398-84F9-44FC-89D8-E970B5C86A63}"/>
              </a:ext>
            </a:extLst>
          </p:cNvPr>
          <p:cNvSpPr>
            <a:spLocks noGrp="1"/>
          </p:cNvSpPr>
          <p:nvPr>
            <p:ph type="dt" sz="half" idx="10"/>
          </p:nvPr>
        </p:nvSpPr>
        <p:spPr/>
        <p:txBody>
          <a:bodyPr/>
          <a:lstStyle/>
          <a:p>
            <a:fld id="{60F0A75D-B60D-4926-A138-BB651E03B92C}" type="datetime1">
              <a:rPr lang="en-IN" smtClean="0"/>
              <a:t>07-08-2026</a:t>
            </a:fld>
            <a:endParaRPr lang="en-IN"/>
          </a:p>
        </p:txBody>
      </p:sp>
      <p:sp>
        <p:nvSpPr>
          <p:cNvPr id="5" name="Footer Placeholder 4">
            <a:extLst>
              <a:ext uri="{FF2B5EF4-FFF2-40B4-BE49-F238E27FC236}">
                <a16:creationId xmlns:a16="http://schemas.microsoft.com/office/drawing/2014/main" id="{60D62E2F-8E5B-42A5-9B21-2F42D1A77863}"/>
              </a:ext>
            </a:extLst>
          </p:cNvPr>
          <p:cNvSpPr>
            <a:spLocks noGrp="1"/>
          </p:cNvSpPr>
          <p:nvPr>
            <p:ph type="ftr" sz="quarter" idx="11"/>
          </p:nvPr>
        </p:nvSpPr>
        <p:spPr/>
        <p:txBody>
          <a:bodyPr/>
          <a:lstStyle/>
          <a:p>
            <a:r>
              <a:rPr lang="en-IN"/>
              <a:t>Internet of Things</a:t>
            </a:r>
          </a:p>
        </p:txBody>
      </p:sp>
      <p:sp>
        <p:nvSpPr>
          <p:cNvPr id="6" name="Slide Number Placeholder 5">
            <a:extLst>
              <a:ext uri="{FF2B5EF4-FFF2-40B4-BE49-F238E27FC236}">
                <a16:creationId xmlns:a16="http://schemas.microsoft.com/office/drawing/2014/main" id="{E35B5D5F-F2A4-4548-973E-D1C6B4B6C25B}"/>
              </a:ext>
            </a:extLst>
          </p:cNvPr>
          <p:cNvSpPr>
            <a:spLocks noGrp="1"/>
          </p:cNvSpPr>
          <p:nvPr>
            <p:ph type="sldNum" sz="quarter" idx="12"/>
          </p:nvPr>
        </p:nvSpPr>
        <p:spPr/>
        <p:txBody>
          <a:bodyPr/>
          <a:lstStyle/>
          <a:p>
            <a:fld id="{140593C2-417E-40DC-85D1-1831D854EDDA}" type="slidenum">
              <a:rPr lang="en-IN" smtClean="0"/>
              <a:t>‹#›</a:t>
            </a:fld>
            <a:endParaRPr lang="en-IN"/>
          </a:p>
        </p:txBody>
      </p:sp>
    </p:spTree>
    <p:extLst>
      <p:ext uri="{BB962C8B-B14F-4D97-AF65-F5344CB8AC3E}">
        <p14:creationId xmlns:p14="http://schemas.microsoft.com/office/powerpoint/2010/main" val="23281018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BBE7225-20C6-416F-85F3-2B941B14C70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A01CAE7-8249-467A-940A-176C2CF954A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ACDB90E-2001-4270-A81C-B537FB41F23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12BEEC-F594-4B9B-ACE4-74E04B913FD0}" type="datetime1">
              <a:rPr lang="en-IN" smtClean="0"/>
              <a:t>07-08-2026</a:t>
            </a:fld>
            <a:endParaRPr lang="en-IN"/>
          </a:p>
        </p:txBody>
      </p:sp>
      <p:sp>
        <p:nvSpPr>
          <p:cNvPr id="5" name="Footer Placeholder 4">
            <a:extLst>
              <a:ext uri="{FF2B5EF4-FFF2-40B4-BE49-F238E27FC236}">
                <a16:creationId xmlns:a16="http://schemas.microsoft.com/office/drawing/2014/main" id="{95BBF57C-AF7B-4DD6-AA5A-9DA20D2504E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Internet of Things</a:t>
            </a:r>
          </a:p>
        </p:txBody>
      </p:sp>
      <p:sp>
        <p:nvSpPr>
          <p:cNvPr id="6" name="Slide Number Placeholder 5">
            <a:extLst>
              <a:ext uri="{FF2B5EF4-FFF2-40B4-BE49-F238E27FC236}">
                <a16:creationId xmlns:a16="http://schemas.microsoft.com/office/drawing/2014/main" id="{69ABC3C0-43CB-43A9-A137-67AB1553162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40593C2-417E-40DC-85D1-1831D854EDDA}" type="slidenum">
              <a:rPr lang="en-IN" smtClean="0"/>
              <a:t>‹#›</a:t>
            </a:fld>
            <a:endParaRPr lang="en-IN"/>
          </a:p>
        </p:txBody>
      </p:sp>
    </p:spTree>
    <p:extLst>
      <p:ext uri="{BB962C8B-B14F-4D97-AF65-F5344CB8AC3E}">
        <p14:creationId xmlns:p14="http://schemas.microsoft.com/office/powerpoint/2010/main" val="22105605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40080" y="1122362"/>
            <a:ext cx="11338560" cy="2943452"/>
          </a:xfrm>
        </p:spPr>
        <p:txBody>
          <a:bodyPr>
            <a:normAutofit/>
          </a:bodyPr>
          <a:lstStyle/>
          <a:p>
            <a:r>
              <a:rPr lang="en-US" b="1" dirty="0"/>
              <a:t>Internet of Things: Addressing &amp; Identification</a:t>
            </a:r>
            <a:br>
              <a:rPr lang="en-US" b="1" dirty="0"/>
            </a:br>
            <a:r>
              <a:rPr lang="en-US" b="1" dirty="0" smtClean="0"/>
              <a:t>Lect. </a:t>
            </a:r>
            <a:r>
              <a:rPr lang="en-US" b="1" dirty="0" smtClean="0"/>
              <a:t>#</a:t>
            </a:r>
            <a:r>
              <a:rPr lang="en-US" b="1" dirty="0"/>
              <a:t> </a:t>
            </a:r>
            <a:r>
              <a:rPr lang="en-US" b="1" dirty="0" smtClean="0"/>
              <a:t>7</a:t>
            </a:r>
            <a:endParaRPr lang="en-US" b="1" dirty="0"/>
          </a:p>
        </p:txBody>
      </p:sp>
      <p:sp>
        <p:nvSpPr>
          <p:cNvPr id="3" name="Subtitle 2"/>
          <p:cNvSpPr>
            <a:spLocks noGrp="1"/>
          </p:cNvSpPr>
          <p:nvPr>
            <p:ph type="subTitle" idx="1"/>
          </p:nvPr>
        </p:nvSpPr>
        <p:spPr>
          <a:xfrm>
            <a:off x="1524000" y="3602038"/>
            <a:ext cx="9144000" cy="2691186"/>
          </a:xfrm>
        </p:spPr>
        <p:txBody>
          <a:bodyPr/>
          <a:lstStyle/>
          <a:p>
            <a:endParaRPr lang="en-US" b="1" dirty="0"/>
          </a:p>
          <a:p>
            <a:endParaRPr lang="en-US" b="1" dirty="0"/>
          </a:p>
          <a:p>
            <a:r>
              <a:rPr lang="en-US" b="1" dirty="0"/>
              <a:t>Prof. </a:t>
            </a:r>
            <a:r>
              <a:rPr lang="en-US" b="1" dirty="0" err="1"/>
              <a:t>Suchismita</a:t>
            </a:r>
            <a:r>
              <a:rPr lang="en-US" b="1" dirty="0"/>
              <a:t> </a:t>
            </a:r>
            <a:r>
              <a:rPr lang="en-US" b="1" dirty="0" err="1"/>
              <a:t>Chinara</a:t>
            </a:r>
            <a:endParaRPr lang="en-US" b="1" dirty="0"/>
          </a:p>
          <a:p>
            <a:r>
              <a:rPr lang="en-US" b="1" dirty="0"/>
              <a:t>Dept. of Computer Science </a:t>
            </a:r>
            <a:r>
              <a:rPr lang="en-US" b="1" dirty="0" err="1"/>
              <a:t>Engg</a:t>
            </a:r>
            <a:r>
              <a:rPr lang="en-US" b="1" dirty="0"/>
              <a:t>.</a:t>
            </a:r>
          </a:p>
          <a:p>
            <a:r>
              <a:rPr lang="en-US" b="1" dirty="0"/>
              <a:t>National Institute of Technology Rourkela-769008</a:t>
            </a:r>
          </a:p>
        </p:txBody>
      </p:sp>
      <p:sp>
        <p:nvSpPr>
          <p:cNvPr id="4" name="Date Placeholder 3"/>
          <p:cNvSpPr>
            <a:spLocks noGrp="1"/>
          </p:cNvSpPr>
          <p:nvPr>
            <p:ph type="dt" sz="half" idx="10"/>
          </p:nvPr>
        </p:nvSpPr>
        <p:spPr/>
        <p:txBody>
          <a:bodyPr/>
          <a:lstStyle/>
          <a:p>
            <a:fld id="{BD54B352-7E06-45B8-AA5E-82D5D2A4B75B}" type="datetime1">
              <a:rPr lang="en-IN" smtClean="0"/>
              <a:t>07-08-2026</a:t>
            </a:fld>
            <a:endParaRPr lang="en-US"/>
          </a:p>
        </p:txBody>
      </p:sp>
      <p:sp>
        <p:nvSpPr>
          <p:cNvPr id="5" name="Footer Placeholder 4"/>
          <p:cNvSpPr>
            <a:spLocks noGrp="1"/>
          </p:cNvSpPr>
          <p:nvPr>
            <p:ph type="ftr" sz="quarter" idx="11"/>
          </p:nvPr>
        </p:nvSpPr>
        <p:spPr/>
        <p:txBody>
          <a:bodyPr/>
          <a:lstStyle/>
          <a:p>
            <a:r>
              <a:rPr lang="en-US"/>
              <a:t>Internet of Things</a:t>
            </a:r>
          </a:p>
        </p:txBody>
      </p:sp>
      <p:sp>
        <p:nvSpPr>
          <p:cNvPr id="6" name="Slide Number Placeholder 5"/>
          <p:cNvSpPr>
            <a:spLocks noGrp="1"/>
          </p:cNvSpPr>
          <p:nvPr>
            <p:ph type="sldNum" sz="quarter" idx="12"/>
          </p:nvPr>
        </p:nvSpPr>
        <p:spPr/>
        <p:txBody>
          <a:bodyPr/>
          <a:lstStyle/>
          <a:p>
            <a:fld id="{CB11CA4D-55D5-43B2-9EAD-DBFCD82C487F}" type="slidenum">
              <a:rPr lang="en-US" smtClean="0"/>
              <a:t>1</a:t>
            </a:fld>
            <a:endParaRPr lang="en-US"/>
          </a:p>
        </p:txBody>
      </p:sp>
    </p:spTree>
    <p:extLst>
      <p:ext uri="{BB962C8B-B14F-4D97-AF65-F5344CB8AC3E}">
        <p14:creationId xmlns:p14="http://schemas.microsoft.com/office/powerpoint/2010/main" val="17153562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2"/>
          <p:cNvSpPr txBox="1">
            <a:spLocks noGrp="1"/>
          </p:cNvSpPr>
          <p:nvPr>
            <p:ph type="title"/>
          </p:nvPr>
        </p:nvSpPr>
        <p:spPr>
          <a:xfrm>
            <a:off x="838200" y="136000"/>
            <a:ext cx="10515600" cy="7785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a:t>IPV4 addressing</a:t>
            </a:r>
            <a:endParaRPr b="1"/>
          </a:p>
        </p:txBody>
      </p:sp>
      <p:sp>
        <p:nvSpPr>
          <p:cNvPr id="98" name="Google Shape;98;p2"/>
          <p:cNvSpPr txBox="1">
            <a:spLocks noGrp="1"/>
          </p:cNvSpPr>
          <p:nvPr>
            <p:ph type="body" idx="1"/>
          </p:nvPr>
        </p:nvSpPr>
        <p:spPr>
          <a:xfrm>
            <a:off x="356839" y="914400"/>
            <a:ext cx="11363093" cy="5262563"/>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40424E"/>
              </a:buClr>
              <a:buSzPts val="2800"/>
              <a:buChar char="•"/>
            </a:pPr>
            <a:r>
              <a:rPr lang="en-US" b="0" i="0" dirty="0">
                <a:solidFill>
                  <a:srgbClr val="40424E"/>
                </a:solidFill>
                <a:latin typeface="Arial"/>
                <a:ea typeface="Arial"/>
                <a:cs typeface="Arial"/>
                <a:sym typeface="Arial"/>
              </a:rPr>
              <a:t>IPv4 address is divided into two parts:</a:t>
            </a:r>
            <a:endParaRPr dirty="0"/>
          </a:p>
          <a:p>
            <a:pPr marL="685800" lvl="1" indent="-228600" algn="l" rtl="0">
              <a:lnSpc>
                <a:spcPct val="90000"/>
              </a:lnSpc>
              <a:spcBef>
                <a:spcPts val="500"/>
              </a:spcBef>
              <a:spcAft>
                <a:spcPts val="0"/>
              </a:spcAft>
              <a:buClr>
                <a:srgbClr val="40424E"/>
              </a:buClr>
              <a:buSzPts val="2400"/>
              <a:buChar char="•"/>
            </a:pPr>
            <a:r>
              <a:rPr lang="en-US" b="1" i="0" dirty="0">
                <a:solidFill>
                  <a:srgbClr val="40424E"/>
                </a:solidFill>
                <a:latin typeface="Arial"/>
                <a:ea typeface="Arial"/>
                <a:cs typeface="Arial"/>
                <a:sym typeface="Arial"/>
              </a:rPr>
              <a:t>Network </a:t>
            </a:r>
            <a:r>
              <a:rPr lang="en-US" b="1" i="0" dirty="0" smtClean="0">
                <a:solidFill>
                  <a:srgbClr val="40424E"/>
                </a:solidFill>
                <a:latin typeface="Arial"/>
                <a:ea typeface="Arial"/>
                <a:cs typeface="Arial"/>
                <a:sym typeface="Arial"/>
              </a:rPr>
              <a:t>ID (Identifies a network in the internet)</a:t>
            </a:r>
            <a:endParaRPr b="0" i="0" dirty="0">
              <a:solidFill>
                <a:srgbClr val="40424E"/>
              </a:solidFill>
              <a:latin typeface="Arial"/>
              <a:ea typeface="Arial"/>
              <a:cs typeface="Arial"/>
              <a:sym typeface="Arial"/>
            </a:endParaRPr>
          </a:p>
          <a:p>
            <a:pPr marL="685800" lvl="1" indent="-228600" algn="l" rtl="0">
              <a:lnSpc>
                <a:spcPct val="90000"/>
              </a:lnSpc>
              <a:spcBef>
                <a:spcPts val="500"/>
              </a:spcBef>
              <a:spcAft>
                <a:spcPts val="0"/>
              </a:spcAft>
              <a:buClr>
                <a:srgbClr val="40424E"/>
              </a:buClr>
              <a:buSzPts val="2400"/>
              <a:buChar char="•"/>
            </a:pPr>
            <a:r>
              <a:rPr lang="en-US" b="1" i="0" dirty="0">
                <a:solidFill>
                  <a:srgbClr val="40424E"/>
                </a:solidFill>
                <a:latin typeface="Arial"/>
                <a:ea typeface="Arial"/>
                <a:cs typeface="Arial"/>
                <a:sym typeface="Arial"/>
              </a:rPr>
              <a:t>Host </a:t>
            </a:r>
            <a:r>
              <a:rPr lang="en-US" b="1" i="0" dirty="0" smtClean="0">
                <a:solidFill>
                  <a:srgbClr val="40424E"/>
                </a:solidFill>
                <a:latin typeface="Arial"/>
                <a:ea typeface="Arial"/>
                <a:cs typeface="Arial"/>
                <a:sym typeface="Arial"/>
              </a:rPr>
              <a:t>ID (Identifies the host in a network)</a:t>
            </a:r>
            <a:endParaRPr b="0" i="0" dirty="0">
              <a:solidFill>
                <a:srgbClr val="40424E"/>
              </a:solidFill>
              <a:latin typeface="Arial"/>
              <a:ea typeface="Arial"/>
              <a:cs typeface="Arial"/>
              <a:sym typeface="Arial"/>
            </a:endParaRPr>
          </a:p>
          <a:p>
            <a:pPr marL="228600" lvl="0" indent="-228600" algn="l" rtl="0">
              <a:lnSpc>
                <a:spcPct val="90000"/>
              </a:lnSpc>
              <a:spcBef>
                <a:spcPts val="1000"/>
              </a:spcBef>
              <a:spcAft>
                <a:spcPts val="0"/>
              </a:spcAft>
              <a:buClr>
                <a:schemeClr val="dk1"/>
              </a:buClr>
              <a:buSzPts val="2800"/>
              <a:buChar char="•"/>
            </a:pPr>
            <a:r>
              <a:rPr lang="en-US" dirty="0"/>
              <a:t>Length of NID and HID are variable</a:t>
            </a:r>
            <a:endParaRPr dirty="0"/>
          </a:p>
          <a:p>
            <a:pPr marL="228600" lvl="0" indent="-228600" algn="l" rtl="0">
              <a:lnSpc>
                <a:spcPct val="90000"/>
              </a:lnSpc>
              <a:spcBef>
                <a:spcPts val="1000"/>
              </a:spcBef>
              <a:spcAft>
                <a:spcPts val="0"/>
              </a:spcAft>
              <a:buClr>
                <a:schemeClr val="dk1"/>
              </a:buClr>
              <a:buSzPts val="2800"/>
              <a:buChar char="•"/>
            </a:pPr>
            <a:r>
              <a:rPr lang="en-US" dirty="0"/>
              <a:t> </a:t>
            </a:r>
            <a:endParaRPr dirty="0"/>
          </a:p>
        </p:txBody>
      </p:sp>
      <p:pic>
        <p:nvPicPr>
          <p:cNvPr id="99" name="Google Shape;99;p2"/>
          <p:cNvPicPr preferRelativeResize="0"/>
          <p:nvPr/>
        </p:nvPicPr>
        <p:blipFill rotWithShape="1">
          <a:blip r:embed="rId3">
            <a:alphaModFix/>
          </a:blip>
          <a:srcRect/>
          <a:stretch/>
        </p:blipFill>
        <p:spPr>
          <a:xfrm>
            <a:off x="2583900" y="2654149"/>
            <a:ext cx="7409600" cy="3965250"/>
          </a:xfrm>
          <a:prstGeom prst="rect">
            <a:avLst/>
          </a:prstGeom>
          <a:noFill/>
          <a:ln>
            <a:noFill/>
          </a:ln>
        </p:spPr>
      </p:pic>
      <p:sp>
        <p:nvSpPr>
          <p:cNvPr id="100" name="Google Shape;100;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05-07-2022</a:t>
            </a:r>
            <a:endParaRPr/>
          </a:p>
        </p:txBody>
      </p:sp>
      <p:sp>
        <p:nvSpPr>
          <p:cNvPr id="101" name="Google Shape;101;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Internet of Things</a:t>
            </a:r>
            <a:endParaRPr/>
          </a:p>
        </p:txBody>
      </p:sp>
      <p:sp>
        <p:nvSpPr>
          <p:cNvPr id="102" name="Google Shape;102;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a:t>
            </a:fld>
            <a:endParaRPr/>
          </a:p>
        </p:txBody>
      </p:sp>
    </p:spTree>
    <p:extLst>
      <p:ext uri="{BB962C8B-B14F-4D97-AF65-F5344CB8AC3E}">
        <p14:creationId xmlns:p14="http://schemas.microsoft.com/office/powerpoint/2010/main" val="29143996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3"/>
          <p:cNvSpPr txBox="1">
            <a:spLocks noGrp="1"/>
          </p:cNvSpPr>
          <p:nvPr>
            <p:ph type="title"/>
          </p:nvPr>
        </p:nvSpPr>
        <p:spPr>
          <a:xfrm>
            <a:off x="838200" y="365125"/>
            <a:ext cx="10515600" cy="9948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a:t>Special Addresses</a:t>
            </a:r>
            <a:endParaRPr b="1"/>
          </a:p>
        </p:txBody>
      </p:sp>
      <p:sp>
        <p:nvSpPr>
          <p:cNvPr id="108" name="Google Shape;108;p3"/>
          <p:cNvSpPr txBox="1">
            <a:spLocks noGrp="1"/>
          </p:cNvSpPr>
          <p:nvPr>
            <p:ph type="body" idx="1"/>
          </p:nvPr>
        </p:nvSpPr>
        <p:spPr>
          <a:xfrm>
            <a:off x="838200" y="1503062"/>
            <a:ext cx="10515600" cy="4674000"/>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Network address</a:t>
            </a:r>
            <a:endParaRPr/>
          </a:p>
          <a:p>
            <a:pPr marL="685800" lvl="1" indent="-228600" algn="l" rtl="0">
              <a:lnSpc>
                <a:spcPct val="90000"/>
              </a:lnSpc>
              <a:spcBef>
                <a:spcPts val="500"/>
              </a:spcBef>
              <a:spcAft>
                <a:spcPts val="0"/>
              </a:spcAft>
              <a:buClr>
                <a:schemeClr val="dk1"/>
              </a:buClr>
              <a:buSzPts val="2400"/>
              <a:buChar char="•"/>
            </a:pPr>
            <a:r>
              <a:rPr lang="en-US"/>
              <a:t>Netid. Hostid ( All 0’s)</a:t>
            </a:r>
            <a:endParaRPr/>
          </a:p>
          <a:p>
            <a:pPr marL="685800" lvl="1" indent="-228600" algn="l" rtl="0">
              <a:lnSpc>
                <a:spcPct val="90000"/>
              </a:lnSpc>
              <a:spcBef>
                <a:spcPts val="500"/>
              </a:spcBef>
              <a:spcAft>
                <a:spcPts val="0"/>
              </a:spcAft>
              <a:buClr>
                <a:schemeClr val="dk1"/>
              </a:buClr>
              <a:buSzPts val="2400"/>
              <a:buChar char="•"/>
            </a:pPr>
            <a:r>
              <a:rPr lang="en-US"/>
              <a:t>Ex: Class A: X.0.0.0 (Ex: 44.0.0.0)</a:t>
            </a:r>
            <a:endParaRPr/>
          </a:p>
          <a:p>
            <a:pPr marL="685800" lvl="1" indent="-228600" algn="l" rtl="0">
              <a:lnSpc>
                <a:spcPct val="90000"/>
              </a:lnSpc>
              <a:spcBef>
                <a:spcPts val="500"/>
              </a:spcBef>
              <a:spcAft>
                <a:spcPts val="0"/>
              </a:spcAft>
              <a:buClr>
                <a:schemeClr val="dk1"/>
              </a:buClr>
              <a:buSzPts val="2400"/>
              <a:buChar char="•"/>
            </a:pPr>
            <a:r>
              <a:rPr lang="en-US"/>
              <a:t>Class B: X.Y. 0.0 (Ex: 130.55.0.0)</a:t>
            </a:r>
            <a:endParaRPr/>
          </a:p>
          <a:p>
            <a:pPr marL="685800" lvl="1" indent="-228600" algn="l" rtl="0">
              <a:lnSpc>
                <a:spcPct val="90000"/>
              </a:lnSpc>
              <a:spcBef>
                <a:spcPts val="500"/>
              </a:spcBef>
              <a:spcAft>
                <a:spcPts val="0"/>
              </a:spcAft>
              <a:buClr>
                <a:schemeClr val="dk1"/>
              </a:buClr>
              <a:buSzPts val="2400"/>
              <a:buChar char="•"/>
            </a:pPr>
            <a:r>
              <a:rPr lang="en-US"/>
              <a:t>Class C: X.Y.Z.0 (Ex: 192.168.40.0) 192.168.40.1 ----- 192.168.40.254</a:t>
            </a:r>
            <a:endParaRPr/>
          </a:p>
          <a:p>
            <a:pPr marL="228600" lvl="0" indent="-228600" algn="l" rtl="0">
              <a:lnSpc>
                <a:spcPct val="90000"/>
              </a:lnSpc>
              <a:spcBef>
                <a:spcPts val="1000"/>
              </a:spcBef>
              <a:spcAft>
                <a:spcPts val="0"/>
              </a:spcAft>
              <a:buClr>
                <a:schemeClr val="dk1"/>
              </a:buClr>
              <a:buSzPts val="2800"/>
              <a:buChar char="•"/>
            </a:pPr>
            <a:r>
              <a:rPr lang="en-US"/>
              <a:t>Direct broadcast address</a:t>
            </a:r>
            <a:endParaRPr/>
          </a:p>
          <a:p>
            <a:pPr marL="685800" lvl="1" indent="-228600" algn="l" rtl="0">
              <a:lnSpc>
                <a:spcPct val="90000"/>
              </a:lnSpc>
              <a:spcBef>
                <a:spcPts val="500"/>
              </a:spcBef>
              <a:spcAft>
                <a:spcPts val="0"/>
              </a:spcAft>
              <a:buClr>
                <a:schemeClr val="dk1"/>
              </a:buClr>
              <a:buSzPts val="2400"/>
              <a:buChar char="•"/>
            </a:pPr>
            <a:r>
              <a:rPr lang="en-US"/>
              <a:t>Netid. Hostid ( All 1’s)</a:t>
            </a:r>
            <a:endParaRPr/>
          </a:p>
          <a:p>
            <a:pPr marL="685800" lvl="1" indent="-228600" algn="l" rtl="0">
              <a:lnSpc>
                <a:spcPct val="90000"/>
              </a:lnSpc>
              <a:spcBef>
                <a:spcPts val="500"/>
              </a:spcBef>
              <a:spcAft>
                <a:spcPts val="0"/>
              </a:spcAft>
              <a:buClr>
                <a:schemeClr val="dk1"/>
              </a:buClr>
              <a:buSzPts val="2400"/>
              <a:buChar char="•"/>
            </a:pPr>
            <a:r>
              <a:rPr lang="en-US"/>
              <a:t>Ex: Class A: X.255.255.255</a:t>
            </a:r>
            <a:endParaRPr/>
          </a:p>
          <a:p>
            <a:pPr marL="685800" lvl="1" indent="-228600" algn="l" rtl="0">
              <a:lnSpc>
                <a:spcPct val="90000"/>
              </a:lnSpc>
              <a:spcBef>
                <a:spcPts val="500"/>
              </a:spcBef>
              <a:spcAft>
                <a:spcPts val="0"/>
              </a:spcAft>
              <a:buClr>
                <a:schemeClr val="dk1"/>
              </a:buClr>
              <a:buSzPts val="2400"/>
              <a:buChar char="•"/>
            </a:pPr>
            <a:r>
              <a:rPr lang="en-US"/>
              <a:t>Class B: X.Y. 255.255</a:t>
            </a:r>
            <a:endParaRPr/>
          </a:p>
          <a:p>
            <a:pPr marL="685800" lvl="1" indent="-228600" algn="l" rtl="0">
              <a:lnSpc>
                <a:spcPct val="90000"/>
              </a:lnSpc>
              <a:spcBef>
                <a:spcPts val="500"/>
              </a:spcBef>
              <a:spcAft>
                <a:spcPts val="0"/>
              </a:spcAft>
              <a:buClr>
                <a:schemeClr val="dk1"/>
              </a:buClr>
              <a:buSzPts val="2400"/>
              <a:buChar char="•"/>
            </a:pPr>
            <a:r>
              <a:rPr lang="en-US"/>
              <a:t>Class C: X.Y.Z.255</a:t>
            </a:r>
            <a:endParaRPr/>
          </a:p>
          <a:p>
            <a:pPr marL="685800" lvl="1" indent="-76200" algn="l" rtl="0">
              <a:lnSpc>
                <a:spcPct val="90000"/>
              </a:lnSpc>
              <a:spcBef>
                <a:spcPts val="500"/>
              </a:spcBef>
              <a:spcAft>
                <a:spcPts val="0"/>
              </a:spcAft>
              <a:buClr>
                <a:schemeClr val="dk1"/>
              </a:buClr>
              <a:buSzPts val="2400"/>
              <a:buNone/>
            </a:pPr>
            <a:endParaRPr/>
          </a:p>
        </p:txBody>
      </p:sp>
      <p:sp>
        <p:nvSpPr>
          <p:cNvPr id="109" name="Google Shape;109;p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05-07-2022</a:t>
            </a:r>
            <a:endParaRPr/>
          </a:p>
        </p:txBody>
      </p:sp>
      <p:sp>
        <p:nvSpPr>
          <p:cNvPr id="110" name="Google Shape;110;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Internet of Things</a:t>
            </a:r>
            <a:endParaRPr/>
          </a:p>
        </p:txBody>
      </p:sp>
      <p:sp>
        <p:nvSpPr>
          <p:cNvPr id="111" name="Google Shape;111;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a:t>
            </a:fld>
            <a:endParaRPr/>
          </a:p>
        </p:txBody>
      </p:sp>
    </p:spTree>
    <p:extLst>
      <p:ext uri="{BB962C8B-B14F-4D97-AF65-F5344CB8AC3E}">
        <p14:creationId xmlns:p14="http://schemas.microsoft.com/office/powerpoint/2010/main" val="26685556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4"/>
          <p:cNvSpPr txBox="1">
            <a:spLocks noGrp="1"/>
          </p:cNvSpPr>
          <p:nvPr>
            <p:ph type="title"/>
          </p:nvPr>
        </p:nvSpPr>
        <p:spPr>
          <a:xfrm>
            <a:off x="838200" y="252550"/>
            <a:ext cx="10515600" cy="981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a:t>Special addresses</a:t>
            </a:r>
            <a:r>
              <a:rPr lang="en-US"/>
              <a:t> </a:t>
            </a:r>
            <a:endParaRPr/>
          </a:p>
        </p:txBody>
      </p:sp>
      <p:sp>
        <p:nvSpPr>
          <p:cNvPr id="117" name="Google Shape;117;p4"/>
          <p:cNvSpPr txBox="1">
            <a:spLocks noGrp="1"/>
          </p:cNvSpPr>
          <p:nvPr>
            <p:ph type="body" idx="1"/>
          </p:nvPr>
        </p:nvSpPr>
        <p:spPr>
          <a:xfrm>
            <a:off x="838200" y="1233550"/>
            <a:ext cx="10515600" cy="5070900"/>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90000"/>
              </a:lnSpc>
              <a:spcBef>
                <a:spcPts val="0"/>
              </a:spcBef>
              <a:spcAft>
                <a:spcPts val="0"/>
              </a:spcAft>
              <a:buClr>
                <a:schemeClr val="dk1"/>
              </a:buClr>
              <a:buSzPts val="2800"/>
              <a:buChar char="•"/>
            </a:pPr>
            <a:r>
              <a:rPr lang="en-US" dirty="0"/>
              <a:t>This host on this network</a:t>
            </a:r>
            <a:endParaRPr dirty="0"/>
          </a:p>
          <a:p>
            <a:pPr marL="685800" lvl="1" indent="-228600" algn="l" rtl="0">
              <a:lnSpc>
                <a:spcPct val="90000"/>
              </a:lnSpc>
              <a:spcBef>
                <a:spcPts val="500"/>
              </a:spcBef>
              <a:spcAft>
                <a:spcPts val="0"/>
              </a:spcAft>
              <a:buClr>
                <a:schemeClr val="dk1"/>
              </a:buClr>
              <a:buSzPts val="2400"/>
              <a:buChar char="•"/>
            </a:pPr>
            <a:r>
              <a:rPr lang="en-US" dirty="0"/>
              <a:t>Used as a source address (during bootstrap)</a:t>
            </a:r>
            <a:endParaRPr dirty="0"/>
          </a:p>
          <a:p>
            <a:pPr marL="685800" lvl="1" indent="-228600" algn="l" rtl="0">
              <a:lnSpc>
                <a:spcPct val="90000"/>
              </a:lnSpc>
              <a:spcBef>
                <a:spcPts val="500"/>
              </a:spcBef>
              <a:spcAft>
                <a:spcPts val="0"/>
              </a:spcAft>
              <a:buClr>
                <a:schemeClr val="dk1"/>
              </a:buClr>
              <a:buSzPts val="2400"/>
              <a:buChar char="•"/>
            </a:pPr>
            <a:r>
              <a:rPr lang="en-US" dirty="0"/>
              <a:t>Ex: 0.0.0.0</a:t>
            </a:r>
            <a:endParaRPr dirty="0"/>
          </a:p>
          <a:p>
            <a:pPr marL="228600" lvl="0" indent="-228600" algn="l" rtl="0">
              <a:lnSpc>
                <a:spcPct val="90000"/>
              </a:lnSpc>
              <a:spcBef>
                <a:spcPts val="1000"/>
              </a:spcBef>
              <a:spcAft>
                <a:spcPts val="0"/>
              </a:spcAft>
              <a:buClr>
                <a:schemeClr val="dk1"/>
              </a:buClr>
              <a:buSzPts val="2800"/>
              <a:buChar char="•"/>
            </a:pPr>
            <a:r>
              <a:rPr lang="en-US" dirty="0"/>
              <a:t>Specific host on this network</a:t>
            </a:r>
            <a:endParaRPr dirty="0"/>
          </a:p>
          <a:p>
            <a:pPr marL="685800" lvl="1" indent="-228600" algn="l" rtl="0">
              <a:lnSpc>
                <a:spcPct val="90000"/>
              </a:lnSpc>
              <a:spcBef>
                <a:spcPts val="500"/>
              </a:spcBef>
              <a:spcAft>
                <a:spcPts val="0"/>
              </a:spcAft>
              <a:buClr>
                <a:schemeClr val="dk1"/>
              </a:buClr>
              <a:buSzPts val="2400"/>
              <a:buChar char="•"/>
            </a:pPr>
            <a:r>
              <a:rPr lang="en-US" dirty="0" err="1"/>
              <a:t>NetID</a:t>
            </a:r>
            <a:r>
              <a:rPr lang="en-US" dirty="0"/>
              <a:t> remains same</a:t>
            </a:r>
            <a:endParaRPr dirty="0"/>
          </a:p>
          <a:p>
            <a:pPr marL="685800" lvl="1" indent="-228600" algn="l" rtl="0">
              <a:lnSpc>
                <a:spcPct val="90000"/>
              </a:lnSpc>
              <a:spcBef>
                <a:spcPts val="500"/>
              </a:spcBef>
              <a:spcAft>
                <a:spcPts val="0"/>
              </a:spcAft>
              <a:buClr>
                <a:schemeClr val="dk1"/>
              </a:buClr>
              <a:buSzPts val="2400"/>
              <a:buChar char="•"/>
            </a:pPr>
            <a:r>
              <a:rPr lang="en-US" dirty="0"/>
              <a:t>The data does not go through the router</a:t>
            </a:r>
            <a:endParaRPr dirty="0"/>
          </a:p>
          <a:p>
            <a:pPr marL="685800" lvl="1" indent="-228600" algn="l" rtl="0">
              <a:lnSpc>
                <a:spcPct val="90000"/>
              </a:lnSpc>
              <a:spcBef>
                <a:spcPts val="500"/>
              </a:spcBef>
              <a:spcAft>
                <a:spcPts val="0"/>
              </a:spcAft>
              <a:buClr>
                <a:schemeClr val="dk1"/>
              </a:buClr>
              <a:buSzPts val="2400"/>
              <a:buChar char="•"/>
            </a:pPr>
            <a:r>
              <a:rPr lang="en-US" dirty="0" err="1"/>
              <a:t>Src</a:t>
            </a:r>
            <a:r>
              <a:rPr lang="en-US" dirty="0"/>
              <a:t> and </a:t>
            </a:r>
            <a:r>
              <a:rPr lang="en-US" dirty="0" err="1"/>
              <a:t>Dest</a:t>
            </a:r>
            <a:r>
              <a:rPr lang="en-US" dirty="0"/>
              <a:t> remains in the same network</a:t>
            </a:r>
            <a:endParaRPr dirty="0"/>
          </a:p>
          <a:p>
            <a:pPr marL="685800" lvl="1" indent="-228600" algn="l" rtl="0">
              <a:lnSpc>
                <a:spcPct val="90000"/>
              </a:lnSpc>
              <a:spcBef>
                <a:spcPts val="500"/>
              </a:spcBef>
              <a:spcAft>
                <a:spcPts val="0"/>
              </a:spcAft>
              <a:buClr>
                <a:srgbClr val="C00000"/>
              </a:buClr>
              <a:buSzPts val="2400"/>
              <a:buChar char="•"/>
            </a:pPr>
            <a:r>
              <a:rPr lang="en-US" dirty="0">
                <a:solidFill>
                  <a:srgbClr val="C00000"/>
                </a:solidFill>
              </a:rPr>
              <a:t>Ex: </a:t>
            </a:r>
            <a:r>
              <a:rPr lang="en-US" dirty="0" err="1">
                <a:solidFill>
                  <a:srgbClr val="C00000"/>
                </a:solidFill>
              </a:rPr>
              <a:t>src</a:t>
            </a:r>
            <a:r>
              <a:rPr lang="en-US" dirty="0">
                <a:solidFill>
                  <a:srgbClr val="C00000"/>
                </a:solidFill>
              </a:rPr>
              <a:t> 144.14.x.y sends packet to </a:t>
            </a:r>
            <a:r>
              <a:rPr lang="en-US" dirty="0" err="1">
                <a:solidFill>
                  <a:srgbClr val="C00000"/>
                </a:solidFill>
              </a:rPr>
              <a:t>dest</a:t>
            </a:r>
            <a:r>
              <a:rPr lang="en-US" dirty="0">
                <a:solidFill>
                  <a:srgbClr val="C00000"/>
                </a:solidFill>
              </a:rPr>
              <a:t> 144.14.p.q</a:t>
            </a:r>
            <a:endParaRPr dirty="0"/>
          </a:p>
          <a:p>
            <a:pPr marL="228600" lvl="0" indent="-228600" algn="l" rtl="0">
              <a:lnSpc>
                <a:spcPct val="90000"/>
              </a:lnSpc>
              <a:spcBef>
                <a:spcPts val="1000"/>
              </a:spcBef>
              <a:spcAft>
                <a:spcPts val="0"/>
              </a:spcAft>
              <a:buClr>
                <a:schemeClr val="dk1"/>
              </a:buClr>
              <a:buSzPts val="2800"/>
              <a:buChar char="•"/>
            </a:pPr>
            <a:r>
              <a:rPr lang="en-US" dirty="0"/>
              <a:t>Loop back address</a:t>
            </a:r>
            <a:endParaRPr dirty="0"/>
          </a:p>
          <a:p>
            <a:pPr marL="685800" lvl="1" indent="-228600" algn="l" rtl="0">
              <a:lnSpc>
                <a:spcPct val="90000"/>
              </a:lnSpc>
              <a:spcBef>
                <a:spcPts val="500"/>
              </a:spcBef>
              <a:spcAft>
                <a:spcPts val="0"/>
              </a:spcAft>
              <a:buClr>
                <a:srgbClr val="40424E"/>
              </a:buClr>
              <a:buSzPts val="2400"/>
              <a:buChar char="•"/>
            </a:pPr>
            <a:r>
              <a:rPr lang="en-US" b="0" i="0" dirty="0">
                <a:solidFill>
                  <a:srgbClr val="40424E"/>
                </a:solidFill>
                <a:latin typeface="Arial"/>
                <a:ea typeface="Arial"/>
                <a:cs typeface="Arial"/>
                <a:sym typeface="Arial"/>
              </a:rPr>
              <a:t>Local Loopback Address is used to let a system send a message to itself to make sure that TCP/IP stack is installed correctly on the machine.</a:t>
            </a:r>
            <a:endParaRPr dirty="0"/>
          </a:p>
          <a:p>
            <a:pPr marL="685800" lvl="1" indent="-228600" algn="l" rtl="0">
              <a:lnSpc>
                <a:spcPct val="90000"/>
              </a:lnSpc>
              <a:spcBef>
                <a:spcPts val="500"/>
              </a:spcBef>
              <a:spcAft>
                <a:spcPts val="0"/>
              </a:spcAft>
              <a:buClr>
                <a:srgbClr val="40424E"/>
              </a:buClr>
              <a:buSzPts val="2400"/>
              <a:buChar char="•"/>
            </a:pPr>
            <a:r>
              <a:rPr lang="en-US" b="0" i="0" dirty="0">
                <a:solidFill>
                  <a:srgbClr val="40424E"/>
                </a:solidFill>
                <a:latin typeface="Arial"/>
                <a:ea typeface="Arial"/>
                <a:cs typeface="Arial"/>
                <a:sym typeface="Arial"/>
              </a:rPr>
              <a:t>Typically 127.0.0.1 is used as the local loopback address.</a:t>
            </a:r>
            <a:endParaRPr dirty="0"/>
          </a:p>
        </p:txBody>
      </p:sp>
      <p:sp>
        <p:nvSpPr>
          <p:cNvPr id="118" name="Google Shape;118;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05-07-2022</a:t>
            </a:r>
            <a:endParaRPr/>
          </a:p>
        </p:txBody>
      </p:sp>
      <p:sp>
        <p:nvSpPr>
          <p:cNvPr id="119" name="Google Shape;119;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Internet of Things</a:t>
            </a:r>
            <a:endParaRPr/>
          </a:p>
        </p:txBody>
      </p:sp>
      <p:sp>
        <p:nvSpPr>
          <p:cNvPr id="120" name="Google Shape;120;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a:t>
            </a:fld>
            <a:endParaRPr/>
          </a:p>
        </p:txBody>
      </p:sp>
    </p:spTree>
    <p:extLst>
      <p:ext uri="{BB962C8B-B14F-4D97-AF65-F5344CB8AC3E}">
        <p14:creationId xmlns:p14="http://schemas.microsoft.com/office/powerpoint/2010/main" val="3628248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a:t>IPV4 Packet header</a:t>
            </a:r>
            <a:endParaRPr b="1"/>
          </a:p>
        </p:txBody>
      </p:sp>
      <p:sp>
        <p:nvSpPr>
          <p:cNvPr id="126" name="Google Shape;126;p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Length of IP Header – 20 bytes – 60 bytes (40 bytes optional)</a:t>
            </a:r>
            <a:endParaRPr/>
          </a:p>
          <a:p>
            <a:pPr marL="228600" lvl="0" indent="-50800" algn="l" rtl="0">
              <a:lnSpc>
                <a:spcPct val="90000"/>
              </a:lnSpc>
              <a:spcBef>
                <a:spcPts val="1000"/>
              </a:spcBef>
              <a:spcAft>
                <a:spcPts val="0"/>
              </a:spcAft>
              <a:buClr>
                <a:schemeClr val="dk1"/>
              </a:buClr>
              <a:buSzPts val="2800"/>
              <a:buNone/>
            </a:pPr>
            <a:endParaRPr/>
          </a:p>
          <a:p>
            <a:pPr marL="228600" lvl="0" indent="-50800" algn="l" rtl="0">
              <a:lnSpc>
                <a:spcPct val="90000"/>
              </a:lnSpc>
              <a:spcBef>
                <a:spcPts val="1000"/>
              </a:spcBef>
              <a:spcAft>
                <a:spcPts val="0"/>
              </a:spcAft>
              <a:buClr>
                <a:schemeClr val="dk1"/>
              </a:buClr>
              <a:buSzPts val="2800"/>
              <a:buNone/>
            </a:pPr>
            <a:endParaRPr/>
          </a:p>
        </p:txBody>
      </p:sp>
      <p:pic>
        <p:nvPicPr>
          <p:cNvPr id="127" name="Google Shape;127;p5"/>
          <p:cNvPicPr preferRelativeResize="0"/>
          <p:nvPr/>
        </p:nvPicPr>
        <p:blipFill rotWithShape="1">
          <a:blip r:embed="rId3">
            <a:alphaModFix/>
          </a:blip>
          <a:srcRect/>
          <a:stretch/>
        </p:blipFill>
        <p:spPr>
          <a:xfrm>
            <a:off x="2657475" y="2924175"/>
            <a:ext cx="6877050" cy="1009650"/>
          </a:xfrm>
          <a:prstGeom prst="rect">
            <a:avLst/>
          </a:prstGeom>
          <a:noFill/>
          <a:ln>
            <a:noFill/>
          </a:ln>
        </p:spPr>
      </p:pic>
      <p:sp>
        <p:nvSpPr>
          <p:cNvPr id="128" name="Google Shape;128;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05-07-2022</a:t>
            </a:r>
            <a:endParaRPr/>
          </a:p>
        </p:txBody>
      </p:sp>
      <p:sp>
        <p:nvSpPr>
          <p:cNvPr id="129" name="Google Shape;129;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Internet of Things</a:t>
            </a:r>
            <a:endParaRPr/>
          </a:p>
        </p:txBody>
      </p:sp>
      <p:sp>
        <p:nvSpPr>
          <p:cNvPr id="130" name="Google Shape;130;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a:t>
            </a:fld>
            <a:endParaRPr/>
          </a:p>
        </p:txBody>
      </p:sp>
    </p:spTree>
    <p:extLst>
      <p:ext uri="{BB962C8B-B14F-4D97-AF65-F5344CB8AC3E}">
        <p14:creationId xmlns:p14="http://schemas.microsoft.com/office/powerpoint/2010/main" val="35101104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6"/>
          <p:cNvSpPr txBox="1">
            <a:spLocks noGrp="1"/>
          </p:cNvSpPr>
          <p:nvPr>
            <p:ph type="title"/>
          </p:nvPr>
        </p:nvSpPr>
        <p:spPr>
          <a:xfrm>
            <a:off x="838200" y="365125"/>
            <a:ext cx="10515600" cy="936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a:t>IP Header Format </a:t>
            </a:r>
            <a:endParaRPr b="1"/>
          </a:p>
        </p:txBody>
      </p:sp>
      <p:pic>
        <p:nvPicPr>
          <p:cNvPr id="136" name="Google Shape;136;p6" descr="IP header with TID field | Download Scientific Diagram"/>
          <p:cNvPicPr preferRelativeResize="0">
            <a:picLocks noGrp="1"/>
          </p:cNvPicPr>
          <p:nvPr>
            <p:ph type="body" idx="1"/>
          </p:nvPr>
        </p:nvPicPr>
        <p:blipFill rotWithShape="1">
          <a:blip r:embed="rId3">
            <a:alphaModFix/>
          </a:blip>
          <a:srcRect/>
          <a:stretch/>
        </p:blipFill>
        <p:spPr>
          <a:xfrm>
            <a:off x="1819650" y="1341708"/>
            <a:ext cx="9173400" cy="4974600"/>
          </a:xfrm>
          <a:prstGeom prst="rect">
            <a:avLst/>
          </a:prstGeom>
          <a:noFill/>
          <a:ln>
            <a:noFill/>
          </a:ln>
        </p:spPr>
      </p:pic>
      <p:sp>
        <p:nvSpPr>
          <p:cNvPr id="137" name="Google Shape;137;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05-07-2022</a:t>
            </a:r>
            <a:endParaRPr/>
          </a:p>
        </p:txBody>
      </p:sp>
      <p:sp>
        <p:nvSpPr>
          <p:cNvPr id="138" name="Google Shape;138;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Internet of Things</a:t>
            </a:r>
            <a:endParaRPr/>
          </a:p>
        </p:txBody>
      </p:sp>
      <p:sp>
        <p:nvSpPr>
          <p:cNvPr id="139" name="Google Shape;139;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a:t>
            </a:fld>
            <a:endParaRPr/>
          </a:p>
        </p:txBody>
      </p:sp>
    </p:spTree>
    <p:extLst>
      <p:ext uri="{BB962C8B-B14F-4D97-AF65-F5344CB8AC3E}">
        <p14:creationId xmlns:p14="http://schemas.microsoft.com/office/powerpoint/2010/main" val="23003772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7"/>
          <p:cNvSpPr txBox="1">
            <a:spLocks noGrp="1"/>
          </p:cNvSpPr>
          <p:nvPr>
            <p:ph type="title"/>
          </p:nvPr>
        </p:nvSpPr>
        <p:spPr>
          <a:xfrm>
            <a:off x="838200" y="365126"/>
            <a:ext cx="10515600" cy="918552"/>
          </a:xfrm>
        </p:spPr>
        <p:txBody>
          <a:bodyPr/>
          <a:lstStyle/>
          <a:p>
            <a:pPr lvl="0"/>
            <a:r>
              <a:rPr lang="en-US" dirty="0" smtClean="0"/>
              <a:t>IP Header details</a:t>
            </a:r>
            <a:endParaRPr lang="en-US" dirty="0"/>
          </a:p>
        </p:txBody>
      </p:sp>
      <p:sp>
        <p:nvSpPr>
          <p:cNvPr id="145" name="Google Shape;145;p7"/>
          <p:cNvSpPr txBox="1">
            <a:spLocks noGrp="1"/>
          </p:cNvSpPr>
          <p:nvPr>
            <p:ph type="body" idx="1"/>
          </p:nvPr>
        </p:nvSpPr>
        <p:spPr>
          <a:xfrm>
            <a:off x="838200" y="1362808"/>
            <a:ext cx="10515600" cy="4814155"/>
          </a:xfrm>
        </p:spPr>
        <p:txBody>
          <a:bodyPr>
            <a:normAutofit lnSpcReduction="10000"/>
          </a:bodyPr>
          <a:lstStyle/>
          <a:p>
            <a:pPr lvl="0"/>
            <a:r>
              <a:rPr lang="en-US" dirty="0" smtClean="0">
                <a:sym typeface="Arial"/>
              </a:rPr>
              <a:t>Version − Version no. of Internet Protocol used (e.g. IPv4).</a:t>
            </a:r>
            <a:endParaRPr lang="en-US" dirty="0" smtClean="0"/>
          </a:p>
          <a:p>
            <a:pPr lvl="0"/>
            <a:r>
              <a:rPr lang="en-US" dirty="0" smtClean="0">
                <a:sym typeface="Arial"/>
              </a:rPr>
              <a:t>IHL − Internet Header Length HLEN; Length of entire IP header.</a:t>
            </a:r>
            <a:endParaRPr lang="en-US" dirty="0" smtClean="0"/>
          </a:p>
          <a:p>
            <a:pPr lvl="0"/>
            <a:r>
              <a:rPr lang="en-US" dirty="0" smtClean="0">
                <a:sym typeface="Arial"/>
              </a:rPr>
              <a:t>Ex: for 20 bytes IP header HLEN= 0101</a:t>
            </a:r>
          </a:p>
          <a:p>
            <a:pPr lvl="0"/>
            <a:r>
              <a:rPr lang="en-US" dirty="0" err="1" smtClean="0">
                <a:sym typeface="Arial"/>
              </a:rPr>
              <a:t>ToS</a:t>
            </a:r>
            <a:r>
              <a:rPr lang="en-US" dirty="0" smtClean="0">
                <a:sym typeface="Arial"/>
              </a:rPr>
              <a:t> – Type of Service – 03 bits (precedence </a:t>
            </a:r>
            <a:r>
              <a:rPr lang="en-US" dirty="0" err="1" smtClean="0">
                <a:sym typeface="Arial"/>
              </a:rPr>
              <a:t>fm</a:t>
            </a:r>
            <a:r>
              <a:rPr lang="en-US" dirty="0" smtClean="0">
                <a:sym typeface="Arial"/>
              </a:rPr>
              <a:t> 000 to 111) – 04 bits (DTRC) – 01 bit (reserved)</a:t>
            </a:r>
            <a:endParaRPr lang="en-US" dirty="0" smtClean="0"/>
          </a:p>
          <a:p>
            <a:pPr lvl="1"/>
            <a:r>
              <a:rPr lang="en-US" dirty="0" smtClean="0">
                <a:sym typeface="Arial"/>
              </a:rPr>
              <a:t>D : Delay to be minimized</a:t>
            </a:r>
            <a:endParaRPr lang="en-US" dirty="0" smtClean="0"/>
          </a:p>
          <a:p>
            <a:pPr lvl="1"/>
            <a:r>
              <a:rPr lang="en-US" dirty="0" smtClean="0">
                <a:sym typeface="Arial"/>
              </a:rPr>
              <a:t>T: Throughput to be maximized</a:t>
            </a:r>
            <a:endParaRPr lang="en-US" dirty="0" smtClean="0"/>
          </a:p>
          <a:p>
            <a:pPr lvl="1"/>
            <a:r>
              <a:rPr lang="en-US" dirty="0" smtClean="0">
                <a:sym typeface="Arial"/>
              </a:rPr>
              <a:t>R: Reliability to be maximized</a:t>
            </a:r>
            <a:endParaRPr lang="en-US" dirty="0" smtClean="0"/>
          </a:p>
          <a:p>
            <a:pPr lvl="1"/>
            <a:r>
              <a:rPr lang="en-US" dirty="0" smtClean="0">
                <a:sym typeface="Arial"/>
              </a:rPr>
              <a:t>C: Cost to be minimized</a:t>
            </a:r>
          </a:p>
          <a:p>
            <a:pPr lvl="0"/>
            <a:r>
              <a:rPr lang="en-US" dirty="0" smtClean="0">
                <a:sym typeface="Arial"/>
              </a:rPr>
              <a:t>Total Length − Length of entire IP Packet (including IP header and IP Payload). Data = TLEN - HLEN</a:t>
            </a:r>
            <a:endParaRPr lang="en-US" dirty="0" smtClean="0"/>
          </a:p>
          <a:p>
            <a:pPr lvl="0"/>
            <a:endParaRPr lang="en-US" dirty="0"/>
          </a:p>
        </p:txBody>
      </p:sp>
      <p:sp>
        <p:nvSpPr>
          <p:cNvPr id="146" name="Google Shape;146;p7"/>
          <p:cNvSpPr txBox="1">
            <a:spLocks noGrp="1"/>
          </p:cNvSpPr>
          <p:nvPr>
            <p:ph type="dt" idx="10"/>
          </p:nvPr>
        </p:nvSpPr>
        <p:spPr/>
        <p:txBody>
          <a:bodyPr/>
          <a:lstStyle/>
          <a:p>
            <a:pPr lvl="0"/>
            <a:r>
              <a:rPr lang="en-US" smtClean="0"/>
              <a:t>05-07-2022</a:t>
            </a:r>
            <a:endParaRPr lang="en-US"/>
          </a:p>
        </p:txBody>
      </p:sp>
      <p:sp>
        <p:nvSpPr>
          <p:cNvPr id="147" name="Google Shape;147;p7"/>
          <p:cNvSpPr txBox="1">
            <a:spLocks noGrp="1"/>
          </p:cNvSpPr>
          <p:nvPr>
            <p:ph type="ftr" idx="11"/>
          </p:nvPr>
        </p:nvSpPr>
        <p:spPr/>
        <p:txBody>
          <a:bodyPr/>
          <a:lstStyle/>
          <a:p>
            <a:pPr lvl="0"/>
            <a:r>
              <a:rPr lang="en-US" smtClean="0"/>
              <a:t>Internet of Things</a:t>
            </a:r>
            <a:endParaRPr lang="en-US"/>
          </a:p>
        </p:txBody>
      </p:sp>
      <p:sp>
        <p:nvSpPr>
          <p:cNvPr id="148" name="Google Shape;148;p7"/>
          <p:cNvSpPr txBox="1">
            <a:spLocks noGrp="1"/>
          </p:cNvSpPr>
          <p:nvPr>
            <p:ph type="sldNum" idx="12"/>
          </p:nvPr>
        </p:nvSpPr>
        <p:spPr/>
        <p:txBody>
          <a:bodyPr/>
          <a:lstStyle/>
          <a:p>
            <a:pPr lvl="0"/>
            <a:fld id="{00000000-1234-1234-1234-123412341234}" type="slidenum">
              <a:rPr lang="en-US" smtClean="0"/>
              <a:pPr lvl="0"/>
              <a:t>7</a:t>
            </a:fld>
            <a:endParaRPr lang="en-US"/>
          </a:p>
        </p:txBody>
      </p:sp>
    </p:spTree>
    <p:extLst>
      <p:ext uri="{BB962C8B-B14F-4D97-AF65-F5344CB8AC3E}">
        <p14:creationId xmlns:p14="http://schemas.microsoft.com/office/powerpoint/2010/main" val="16625590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8"/>
          <p:cNvSpPr txBox="1">
            <a:spLocks noGrp="1"/>
          </p:cNvSpPr>
          <p:nvPr>
            <p:ph type="title"/>
          </p:nvPr>
        </p:nvSpPr>
        <p:spPr>
          <a:xfrm>
            <a:off x="838200" y="365126"/>
            <a:ext cx="10515600" cy="44450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Calibri"/>
              <a:buNone/>
            </a:pPr>
            <a:endParaRPr/>
          </a:p>
        </p:txBody>
      </p:sp>
      <p:sp>
        <p:nvSpPr>
          <p:cNvPr id="154" name="Google Shape;154;p8"/>
          <p:cNvSpPr txBox="1">
            <a:spLocks noGrp="1"/>
          </p:cNvSpPr>
          <p:nvPr>
            <p:ph type="body" idx="1"/>
          </p:nvPr>
        </p:nvSpPr>
        <p:spPr>
          <a:xfrm>
            <a:off x="838200" y="1134207"/>
            <a:ext cx="10515600" cy="5042817"/>
          </a:xfrm>
          <a:prstGeom prst="rect">
            <a:avLst/>
          </a:prstGeom>
          <a:noFill/>
          <a:ln>
            <a:noFill/>
          </a:ln>
        </p:spPr>
        <p:txBody>
          <a:bodyPr spcFirstLastPara="1" wrap="square" lIns="91425" tIns="45700" rIns="91425" bIns="45700" anchor="t" anchorCtr="0">
            <a:normAutofit lnSpcReduction="10000"/>
          </a:bodyPr>
          <a:lstStyle/>
          <a:p>
            <a:pPr marL="228600" lvl="0" indent="-228600" algn="just" rtl="0">
              <a:lnSpc>
                <a:spcPct val="90000"/>
              </a:lnSpc>
              <a:spcBef>
                <a:spcPts val="0"/>
              </a:spcBef>
              <a:spcAft>
                <a:spcPts val="0"/>
              </a:spcAft>
              <a:buClr>
                <a:srgbClr val="000000"/>
              </a:buClr>
              <a:buSzPts val="2800"/>
              <a:buFont typeface="Arial"/>
              <a:buChar char="•"/>
            </a:pPr>
            <a:r>
              <a:rPr lang="en-US" b="1" i="0" dirty="0">
                <a:solidFill>
                  <a:srgbClr val="000000"/>
                </a:solidFill>
                <a:latin typeface="Arial"/>
                <a:ea typeface="Arial"/>
                <a:cs typeface="Arial"/>
                <a:sym typeface="Arial"/>
              </a:rPr>
              <a:t>Identification</a:t>
            </a:r>
            <a:r>
              <a:rPr lang="en-US" b="0" i="0" dirty="0">
                <a:solidFill>
                  <a:srgbClr val="000000"/>
                </a:solidFill>
                <a:latin typeface="Arial"/>
                <a:ea typeface="Arial"/>
                <a:cs typeface="Arial"/>
                <a:sym typeface="Arial"/>
              </a:rPr>
              <a:t> − If IP packet is fragmented during the transmission, all the fragments contain same identification number. to identify original IP packet they belong to.</a:t>
            </a:r>
            <a:endParaRPr dirty="0"/>
          </a:p>
          <a:p>
            <a:pPr marL="228600" lvl="0" indent="-50800" algn="just" rtl="0">
              <a:lnSpc>
                <a:spcPct val="90000"/>
              </a:lnSpc>
              <a:spcBef>
                <a:spcPts val="1000"/>
              </a:spcBef>
              <a:spcAft>
                <a:spcPts val="0"/>
              </a:spcAft>
              <a:buClr>
                <a:schemeClr val="dk1"/>
              </a:buClr>
              <a:buSzPts val="2800"/>
              <a:buFont typeface="Arial"/>
              <a:buNone/>
            </a:pPr>
            <a:endParaRPr b="0" i="0" dirty="0">
              <a:solidFill>
                <a:srgbClr val="000000"/>
              </a:solidFill>
              <a:latin typeface="Arial"/>
              <a:ea typeface="Arial"/>
              <a:cs typeface="Arial"/>
              <a:sym typeface="Arial"/>
            </a:endParaRPr>
          </a:p>
          <a:p>
            <a:pPr marL="228600" lvl="0" indent="-228600" algn="just" rtl="0">
              <a:lnSpc>
                <a:spcPct val="90000"/>
              </a:lnSpc>
              <a:spcBef>
                <a:spcPts val="1000"/>
              </a:spcBef>
              <a:spcAft>
                <a:spcPts val="0"/>
              </a:spcAft>
              <a:buClr>
                <a:srgbClr val="000000"/>
              </a:buClr>
              <a:buSzPts val="2800"/>
              <a:buFont typeface="Arial"/>
              <a:buChar char="•"/>
            </a:pPr>
            <a:r>
              <a:rPr lang="en-US" b="1" i="0" dirty="0">
                <a:solidFill>
                  <a:srgbClr val="000000"/>
                </a:solidFill>
                <a:latin typeface="Arial"/>
                <a:ea typeface="Arial"/>
                <a:cs typeface="Arial"/>
                <a:sym typeface="Arial"/>
              </a:rPr>
              <a:t>Flags</a:t>
            </a:r>
            <a:r>
              <a:rPr lang="en-US" b="0" i="0" dirty="0">
                <a:solidFill>
                  <a:srgbClr val="000000"/>
                </a:solidFill>
                <a:latin typeface="Arial"/>
                <a:ea typeface="Arial"/>
                <a:cs typeface="Arial"/>
                <a:sym typeface="Arial"/>
              </a:rPr>
              <a:t> − As required by the network resources, if IP Packet is too large to handle, these ‘flags’ tells if they can be fragmented or not. In this 3-bit flag, the MSB is always set to ‘0’.</a:t>
            </a:r>
            <a:endParaRPr dirty="0"/>
          </a:p>
          <a:p>
            <a:pPr marL="685800" lvl="1" indent="-228600" algn="just" rtl="0">
              <a:lnSpc>
                <a:spcPct val="90000"/>
              </a:lnSpc>
              <a:spcBef>
                <a:spcPts val="500"/>
              </a:spcBef>
              <a:spcAft>
                <a:spcPts val="0"/>
              </a:spcAft>
              <a:buClr>
                <a:srgbClr val="000000"/>
              </a:buClr>
              <a:buSzPts val="2400"/>
              <a:buChar char="•"/>
            </a:pPr>
            <a:r>
              <a:rPr lang="en-US" dirty="0">
                <a:solidFill>
                  <a:srgbClr val="000000"/>
                </a:solidFill>
                <a:latin typeface="Arial"/>
                <a:ea typeface="Arial"/>
                <a:cs typeface="Arial"/>
                <a:sym typeface="Arial"/>
              </a:rPr>
              <a:t>D – Do not fragment</a:t>
            </a:r>
            <a:endParaRPr dirty="0"/>
          </a:p>
          <a:p>
            <a:pPr marL="685800" lvl="1" indent="-228600" algn="just" rtl="0">
              <a:lnSpc>
                <a:spcPct val="90000"/>
              </a:lnSpc>
              <a:spcBef>
                <a:spcPts val="500"/>
              </a:spcBef>
              <a:spcAft>
                <a:spcPts val="0"/>
              </a:spcAft>
              <a:buClr>
                <a:srgbClr val="000000"/>
              </a:buClr>
              <a:buSzPts val="2400"/>
              <a:buChar char="•"/>
            </a:pPr>
            <a:r>
              <a:rPr lang="en-US" b="0" i="0" dirty="0">
                <a:solidFill>
                  <a:srgbClr val="000000"/>
                </a:solidFill>
                <a:latin typeface="Arial"/>
                <a:ea typeface="Arial"/>
                <a:cs typeface="Arial"/>
                <a:sym typeface="Arial"/>
              </a:rPr>
              <a:t>M – More fragment</a:t>
            </a:r>
            <a:endParaRPr dirty="0"/>
          </a:p>
          <a:p>
            <a:pPr marL="685800" lvl="1" indent="-76200" algn="just" rtl="0">
              <a:lnSpc>
                <a:spcPct val="90000"/>
              </a:lnSpc>
              <a:spcBef>
                <a:spcPts val="500"/>
              </a:spcBef>
              <a:spcAft>
                <a:spcPts val="0"/>
              </a:spcAft>
              <a:buClr>
                <a:schemeClr val="dk1"/>
              </a:buClr>
              <a:buSzPts val="2400"/>
              <a:buNone/>
            </a:pPr>
            <a:endParaRPr b="0" i="0" dirty="0">
              <a:solidFill>
                <a:srgbClr val="000000"/>
              </a:solidFill>
              <a:latin typeface="Arial"/>
              <a:ea typeface="Arial"/>
              <a:cs typeface="Arial"/>
              <a:sym typeface="Arial"/>
            </a:endParaRPr>
          </a:p>
          <a:p>
            <a:pPr marL="228600" lvl="0" indent="-228600" algn="just" rtl="0">
              <a:lnSpc>
                <a:spcPct val="90000"/>
              </a:lnSpc>
              <a:spcBef>
                <a:spcPts val="1000"/>
              </a:spcBef>
              <a:spcAft>
                <a:spcPts val="0"/>
              </a:spcAft>
              <a:buClr>
                <a:srgbClr val="000000"/>
              </a:buClr>
              <a:buSzPts val="2800"/>
              <a:buFont typeface="Arial"/>
              <a:buChar char="•"/>
            </a:pPr>
            <a:r>
              <a:rPr lang="en-US" b="1" i="0" dirty="0">
                <a:solidFill>
                  <a:srgbClr val="000000"/>
                </a:solidFill>
                <a:latin typeface="Arial"/>
                <a:ea typeface="Arial"/>
                <a:cs typeface="Arial"/>
                <a:sym typeface="Arial"/>
              </a:rPr>
              <a:t>Fragment Offset</a:t>
            </a:r>
            <a:r>
              <a:rPr lang="en-US" b="0" i="0" dirty="0">
                <a:solidFill>
                  <a:srgbClr val="000000"/>
                </a:solidFill>
                <a:latin typeface="Arial"/>
                <a:ea typeface="Arial"/>
                <a:cs typeface="Arial"/>
                <a:sym typeface="Arial"/>
              </a:rPr>
              <a:t> − This offset tells the exact position of the fragment in the original IP Packet.</a:t>
            </a:r>
            <a:endParaRPr dirty="0"/>
          </a:p>
          <a:p>
            <a:pPr marL="228600" lvl="0" indent="-50800" algn="l" rtl="0">
              <a:lnSpc>
                <a:spcPct val="90000"/>
              </a:lnSpc>
              <a:spcBef>
                <a:spcPts val="1000"/>
              </a:spcBef>
              <a:spcAft>
                <a:spcPts val="0"/>
              </a:spcAft>
              <a:buClr>
                <a:schemeClr val="dk1"/>
              </a:buClr>
              <a:buSzPts val="2800"/>
              <a:buNone/>
            </a:pPr>
            <a:endParaRPr dirty="0"/>
          </a:p>
        </p:txBody>
      </p:sp>
      <p:sp>
        <p:nvSpPr>
          <p:cNvPr id="155" name="Google Shape;155;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05-07-2022</a:t>
            </a:r>
            <a:endParaRPr/>
          </a:p>
        </p:txBody>
      </p:sp>
      <p:sp>
        <p:nvSpPr>
          <p:cNvPr id="156" name="Google Shape;156;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Internet of Things</a:t>
            </a:r>
            <a:endParaRPr/>
          </a:p>
        </p:txBody>
      </p:sp>
      <p:sp>
        <p:nvSpPr>
          <p:cNvPr id="157" name="Google Shape;157;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20563967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9"/>
          <p:cNvSpPr txBox="1">
            <a:spLocks noGrp="1"/>
          </p:cNvSpPr>
          <p:nvPr>
            <p:ph type="title"/>
          </p:nvPr>
        </p:nvSpPr>
        <p:spPr>
          <a:xfrm>
            <a:off x="838200" y="365126"/>
            <a:ext cx="10515600" cy="50165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Calibri"/>
              <a:buNone/>
            </a:pPr>
            <a:endParaRPr/>
          </a:p>
        </p:txBody>
      </p:sp>
      <p:sp>
        <p:nvSpPr>
          <p:cNvPr id="163" name="Google Shape;163;p9"/>
          <p:cNvSpPr txBox="1">
            <a:spLocks noGrp="1"/>
          </p:cNvSpPr>
          <p:nvPr>
            <p:ph type="body" idx="1"/>
          </p:nvPr>
        </p:nvSpPr>
        <p:spPr>
          <a:xfrm>
            <a:off x="838200" y="885826"/>
            <a:ext cx="10515600" cy="5310187"/>
          </a:xfrm>
          <a:prstGeom prst="rect">
            <a:avLst/>
          </a:prstGeom>
          <a:noFill/>
          <a:ln>
            <a:noFill/>
          </a:ln>
        </p:spPr>
        <p:txBody>
          <a:bodyPr spcFirstLastPara="1" wrap="square" lIns="91425" tIns="45700" rIns="91425" bIns="45700" anchor="t" anchorCtr="0">
            <a:normAutofit fontScale="85000" lnSpcReduction="10000"/>
          </a:bodyPr>
          <a:lstStyle/>
          <a:p>
            <a:pPr marL="228600" lvl="0" indent="-228600" algn="just" rtl="0">
              <a:lnSpc>
                <a:spcPct val="90000"/>
              </a:lnSpc>
              <a:spcBef>
                <a:spcPts val="0"/>
              </a:spcBef>
              <a:spcAft>
                <a:spcPts val="0"/>
              </a:spcAft>
              <a:buClr>
                <a:srgbClr val="000000"/>
              </a:buClr>
              <a:buSzPct val="100000"/>
              <a:buFont typeface="Arial"/>
              <a:buChar char="•"/>
            </a:pPr>
            <a:r>
              <a:rPr lang="en-US" b="1" i="0">
                <a:solidFill>
                  <a:srgbClr val="000000"/>
                </a:solidFill>
                <a:latin typeface="Arial"/>
                <a:ea typeface="Arial"/>
                <a:cs typeface="Arial"/>
                <a:sym typeface="Arial"/>
              </a:rPr>
              <a:t>Time to Live</a:t>
            </a:r>
            <a:r>
              <a:rPr lang="en-US" b="0" i="0">
                <a:solidFill>
                  <a:srgbClr val="000000"/>
                </a:solidFill>
                <a:latin typeface="Arial"/>
                <a:ea typeface="Arial"/>
                <a:cs typeface="Arial"/>
                <a:sym typeface="Arial"/>
              </a:rPr>
              <a:t> − To avoid looping in the network, every packet is sent with some TTL value set, which tells the network how many routers (hops) this packet can cross. At each hop, its value is decremented by one and when the value reaches zero, the packet is discarded.</a:t>
            </a:r>
            <a:endParaRPr/>
          </a:p>
          <a:p>
            <a:pPr marL="228600" lvl="0" indent="-228600" algn="just" rtl="0">
              <a:lnSpc>
                <a:spcPct val="90000"/>
              </a:lnSpc>
              <a:spcBef>
                <a:spcPts val="1000"/>
              </a:spcBef>
              <a:spcAft>
                <a:spcPts val="0"/>
              </a:spcAft>
              <a:buClr>
                <a:srgbClr val="000000"/>
              </a:buClr>
              <a:buSzPct val="100000"/>
              <a:buFont typeface="Arial"/>
              <a:buChar char="•"/>
            </a:pPr>
            <a:r>
              <a:rPr lang="en-US" b="1" i="0">
                <a:solidFill>
                  <a:srgbClr val="000000"/>
                </a:solidFill>
                <a:latin typeface="Arial"/>
                <a:ea typeface="Arial"/>
                <a:cs typeface="Arial"/>
                <a:sym typeface="Arial"/>
              </a:rPr>
              <a:t>Protocol</a:t>
            </a:r>
            <a:r>
              <a:rPr lang="en-US" b="0" i="0">
                <a:solidFill>
                  <a:srgbClr val="000000"/>
                </a:solidFill>
                <a:latin typeface="Arial"/>
                <a:ea typeface="Arial"/>
                <a:cs typeface="Arial"/>
                <a:sym typeface="Arial"/>
              </a:rPr>
              <a:t> − Tells the Network layer at the destination host, to which Protocol this packet belongs to, i.e. the next level Protocol. For example protocol number of ICMP is 1, TCP is 6 and UDP is 17.</a:t>
            </a:r>
            <a:endParaRPr/>
          </a:p>
          <a:p>
            <a:pPr marL="228600" lvl="0" indent="-228600" algn="just" rtl="0">
              <a:lnSpc>
                <a:spcPct val="90000"/>
              </a:lnSpc>
              <a:spcBef>
                <a:spcPts val="1000"/>
              </a:spcBef>
              <a:spcAft>
                <a:spcPts val="0"/>
              </a:spcAft>
              <a:buClr>
                <a:srgbClr val="000000"/>
              </a:buClr>
              <a:buSzPct val="100000"/>
              <a:buFont typeface="Arial"/>
              <a:buChar char="•"/>
            </a:pPr>
            <a:r>
              <a:rPr lang="en-US" b="1" i="0">
                <a:solidFill>
                  <a:srgbClr val="000000"/>
                </a:solidFill>
                <a:latin typeface="Arial"/>
                <a:ea typeface="Arial"/>
                <a:cs typeface="Arial"/>
                <a:sym typeface="Arial"/>
              </a:rPr>
              <a:t>Header Checksum</a:t>
            </a:r>
            <a:r>
              <a:rPr lang="en-US" b="0" i="0">
                <a:solidFill>
                  <a:srgbClr val="000000"/>
                </a:solidFill>
                <a:latin typeface="Arial"/>
                <a:ea typeface="Arial"/>
                <a:cs typeface="Arial"/>
                <a:sym typeface="Arial"/>
              </a:rPr>
              <a:t> − This field is used to keep checksum value of entire header which is then used to check if the packet is received error-free.</a:t>
            </a:r>
            <a:endParaRPr/>
          </a:p>
          <a:p>
            <a:pPr marL="228600" lvl="0" indent="-228600" algn="just" rtl="0">
              <a:lnSpc>
                <a:spcPct val="90000"/>
              </a:lnSpc>
              <a:spcBef>
                <a:spcPts val="1000"/>
              </a:spcBef>
              <a:spcAft>
                <a:spcPts val="0"/>
              </a:spcAft>
              <a:buClr>
                <a:srgbClr val="000000"/>
              </a:buClr>
              <a:buSzPct val="100000"/>
              <a:buFont typeface="Arial"/>
              <a:buChar char="•"/>
            </a:pPr>
            <a:r>
              <a:rPr lang="en-US" b="1" i="0">
                <a:solidFill>
                  <a:srgbClr val="000000"/>
                </a:solidFill>
                <a:latin typeface="Arial"/>
                <a:ea typeface="Arial"/>
                <a:cs typeface="Arial"/>
                <a:sym typeface="Arial"/>
              </a:rPr>
              <a:t>Source Address</a:t>
            </a:r>
            <a:r>
              <a:rPr lang="en-US" b="0" i="0">
                <a:solidFill>
                  <a:srgbClr val="000000"/>
                </a:solidFill>
                <a:latin typeface="Arial"/>
                <a:ea typeface="Arial"/>
                <a:cs typeface="Arial"/>
                <a:sym typeface="Arial"/>
              </a:rPr>
              <a:t> − 32-bit address of the Sender (or source) of the packet.</a:t>
            </a:r>
            <a:endParaRPr/>
          </a:p>
          <a:p>
            <a:pPr marL="228600" lvl="0" indent="-228600" algn="just" rtl="0">
              <a:lnSpc>
                <a:spcPct val="90000"/>
              </a:lnSpc>
              <a:spcBef>
                <a:spcPts val="1000"/>
              </a:spcBef>
              <a:spcAft>
                <a:spcPts val="0"/>
              </a:spcAft>
              <a:buClr>
                <a:srgbClr val="000000"/>
              </a:buClr>
              <a:buSzPct val="100000"/>
              <a:buFont typeface="Arial"/>
              <a:buChar char="•"/>
            </a:pPr>
            <a:r>
              <a:rPr lang="en-US" b="1" i="0">
                <a:solidFill>
                  <a:srgbClr val="000000"/>
                </a:solidFill>
                <a:latin typeface="Arial"/>
                <a:ea typeface="Arial"/>
                <a:cs typeface="Arial"/>
                <a:sym typeface="Arial"/>
              </a:rPr>
              <a:t>Destination Address</a:t>
            </a:r>
            <a:r>
              <a:rPr lang="en-US" b="0" i="0">
                <a:solidFill>
                  <a:srgbClr val="000000"/>
                </a:solidFill>
                <a:latin typeface="Arial"/>
                <a:ea typeface="Arial"/>
                <a:cs typeface="Arial"/>
                <a:sym typeface="Arial"/>
              </a:rPr>
              <a:t> − 32-bit address of the Receiver (or destination) of the packet.</a:t>
            </a:r>
            <a:endParaRPr/>
          </a:p>
          <a:p>
            <a:pPr marL="228600" lvl="0" indent="-228600" algn="just" rtl="0">
              <a:lnSpc>
                <a:spcPct val="90000"/>
              </a:lnSpc>
              <a:spcBef>
                <a:spcPts val="1000"/>
              </a:spcBef>
              <a:spcAft>
                <a:spcPts val="0"/>
              </a:spcAft>
              <a:buClr>
                <a:srgbClr val="000000"/>
              </a:buClr>
              <a:buSzPct val="100000"/>
              <a:buFont typeface="Arial"/>
              <a:buChar char="•"/>
            </a:pPr>
            <a:r>
              <a:rPr lang="en-US" b="1" i="0">
                <a:solidFill>
                  <a:srgbClr val="000000"/>
                </a:solidFill>
                <a:latin typeface="Arial"/>
                <a:ea typeface="Arial"/>
                <a:cs typeface="Arial"/>
                <a:sym typeface="Arial"/>
              </a:rPr>
              <a:t>Options</a:t>
            </a:r>
            <a:r>
              <a:rPr lang="en-US" b="0" i="0">
                <a:solidFill>
                  <a:srgbClr val="000000"/>
                </a:solidFill>
                <a:latin typeface="Arial"/>
                <a:ea typeface="Arial"/>
                <a:cs typeface="Arial"/>
                <a:sym typeface="Arial"/>
              </a:rPr>
              <a:t> − This is optional field, which is used if the value of IHL is greater than 5. These options may contain values for options such as Security, Record Route, Time Stamp, etc.</a:t>
            </a:r>
            <a:endParaRPr/>
          </a:p>
          <a:p>
            <a:pPr marL="228600" lvl="0" indent="-77470" algn="l" rtl="0">
              <a:lnSpc>
                <a:spcPct val="90000"/>
              </a:lnSpc>
              <a:spcBef>
                <a:spcPts val="1000"/>
              </a:spcBef>
              <a:spcAft>
                <a:spcPts val="0"/>
              </a:spcAft>
              <a:buClr>
                <a:schemeClr val="dk1"/>
              </a:buClr>
              <a:buSzPct val="100000"/>
              <a:buNone/>
            </a:pPr>
            <a:endParaRPr/>
          </a:p>
        </p:txBody>
      </p:sp>
      <p:sp>
        <p:nvSpPr>
          <p:cNvPr id="164" name="Google Shape;164;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05-07-2022</a:t>
            </a:r>
            <a:endParaRPr/>
          </a:p>
        </p:txBody>
      </p:sp>
      <p:sp>
        <p:nvSpPr>
          <p:cNvPr id="165" name="Google Shape;165;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Internet of Things</a:t>
            </a:r>
            <a:endParaRPr/>
          </a:p>
        </p:txBody>
      </p:sp>
      <p:sp>
        <p:nvSpPr>
          <p:cNvPr id="166" name="Google Shape;166;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a:t>
            </a:fld>
            <a:endParaRPr/>
          </a:p>
        </p:txBody>
      </p:sp>
    </p:spTree>
    <p:extLst>
      <p:ext uri="{BB962C8B-B14F-4D97-AF65-F5344CB8AC3E}">
        <p14:creationId xmlns:p14="http://schemas.microsoft.com/office/powerpoint/2010/main" val="20151272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10"/>
          <p:cNvSpPr txBox="1">
            <a:spLocks noGrp="1"/>
          </p:cNvSpPr>
          <p:nvPr>
            <p:ph type="title"/>
          </p:nvPr>
        </p:nvSpPr>
        <p:spPr>
          <a:xfrm>
            <a:off x="838200" y="136525"/>
            <a:ext cx="10515600" cy="112077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a:t>IP Fragments &amp; Reassembly</a:t>
            </a:r>
            <a:endParaRPr b="1"/>
          </a:p>
        </p:txBody>
      </p:sp>
      <p:pic>
        <p:nvPicPr>
          <p:cNvPr id="172" name="Google Shape;172;p10" descr="IP Fragmentation and Reassembly - Stack Overflow"/>
          <p:cNvPicPr preferRelativeResize="0">
            <a:picLocks noGrp="1"/>
          </p:cNvPicPr>
          <p:nvPr>
            <p:ph type="body" idx="1"/>
          </p:nvPr>
        </p:nvPicPr>
        <p:blipFill rotWithShape="1">
          <a:blip r:embed="rId3">
            <a:alphaModFix/>
          </a:blip>
          <a:srcRect/>
          <a:stretch/>
        </p:blipFill>
        <p:spPr>
          <a:xfrm>
            <a:off x="1171375" y="1092150"/>
            <a:ext cx="10077300" cy="5343600"/>
          </a:xfrm>
          <a:prstGeom prst="rect">
            <a:avLst/>
          </a:prstGeom>
          <a:noFill/>
          <a:ln>
            <a:noFill/>
          </a:ln>
        </p:spPr>
      </p:pic>
      <p:sp>
        <p:nvSpPr>
          <p:cNvPr id="173" name="Google Shape;173;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05-07-2022</a:t>
            </a:r>
            <a:endParaRPr/>
          </a:p>
        </p:txBody>
      </p:sp>
      <p:sp>
        <p:nvSpPr>
          <p:cNvPr id="174" name="Google Shape;174;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Internet of Things</a:t>
            </a:r>
            <a:endParaRPr/>
          </a:p>
        </p:txBody>
      </p:sp>
      <p:sp>
        <p:nvSpPr>
          <p:cNvPr id="175" name="Google Shape;175;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a:t>
            </a:fld>
            <a:endParaRPr/>
          </a:p>
        </p:txBody>
      </p:sp>
    </p:spTree>
    <p:extLst>
      <p:ext uri="{BB962C8B-B14F-4D97-AF65-F5344CB8AC3E}">
        <p14:creationId xmlns:p14="http://schemas.microsoft.com/office/powerpoint/2010/main" val="4253602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2292</TotalTime>
  <Words>307</Words>
  <Application>Microsoft Office PowerPoint</Application>
  <PresentationFormat>Widescreen</PresentationFormat>
  <Paragraphs>92</Paragraphs>
  <Slides>10</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Calibri Light</vt:lpstr>
      <vt:lpstr>Office Theme</vt:lpstr>
      <vt:lpstr>Internet of Things: Addressing &amp; Identification Lect. # 7</vt:lpstr>
      <vt:lpstr>IPV4 addressing</vt:lpstr>
      <vt:lpstr>Special Addresses</vt:lpstr>
      <vt:lpstr>Special addresses </vt:lpstr>
      <vt:lpstr>IPV4 Packet header</vt:lpstr>
      <vt:lpstr>IP Header Format </vt:lpstr>
      <vt:lpstr>IP Header details</vt:lpstr>
      <vt:lpstr>PowerPoint Presentation</vt:lpstr>
      <vt:lpstr>PowerPoint Presentation</vt:lpstr>
      <vt:lpstr>IP Fragments &amp; Reassembly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Internet of Things: IoT Architecture Lect #4</dc:title>
  <dc:creator>suchismita chinara</dc:creator>
  <cp:lastModifiedBy>admin</cp:lastModifiedBy>
  <cp:revision>18</cp:revision>
  <dcterms:created xsi:type="dcterms:W3CDTF">2021-09-07T17:40:53Z</dcterms:created>
  <dcterms:modified xsi:type="dcterms:W3CDTF">2026-08-07T07:39:29Z</dcterms:modified>
</cp:coreProperties>
</file>