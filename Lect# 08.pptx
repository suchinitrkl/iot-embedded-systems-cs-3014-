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99A57-CCB8-473A-B7C9-AA1C61ECBA3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37DCE-3EBC-4AA4-9401-97C6F231F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33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2074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9116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6828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5399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2354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5380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6995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376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1192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0D3C-0563-44BA-8FFC-0E78B53D0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0AF3D-491A-4284-88B0-E2F80B0CA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B474B-6765-4137-B16D-BF7C7DA8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DEEA2-3259-47E3-8739-2013658E0290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1AEF5-746F-4D51-B820-59B6FA65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4057A-ABC8-41F9-851A-8FFFB6CA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49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BE09-80A3-403B-9E7F-9A43C0F5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D316E-D63E-4A72-AEBE-88BFF3EAE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AE32E-20CE-42A4-B4C3-FF8E1B87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87A5-6A08-4BCD-889B-CA12EAA2F92B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14AC0-6D6A-435C-A843-38714931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B1C95-77FF-4951-9F06-81404ACD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77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E035-CC8D-4EF1-8C0A-F03E3700A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4F340-2D57-4940-8361-2552E917B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C60D4-5F8F-4EBE-A014-98195DA6E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45565-FFCD-43C9-89C9-B216EEE79B9F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D433E-7A2E-41FA-A4C8-4328C3D9F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E9F6A-28FB-44AC-BD1F-895DF3DF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810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BF9E-EDB8-4145-A0CB-0C8E30D4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556E3-3C6B-4787-803D-3E55A6671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D8EBB-65B2-475E-938E-EF1AEC792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9F653-C66B-417F-AF50-20E001A8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848D-AEDF-4D56-BA21-C42A977B8161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B54F7-F6A4-48BB-9643-B43B9DF8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1E68A-14D6-4E1B-A69A-A668C912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659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91BF-C3F4-44EF-9C05-907699558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08299-7CEA-4DD1-A896-C0CA238A9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F293A-E911-4751-A90C-FB8CCA1A7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79B84-77AD-4741-99A3-0CA2DEAEE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85BAB-8387-4B1C-BA64-B87E18501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D8352-9568-42EB-A4E0-591F6715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8738-DA99-493E-B22C-05884FB38EEA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A2DDFD-E320-4190-8CB8-53AAC71C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FFE32-9B7B-4675-89BB-28E4CCFB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82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FB30-D47A-4B56-8618-FE4665DB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B7AEE-0B13-4BB2-A8D6-0A1868E4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2794-A41E-44A9-9C03-50917367F206}" type="datetime1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5BAB8-3779-4632-95FC-E3C2D36B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B3A41-5178-4B87-930A-593A5401A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0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6D19D-CEEA-4C71-8ACE-E3C930B7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B39B2-8A63-40EC-8F83-6027CB1E1DC0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90D31-84B1-4035-8BFF-405F4EAE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A1E33-9D5F-42BC-99BE-F6BD93D9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0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60C-2010-425A-8BAB-E0FC9B96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9FE54-9FAA-4A93-AB7A-313314157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80441-2880-4097-A23C-436681977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7BA7E-7625-400C-A551-EBF98FAA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99CAA-CC88-4EAB-9DC3-FBE2D6D5FB51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A1225-0931-4F50-828D-29A60070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763FE-BFB7-4F3B-88DF-12A112B6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118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6374-88C9-4260-90E2-91E2B030F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30EE8-D131-485C-83E5-1B02A6D97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96B6F-31FE-45D1-8932-232D13E3D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2300E-3890-4FDD-BB6F-D4E5A2479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55472-D5C8-431A-9DBE-4AD1981CC917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83756-6487-4202-B85C-03CA296AF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C2F0E-9CA7-44C8-8673-74BC2EA56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23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2F91-A97A-454A-BD18-F255043D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14E5A-A928-48E9-8F07-D9B4BA9D1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EA1E6-FCDA-4291-A7EE-191BE1D8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C13C-088B-4CBA-B727-CD0E3A936532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D6F28-397E-4A79-BA24-23BE1CBC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E7B42-2464-4EC3-8B77-95F42407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383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0135AF-38F8-4195-AD4B-5F9D32D55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61F08-DD2B-4D88-9933-B95874337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33029-902D-4931-AB13-0ECD5655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9E8-B562-4EFA-AD16-35611BA68852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07E64-A38F-490A-8FC5-D44779EFC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275B-220F-4434-8A9D-0B7299621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090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1A138-F44F-42C1-B843-C83EE3B5E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4C787-FB94-4446-8DBB-B2743CC0D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463EC-2042-4EE6-8932-4355D4DC91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54FBC-90F6-4C63-A433-3E5582E30863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D464C-E1CD-4D0E-B501-499043B4B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06FF5-F446-4EF0-BADD-E47032606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1AEB9-D6FC-49D6-9EFD-DF69E16FD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12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122362"/>
            <a:ext cx="11338560" cy="2911157"/>
          </a:xfrm>
        </p:spPr>
        <p:txBody>
          <a:bodyPr>
            <a:normAutofit/>
          </a:bodyPr>
          <a:lstStyle/>
          <a:p>
            <a:r>
              <a:rPr lang="en-US" b="1" dirty="0"/>
              <a:t>Internet of Things: </a:t>
            </a:r>
            <a:r>
              <a:rPr lang="en-US" b="1" dirty="0" smtClean="0"/>
              <a:t>IP Design</a:t>
            </a:r>
            <a:br>
              <a:rPr lang="en-US" b="1" dirty="0" smtClean="0"/>
            </a:br>
            <a:r>
              <a:rPr lang="en-US" b="1" dirty="0" err="1" smtClean="0"/>
              <a:t>Lect</a:t>
            </a:r>
            <a:r>
              <a:rPr lang="en-US" b="1" dirty="0" smtClean="0"/>
              <a:t> # 08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91186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Prof. </a:t>
            </a:r>
            <a:r>
              <a:rPr lang="en-US" b="1" dirty="0" err="1"/>
              <a:t>Suchismita</a:t>
            </a:r>
            <a:r>
              <a:rPr lang="en-US" b="1" dirty="0"/>
              <a:t> </a:t>
            </a:r>
            <a:r>
              <a:rPr lang="en-US" b="1" dirty="0" err="1"/>
              <a:t>Chinara</a:t>
            </a:r>
            <a:endParaRPr lang="en-US" b="1" dirty="0"/>
          </a:p>
          <a:p>
            <a:r>
              <a:rPr lang="en-US" b="1" dirty="0"/>
              <a:t>Dept. of Computer Science </a:t>
            </a:r>
            <a:r>
              <a:rPr lang="en-US" b="1" dirty="0" err="1"/>
              <a:t>Engg</a:t>
            </a:r>
            <a:r>
              <a:rPr lang="en-US" b="1" dirty="0"/>
              <a:t>.</a:t>
            </a:r>
          </a:p>
          <a:p>
            <a:r>
              <a:rPr lang="en-US" b="1" dirty="0"/>
              <a:t>National Institute of Technology Rourkela-769008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689D-FADA-4B9C-9FAC-911B8DD7A5AE}" type="datetime1">
              <a:rPr lang="en-IN" smtClean="0"/>
              <a:t>27-08-2026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56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Internet Protocol Design </a:t>
            </a:r>
            <a:endParaRPr b="1"/>
          </a:p>
        </p:txBody>
      </p:sp>
      <p:pic>
        <p:nvPicPr>
          <p:cNvPr id="181" name="Google Shape;181;p11" descr="Ch9:IP module components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30950" y="1291950"/>
            <a:ext cx="9692700" cy="52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05-07-2022</a:t>
            </a:r>
            <a:endParaRPr/>
          </a:p>
        </p:txBody>
      </p:sp>
      <p:sp>
        <p:nvSpPr>
          <p:cNvPr id="183" name="Google Shape;18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of Things</a:t>
            </a:r>
            <a:endParaRPr/>
          </a:p>
        </p:txBody>
      </p:sp>
      <p:sp>
        <p:nvSpPr>
          <p:cNvPr id="184" name="Google Shape;18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850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284480" y="365125"/>
            <a:ext cx="115214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Open Sans"/>
              <a:buNone/>
            </a:pPr>
            <a:r>
              <a:rPr lang="en-US" b="1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IP involves the following components:</a:t>
            </a:r>
            <a:endParaRPr b="1"/>
          </a:p>
        </p:txBody>
      </p:sp>
      <p:sp>
        <p:nvSpPr>
          <p:cNvPr id="190" name="Google Shape;19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Header-adding module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Processing module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Forwarding module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Reassembly module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Reassembly table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Routing table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MTU table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91" name="Google Shape;19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05-07-2022</a:t>
            </a:r>
            <a:endParaRPr/>
          </a:p>
        </p:txBody>
      </p:sp>
      <p:sp>
        <p:nvSpPr>
          <p:cNvPr id="192" name="Google Shape;19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of Things</a:t>
            </a:r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83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Header Adding Module</a:t>
            </a:r>
            <a:endParaRPr b="1"/>
          </a:p>
        </p:txBody>
      </p:sp>
      <p:sp>
        <p:nvSpPr>
          <p:cNvPr id="199" name="Google Shape;19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Header Adding Module receives data from an upper layer protocol along with the destination IP address.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It encapsulates the data in an IP datagram by adding the IP header.</a:t>
            </a:r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05-07-2022</a:t>
            </a:r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of Things</a:t>
            </a:r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528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Processing Module</a:t>
            </a:r>
            <a:endParaRPr b="1"/>
          </a:p>
        </p:txBody>
      </p:sp>
      <p:sp>
        <p:nvSpPr>
          <p:cNvPr id="208" name="Google Shape;208;p14"/>
          <p:cNvSpPr txBox="1">
            <a:spLocks noGrp="1"/>
          </p:cNvSpPr>
          <p:nvPr>
            <p:ph type="body" idx="1"/>
          </p:nvPr>
        </p:nvSpPr>
        <p:spPr>
          <a:xfrm>
            <a:off x="838200" y="1432560"/>
            <a:ext cx="10815320" cy="498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processing module receives the datagram from an Interface or from the Header-adding module and does the following: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Remove a datagram from one of the input queues.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If the destination address matches loopback address or local address, Send the packet to Reassembly module.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If the machine is a router,</a:t>
            </a:r>
            <a:endParaRPr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24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decrease TTL.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If TTL is less than or equal to 0,</a:t>
            </a:r>
            <a:endParaRPr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24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discard the datagram.</a:t>
            </a:r>
            <a:endParaRPr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24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else send the datagram to the forwarding module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05-07-2022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of Things</a:t>
            </a:r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803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The input queue / The output queue</a:t>
            </a:r>
            <a:endParaRPr b="1"/>
          </a:p>
        </p:txBody>
      </p:sp>
      <p:sp>
        <p:nvSpPr>
          <p:cNvPr id="217" name="Google Shape;217;p15"/>
          <p:cNvSpPr txBox="1">
            <a:spLocks noGrp="1"/>
          </p:cNvSpPr>
          <p:nvPr>
            <p:ph type="body" idx="1"/>
          </p:nvPr>
        </p:nvSpPr>
        <p:spPr>
          <a:xfrm>
            <a:off x="838200" y="1437626"/>
            <a:ext cx="10515600" cy="47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input queues store the datagrams coming from the data link layer or the upper layer protocols.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output queues store the datagrams going to the data link layer or the upper layer protocols.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processing module removes datagrams from the input queues.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fragmentation and reassembly modules add the datagram into the output queues.</a:t>
            </a:r>
            <a:endParaRPr/>
          </a:p>
        </p:txBody>
      </p:sp>
      <p:sp>
        <p:nvSpPr>
          <p:cNvPr id="218" name="Google Shape;21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05-07-2022</a:t>
            </a:r>
            <a:endParaRPr/>
          </a:p>
        </p:txBody>
      </p:sp>
      <p:sp>
        <p:nvSpPr>
          <p:cNvPr id="219" name="Google Shape;21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of Things</a:t>
            </a:r>
            <a:endParaRPr/>
          </a:p>
        </p:txBody>
      </p:sp>
      <p:sp>
        <p:nvSpPr>
          <p:cNvPr id="220" name="Google Shape;22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1825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Forwarding module</a:t>
            </a:r>
            <a:endParaRPr b="1"/>
          </a:p>
        </p:txBody>
      </p:sp>
      <p:sp>
        <p:nvSpPr>
          <p:cNvPr id="226" name="Google Shape;226;p16"/>
          <p:cNvSpPr txBox="1">
            <a:spLocks noGrp="1"/>
          </p:cNvSpPr>
          <p:nvPr>
            <p:ph type="body" idx="1"/>
          </p:nvPr>
        </p:nvSpPr>
        <p:spPr>
          <a:xfrm>
            <a:off x="838200" y="1544501"/>
            <a:ext cx="10515600" cy="4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forwarding module receives an IP packet from the processing module.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module finds the IP address of the next-hop along with the interface number to which the packet should be sent.</a:t>
            </a:r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05-07-2022</a:t>
            </a:r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of Things</a:t>
            </a:r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4437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MTU Table</a:t>
            </a:r>
            <a:endParaRPr b="1" dirty="0"/>
          </a:p>
        </p:txBody>
      </p:sp>
      <p:sp>
        <p:nvSpPr>
          <p:cNvPr id="235" name="Google Shape;235;p17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10515600" cy="503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 The MTU table has two columns Interface number and MTU.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MTU table is used by the fragmentation module to find the maximum transfer unit of a particular interface.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Fragmentation module consults the MTU table to find the MTU of the specific interface number.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If the length of the datagram is larger than the MTU, the fragmentation module fragments the datagrams, adds a header to each fragment and sends them to the ARP package for address resolution and delivery.</a:t>
            </a:r>
            <a:endParaRPr dirty="0"/>
          </a:p>
        </p:txBody>
      </p:sp>
      <p:sp>
        <p:nvSpPr>
          <p:cNvPr id="236" name="Google Shape;23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05-07-2022</a:t>
            </a:r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of Things</a:t>
            </a:r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276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Fragmentation Module</a:t>
            </a:r>
            <a:endParaRPr b="1"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Extract the size of the datagram.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If size is greater than the MTU of the corresponding network.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If “D” bit is set, a discard the datagram. Else, divided the datagram into fragments, add header to each fragment. Add required options to each fragment. Send the datagram.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Else send the datagram.</a:t>
            </a:r>
            <a:endParaRPr/>
          </a:p>
          <a:p>
            <a:pPr marL="514350" lvl="0" indent="-336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b="0" i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05-07-2022</a:t>
            </a:r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of Things</a:t>
            </a:r>
            <a:endParaRPr/>
          </a:p>
        </p:txBody>
      </p:sp>
      <p:sp>
        <p:nvSpPr>
          <p:cNvPr id="247" name="Google Shape;24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6156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Reassembly Module</a:t>
            </a:r>
            <a:endParaRPr b="1"/>
          </a:p>
        </p:txBody>
      </p:sp>
      <p:sp>
        <p:nvSpPr>
          <p:cNvPr id="253" name="Google Shape;253;p19"/>
          <p:cNvSpPr txBox="1">
            <a:spLocks noGrp="1"/>
          </p:cNvSpPr>
          <p:nvPr>
            <p:ph type="body" idx="1"/>
          </p:nvPr>
        </p:nvSpPr>
        <p:spPr>
          <a:xfrm>
            <a:off x="838200" y="1574800"/>
            <a:ext cx="10515600" cy="460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If offset value is 0 and the “more fragment” bit is 0, send the datagram to the appropriate queue.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Else search the reassembly table for the corresponding entry.(Same D.I. and S.A.)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If not found, create a new entry.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Insert the fragment at the appropriate place in the linked list.(based on the offset)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If all fragments had arrived (“M”-bit and offset), reassembly the fragments, deliver the datagram to the upper layer protocol.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Calibri"/>
              <a:buAutoNum type="arabicPeriod"/>
            </a:pPr>
            <a:r>
              <a:rPr lang="en-US" b="0" i="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Check the T.O., if the T.O. expired discard all fragments.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54" name="Google Shape;25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05-07-2022</a:t>
            </a:r>
            <a:endParaRPr/>
          </a:p>
        </p:txBody>
      </p:sp>
      <p:sp>
        <p:nvSpPr>
          <p:cNvPr id="255" name="Google Shape;25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of Things</a:t>
            </a:r>
            <a:endParaRPr/>
          </a:p>
        </p:txBody>
      </p:sp>
      <p:sp>
        <p:nvSpPr>
          <p:cNvPr id="256" name="Google Shape;25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740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B084-C2CD-4D76-88E7-F3D06FDB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552"/>
          </a:xfrm>
        </p:spPr>
        <p:txBody>
          <a:bodyPr/>
          <a:lstStyle/>
          <a:p>
            <a:r>
              <a:rPr lang="en-US" b="1" dirty="0"/>
              <a:t>IPV6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943A-3363-404D-8BAF-CD1C33CDE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031"/>
            <a:ext cx="10515600" cy="4611932"/>
          </a:xfrm>
        </p:spPr>
        <p:txBody>
          <a:bodyPr/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is a growing shortage of IPv4 addresses, which are needed for all new devices added to the Internet. </a:t>
            </a:r>
          </a:p>
          <a:p>
            <a:r>
              <a:rPr 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key to IPv6 enhancement is the expansion of the IP address space from 32 bits to 128 bits, enabling </a:t>
            </a:r>
            <a:r>
              <a:rPr lang="en-US" b="0" i="0" dirty="0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large address space. </a:t>
            </a:r>
            <a:endParaRPr lang="en-US" b="0" i="0" dirty="0">
              <a:solidFill>
                <a:srgbClr val="16161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new IPv6  address text format is: </a:t>
            </a:r>
            <a:r>
              <a:rPr lang="en-US" b="0" i="0" dirty="0" err="1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n-US" b="0" i="0" dirty="0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b="0" i="0" dirty="0" err="1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n-US" b="0" i="0" dirty="0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b="0" i="0" dirty="0" err="1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n-US" b="0" i="0" dirty="0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b="0" i="0" dirty="0" err="1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n-US" b="0" i="0" dirty="0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b="0" i="0" dirty="0" err="1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n-US" b="0" i="0" dirty="0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b="0" i="0" dirty="0" err="1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n-US" b="0" i="0" dirty="0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b="0" i="0" dirty="0" err="1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n-US" b="0" i="0" dirty="0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b="0" i="0" dirty="0" err="1" smtClean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en-US" b="0" i="0" dirty="0">
              <a:solidFill>
                <a:srgbClr val="16161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each </a:t>
            </a:r>
            <a:r>
              <a:rPr 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a hexadecimal digit representing 4 bits.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F0F88E-A6B9-46A2-8EC5-35813553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FE0BD-F067-451C-A31A-69A2D9190059}" type="datetime1">
              <a:rPr lang="en-IN" smtClean="0"/>
              <a:t>27-08-2026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86F0CB-67E9-4102-A494-B8020D1B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FEF9E9-B11C-44FA-B544-AA926AF7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8768-2CD0-45F0-94EF-956D876D031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82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DF9C-48AE-4938-8B75-A31576D0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5008"/>
          </a:xfrm>
        </p:spPr>
        <p:txBody>
          <a:bodyPr/>
          <a:lstStyle/>
          <a:p>
            <a:r>
              <a:rPr lang="en-US" b="1" dirty="0"/>
              <a:t>IPV6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05A36-0812-4514-92F2-48D6EC7E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134"/>
            <a:ext cx="10515600" cy="51168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network component </a:t>
            </a:r>
            <a:r>
              <a:rPr lang="en-US" dirty="0"/>
              <a:t>and a </a:t>
            </a:r>
            <a:r>
              <a:rPr lang="en-US" b="1" dirty="0"/>
              <a:t>node component </a:t>
            </a:r>
            <a:r>
              <a:rPr lang="en-US" dirty="0"/>
              <a:t>make up an IPv6 address.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first 64 bits of the address, which are used for routing, are the network component.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later 64 bits </a:t>
            </a:r>
            <a:r>
              <a:rPr lang="en-US" dirty="0" smtClean="0"/>
              <a:t>of </a:t>
            </a:r>
            <a:r>
              <a:rPr lang="en-US" dirty="0"/>
              <a:t>the </a:t>
            </a:r>
            <a:r>
              <a:rPr lang="en-US" dirty="0" smtClean="0"/>
              <a:t>address, </a:t>
            </a:r>
            <a:r>
              <a:rPr lang="en-US" dirty="0"/>
              <a:t>the node </a:t>
            </a:r>
            <a:r>
              <a:rPr lang="en-US" dirty="0" smtClean="0"/>
              <a:t>component</a:t>
            </a:r>
            <a:r>
              <a:rPr lang="en-US" dirty="0"/>
              <a:t> </a:t>
            </a:r>
            <a:r>
              <a:rPr lang="en-US" dirty="0" smtClean="0"/>
              <a:t>are used to identify the interface.</a:t>
            </a:r>
            <a:endParaRPr lang="en-US" dirty="0"/>
          </a:p>
          <a:p>
            <a:r>
              <a:rPr lang="en-US" dirty="0"/>
              <a:t>A block of 48 bits, as well as a block of 16 bits, can be created from the network node. </a:t>
            </a:r>
            <a:endParaRPr lang="en-US" dirty="0" smtClean="0"/>
          </a:p>
          <a:p>
            <a:r>
              <a:rPr lang="en-US" dirty="0" smtClean="0"/>
              <a:t>Global </a:t>
            </a:r>
            <a:r>
              <a:rPr lang="en-US" dirty="0"/>
              <a:t>network addresses are stored in the upper 48 bits of the section. </a:t>
            </a:r>
            <a:endParaRPr lang="en-US" dirty="0" smtClean="0"/>
          </a:p>
          <a:p>
            <a:r>
              <a:rPr lang="en-US" dirty="0" smtClean="0"/>
              <a:t>On </a:t>
            </a:r>
            <a:r>
              <a:rPr lang="en-US" dirty="0"/>
              <a:t>an internal network, subnets are created using the lower 16-bit segment, which is managed by network administrators.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6E797-2C38-4D5E-93BA-1A9FCF75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4C24-EA97-4D97-B328-929680D5F202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7CDB-0514-4D92-A0F7-FAA5A271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FD186-63C3-400C-8018-E4E2ED17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8768-2CD0-45F0-94EF-956D876D031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17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4741"/>
          </a:xfrm>
        </p:spPr>
        <p:txBody>
          <a:bodyPr/>
          <a:lstStyle/>
          <a:p>
            <a:r>
              <a:rPr lang="en-US" dirty="0" smtClean="0"/>
              <a:t>IPV6 address format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7191" y="1454454"/>
            <a:ext cx="3401524" cy="205930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87A5-6A08-4BCD-889B-CA12EAA2F92B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Internet of Things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1AEB9-D6FC-49D6-9EFD-DF69E16FDA8B}" type="slidenum">
              <a:rPr lang="en-IN" smtClean="0"/>
              <a:t>13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033" y="1454454"/>
            <a:ext cx="6545134" cy="17833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9069" y="3656120"/>
            <a:ext cx="1088194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The prefix describes the 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public topology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that is usually allocated to your site by an ISP or Regional Internet Registry (RIR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subnet ID describes the </a:t>
            </a:r>
            <a:r>
              <a:rPr lang="en-US" sz="2000" b="1" dirty="0"/>
              <a:t>private topology</a:t>
            </a:r>
            <a:r>
              <a:rPr lang="en-US" sz="2000" dirty="0"/>
              <a:t>, also known as the </a:t>
            </a:r>
            <a:r>
              <a:rPr lang="en-US" sz="2000" b="1" dirty="0"/>
              <a:t>site </a:t>
            </a:r>
            <a:r>
              <a:rPr lang="en-US" sz="2000" b="1" dirty="0" smtClean="0"/>
              <a:t>topology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 smtClean="0"/>
              <a:t>For example in IPV6 address - </a:t>
            </a:r>
            <a:r>
              <a:rPr lang="en-IN" sz="2000" dirty="0" smtClean="0">
                <a:solidFill>
                  <a:srgbClr val="FF0000"/>
                </a:solidFill>
              </a:rPr>
              <a:t>2001:0db8:3c4d:0015:0000:0000:1a2f:1a2b</a:t>
            </a:r>
          </a:p>
          <a:p>
            <a:pPr algn="just"/>
            <a:r>
              <a:rPr lang="en-US" sz="2000" dirty="0" smtClean="0"/>
              <a:t>	The first 48 bits </a:t>
            </a:r>
            <a:r>
              <a:rPr lang="en-IN" sz="2000" dirty="0" smtClean="0">
                <a:solidFill>
                  <a:srgbClr val="FF0000"/>
                </a:solidFill>
              </a:rPr>
              <a:t>2001:0db8:3c4d </a:t>
            </a:r>
            <a:r>
              <a:rPr lang="en-IN" sz="2000" dirty="0" smtClean="0"/>
              <a:t>contain the site prefix, representing the public topology.</a:t>
            </a:r>
          </a:p>
          <a:p>
            <a:pPr algn="just"/>
            <a:r>
              <a:rPr lang="en-US" sz="2000" dirty="0" smtClean="0"/>
              <a:t>	The next 16 bits </a:t>
            </a:r>
            <a:r>
              <a:rPr lang="en-IN" sz="2000" dirty="0" smtClean="0">
                <a:solidFill>
                  <a:srgbClr val="FF0000"/>
                </a:solidFill>
              </a:rPr>
              <a:t>0015 </a:t>
            </a:r>
            <a:r>
              <a:rPr lang="en-IN" sz="2000" dirty="0" smtClean="0"/>
              <a:t>contain the subnet ID, representing the private topology for the site</a:t>
            </a:r>
          </a:p>
          <a:p>
            <a:pPr algn="just"/>
            <a:r>
              <a:rPr lang="en-US" sz="2000" dirty="0" smtClean="0"/>
              <a:t>	The lower order 64 bits </a:t>
            </a:r>
            <a:r>
              <a:rPr lang="en-IN" sz="2000" dirty="0" smtClean="0">
                <a:solidFill>
                  <a:srgbClr val="FF0000"/>
                </a:solidFill>
              </a:rPr>
              <a:t>0000:0000:1a2f:1a2b </a:t>
            </a:r>
            <a:r>
              <a:rPr lang="en-IN" sz="2000" dirty="0" smtClean="0"/>
              <a:t>contain the interface ID.</a:t>
            </a:r>
            <a:endParaRPr lang="en-IN" sz="2000" dirty="0"/>
          </a:p>
          <a:p>
            <a:pPr algn="just"/>
            <a:r>
              <a:rPr lang="en-US" dirty="0" smtClean="0"/>
              <a:t> </a:t>
            </a:r>
            <a:endParaRPr lang="en-IN" dirty="0" smtClean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743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701</Words>
  <Application>Microsoft Office PowerPoint</Application>
  <PresentationFormat>Widescreen</PresentationFormat>
  <Paragraphs>111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Open Sans</vt:lpstr>
      <vt:lpstr>Office Theme</vt:lpstr>
      <vt:lpstr>Internet of Things: IP Design Lect # 08</vt:lpstr>
      <vt:lpstr>Internet Protocol Design </vt:lpstr>
      <vt:lpstr>The IP involves the following components:</vt:lpstr>
      <vt:lpstr>Header Adding Module</vt:lpstr>
      <vt:lpstr>Processing Module</vt:lpstr>
      <vt:lpstr>The input queue / The output queue</vt:lpstr>
      <vt:lpstr>Forwarding module</vt:lpstr>
      <vt:lpstr>MTU Table</vt:lpstr>
      <vt:lpstr>Fragmentation Module</vt:lpstr>
      <vt:lpstr>Reassembly Module</vt:lpstr>
      <vt:lpstr>IPV6 Overview</vt:lpstr>
      <vt:lpstr>IPV6 Overview</vt:lpstr>
      <vt:lpstr>IPV6 address format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of Things: Introduction to Sensors, Microcontrollers, and their Interfacing Lect #5</dc:title>
  <dc:creator>suchismita chinara</dc:creator>
  <cp:lastModifiedBy>admin</cp:lastModifiedBy>
  <cp:revision>19</cp:revision>
  <dcterms:created xsi:type="dcterms:W3CDTF">2021-09-12T18:09:27Z</dcterms:created>
  <dcterms:modified xsi:type="dcterms:W3CDTF">2026-08-27T08:12:43Z</dcterms:modified>
</cp:coreProperties>
</file>