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8604C-59A6-47C2-AB3B-5DB49B50D6BD}" type="datetimeFigureOut">
              <a:rPr lang="en-IN" smtClean="0"/>
              <a:t>10-09-2026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E46617-F7DF-4C7B-BCDB-5AF363E2E984}" type="slidenum">
              <a:rPr lang="en-IN" smtClean="0"/>
              <a:t>‹#›</a:t>
            </a:fld>
            <a:endParaRPr lang="en-IN"/>
          </a:p>
        </p:txBody>
      </p:sp>
    </p:spTree>
    <p:extLst>
      <p:ext uri="{BB962C8B-B14F-4D97-AF65-F5344CB8AC3E}">
        <p14:creationId xmlns:p14="http://schemas.microsoft.com/office/powerpoint/2010/main" val="3320006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7c3b57486c_1_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g27c3b57486c_1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4421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7c3b57486c_1_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g27c3b57486c_1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011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7c3b57486c_1_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g27c3b57486c_1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1289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7c3b57486c_1_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27c3b57486c_1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8696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7c3b57486c_1_1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g27c3b57486c_1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3653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5760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7861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1750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5741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4348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7986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890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199471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887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3974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0294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2720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42571989b7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g242571989b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826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42571989b7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242571989b7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34907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42571989b7_0_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g242571989b7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8276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42571989b7_0_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242571989b7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8623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42571989b7_0_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g242571989b7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6875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42571989b7_0_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g242571989b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5954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42571989b7_0_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g242571989b7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1584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42571989b7_0_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g242571989b7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7472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42571989b7_0_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242571989b7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5199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42571989b7_0_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g242571989b7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16997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42571989b7_0_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g242571989b7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37609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42571989b7_0_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g242571989b7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44593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42571989b7_0_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g242571989b7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33312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42571989b7_0_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g242571989b7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6511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42571989b7_0_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g242571989b7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07061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42571989b7_0_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242571989b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27322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42571989b7_0_1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g242571989b7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54945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42571989b7_0_1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g242571989b7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9843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42571989b7_0_1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g242571989b7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48933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42571989b7_0_1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g242571989b7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4204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42571989b7_0_1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g242571989b7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43086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42571989b7_0_1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g242571989b7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7862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42571989b7_0_1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g242571989b7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7878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42571989b7_0_1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g242571989b7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50732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42571989b7_0_1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g242571989b7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11584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42571989b7_0_1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g242571989b7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51382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242571989b7_0_1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g242571989b7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17145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42571989b7_0_1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g242571989b7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67402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42571989b7_0_2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g242571989b7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49110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42571989b7_0_2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g242571989b7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80497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42571989b7_0_2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g242571989b7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30795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242571989b7_0_2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g242571989b7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069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42571989b7_0_2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g242571989b7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48505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242571989b7_0_2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84" name="Google Shape;484;g242571989b7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8636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0184-C12B-4D9A-A84F-368172F470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EDF1B00-BBB7-48C8-BBE4-754C08CECD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B02BC0A-FB97-42C8-9B48-4DB773EF2C32}"/>
              </a:ext>
            </a:extLst>
          </p:cNvPr>
          <p:cNvSpPr>
            <a:spLocks noGrp="1"/>
          </p:cNvSpPr>
          <p:nvPr>
            <p:ph type="dt" sz="half" idx="10"/>
          </p:nvPr>
        </p:nvSpPr>
        <p:spPr/>
        <p:txBody>
          <a:bodyPr/>
          <a:lstStyle/>
          <a:p>
            <a:fld id="{BAC9F9D4-FC91-4A54-846B-6A814B8E3263}" type="datetime1">
              <a:rPr lang="en-US" smtClean="0"/>
              <a:t>9/10/2026</a:t>
            </a:fld>
            <a:endParaRPr lang="en-IN"/>
          </a:p>
        </p:txBody>
      </p:sp>
      <p:sp>
        <p:nvSpPr>
          <p:cNvPr id="5" name="Footer Placeholder 4">
            <a:extLst>
              <a:ext uri="{FF2B5EF4-FFF2-40B4-BE49-F238E27FC236}">
                <a16:creationId xmlns:a16="http://schemas.microsoft.com/office/drawing/2014/main" id="{6511D02C-7C17-48AC-ABA5-D22470327864}"/>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D398B571-A66B-45DD-ADB9-F6F5D60FEB4C}"/>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3120287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5982F-DC08-41B6-B5E0-0995948CA1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4D9022-DCDA-4FD4-86A8-39A118ED64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38C0D4-4D90-489E-AF32-79C07C099CAA}"/>
              </a:ext>
            </a:extLst>
          </p:cNvPr>
          <p:cNvSpPr>
            <a:spLocks noGrp="1"/>
          </p:cNvSpPr>
          <p:nvPr>
            <p:ph type="dt" sz="half" idx="10"/>
          </p:nvPr>
        </p:nvSpPr>
        <p:spPr/>
        <p:txBody>
          <a:bodyPr/>
          <a:lstStyle/>
          <a:p>
            <a:fld id="{C08077F0-E123-4415-B222-83943F92836A}" type="datetime1">
              <a:rPr lang="en-US" smtClean="0"/>
              <a:t>9/10/2026</a:t>
            </a:fld>
            <a:endParaRPr lang="en-IN"/>
          </a:p>
        </p:txBody>
      </p:sp>
      <p:sp>
        <p:nvSpPr>
          <p:cNvPr id="5" name="Footer Placeholder 4">
            <a:extLst>
              <a:ext uri="{FF2B5EF4-FFF2-40B4-BE49-F238E27FC236}">
                <a16:creationId xmlns:a16="http://schemas.microsoft.com/office/drawing/2014/main" id="{C382ED47-B9EB-4D05-BBDD-F74E968483D1}"/>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EAF2B922-F907-4BF9-9CC0-1F8CFE70359D}"/>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2628345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D750-1C79-4904-BC5E-7D09463BAD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A3CBD4-653C-4A0C-A8EC-F99C3B583C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B5D19-61AE-4831-A237-02B67E3ADA0F}"/>
              </a:ext>
            </a:extLst>
          </p:cNvPr>
          <p:cNvSpPr>
            <a:spLocks noGrp="1"/>
          </p:cNvSpPr>
          <p:nvPr>
            <p:ph type="dt" sz="half" idx="10"/>
          </p:nvPr>
        </p:nvSpPr>
        <p:spPr/>
        <p:txBody>
          <a:bodyPr/>
          <a:lstStyle/>
          <a:p>
            <a:fld id="{2DA55800-B179-418C-B422-7B1304635647}" type="datetime1">
              <a:rPr lang="en-US" smtClean="0"/>
              <a:t>9/10/2026</a:t>
            </a:fld>
            <a:endParaRPr lang="en-IN"/>
          </a:p>
        </p:txBody>
      </p:sp>
      <p:sp>
        <p:nvSpPr>
          <p:cNvPr id="5" name="Footer Placeholder 4">
            <a:extLst>
              <a:ext uri="{FF2B5EF4-FFF2-40B4-BE49-F238E27FC236}">
                <a16:creationId xmlns:a16="http://schemas.microsoft.com/office/drawing/2014/main" id="{8519A05B-E4B8-4857-BD5F-44932C982FF7}"/>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CAE6D816-980E-48A7-929D-DF1E2A1618F7}"/>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998330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8206C-371D-4290-BD9D-C43710C20A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74CADF-48E7-4DDD-ACFF-516F78C923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5BEC619-9531-42D1-898A-0EFBBF529F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D781D8-B91B-438F-9414-6A1C7B82826B}"/>
              </a:ext>
            </a:extLst>
          </p:cNvPr>
          <p:cNvSpPr>
            <a:spLocks noGrp="1"/>
          </p:cNvSpPr>
          <p:nvPr>
            <p:ph type="dt" sz="half" idx="10"/>
          </p:nvPr>
        </p:nvSpPr>
        <p:spPr/>
        <p:txBody>
          <a:bodyPr/>
          <a:lstStyle/>
          <a:p>
            <a:fld id="{89DC573F-C110-4DB8-AAB1-313970F5B184}" type="datetime1">
              <a:rPr lang="en-US" smtClean="0"/>
              <a:t>9/10/2026</a:t>
            </a:fld>
            <a:endParaRPr lang="en-IN"/>
          </a:p>
        </p:txBody>
      </p:sp>
      <p:sp>
        <p:nvSpPr>
          <p:cNvPr id="6" name="Footer Placeholder 5">
            <a:extLst>
              <a:ext uri="{FF2B5EF4-FFF2-40B4-BE49-F238E27FC236}">
                <a16:creationId xmlns:a16="http://schemas.microsoft.com/office/drawing/2014/main" id="{E5AF4A49-47D6-47E0-A9F2-A20FEE155B54}"/>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BA711406-E034-4A18-BAB1-09572DDFBC20}"/>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2389340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92784-B3FE-4D6E-97FA-CF71691FF21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B8DE5A-B0AA-4392-8DAC-7BD82AB31E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D0FB64-F892-4CFC-AFEE-0069DEB0C3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C075D7-CAE7-4814-9E63-244F226D73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8EAA73-2C2E-4999-88F2-CB256AEC5F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209627-6B14-40C3-BF82-33E6BB21DFCF}"/>
              </a:ext>
            </a:extLst>
          </p:cNvPr>
          <p:cNvSpPr>
            <a:spLocks noGrp="1"/>
          </p:cNvSpPr>
          <p:nvPr>
            <p:ph type="dt" sz="half" idx="10"/>
          </p:nvPr>
        </p:nvSpPr>
        <p:spPr/>
        <p:txBody>
          <a:bodyPr/>
          <a:lstStyle/>
          <a:p>
            <a:fld id="{B0ADA634-B54D-40ED-897D-D0E182DD6395}" type="datetime1">
              <a:rPr lang="en-US" smtClean="0"/>
              <a:t>9/10/2026</a:t>
            </a:fld>
            <a:endParaRPr lang="en-IN"/>
          </a:p>
        </p:txBody>
      </p:sp>
      <p:sp>
        <p:nvSpPr>
          <p:cNvPr id="8" name="Footer Placeholder 7">
            <a:extLst>
              <a:ext uri="{FF2B5EF4-FFF2-40B4-BE49-F238E27FC236}">
                <a16:creationId xmlns:a16="http://schemas.microsoft.com/office/drawing/2014/main" id="{983B67BA-A5BE-405E-B0A7-8A88B41D5900}"/>
              </a:ext>
            </a:extLst>
          </p:cNvPr>
          <p:cNvSpPr>
            <a:spLocks noGrp="1"/>
          </p:cNvSpPr>
          <p:nvPr>
            <p:ph type="ftr" sz="quarter" idx="11"/>
          </p:nvPr>
        </p:nvSpPr>
        <p:spPr/>
        <p:txBody>
          <a:bodyPr/>
          <a:lstStyle/>
          <a:p>
            <a:r>
              <a:rPr lang="en-IN"/>
              <a:t>Internet of Things</a:t>
            </a:r>
          </a:p>
        </p:txBody>
      </p:sp>
      <p:sp>
        <p:nvSpPr>
          <p:cNvPr id="9" name="Slide Number Placeholder 8">
            <a:extLst>
              <a:ext uri="{FF2B5EF4-FFF2-40B4-BE49-F238E27FC236}">
                <a16:creationId xmlns:a16="http://schemas.microsoft.com/office/drawing/2014/main" id="{D646FE9C-ADE9-4EAB-BEFE-43C5F0DE0705}"/>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2143567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5112F-D112-433C-969E-C155194EBF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50C0C1-B309-4F4F-9AA1-7C047D513E8F}"/>
              </a:ext>
            </a:extLst>
          </p:cNvPr>
          <p:cNvSpPr>
            <a:spLocks noGrp="1"/>
          </p:cNvSpPr>
          <p:nvPr>
            <p:ph type="dt" sz="half" idx="10"/>
          </p:nvPr>
        </p:nvSpPr>
        <p:spPr/>
        <p:txBody>
          <a:bodyPr/>
          <a:lstStyle/>
          <a:p>
            <a:fld id="{5BCC8232-1538-4E90-A3C2-5F1C2A296F6C}" type="datetime1">
              <a:rPr lang="en-US" smtClean="0"/>
              <a:t>9/10/2026</a:t>
            </a:fld>
            <a:endParaRPr lang="en-IN"/>
          </a:p>
        </p:txBody>
      </p:sp>
      <p:sp>
        <p:nvSpPr>
          <p:cNvPr id="4" name="Footer Placeholder 3">
            <a:extLst>
              <a:ext uri="{FF2B5EF4-FFF2-40B4-BE49-F238E27FC236}">
                <a16:creationId xmlns:a16="http://schemas.microsoft.com/office/drawing/2014/main" id="{0B5F091C-344C-4AF5-8539-8EFCD0796A4B}"/>
              </a:ext>
            </a:extLst>
          </p:cNvPr>
          <p:cNvSpPr>
            <a:spLocks noGrp="1"/>
          </p:cNvSpPr>
          <p:nvPr>
            <p:ph type="ftr" sz="quarter" idx="11"/>
          </p:nvPr>
        </p:nvSpPr>
        <p:spPr/>
        <p:txBody>
          <a:bodyPr/>
          <a:lstStyle/>
          <a:p>
            <a:r>
              <a:rPr lang="en-IN"/>
              <a:t>Internet of Things</a:t>
            </a:r>
          </a:p>
        </p:txBody>
      </p:sp>
      <p:sp>
        <p:nvSpPr>
          <p:cNvPr id="5" name="Slide Number Placeholder 4">
            <a:extLst>
              <a:ext uri="{FF2B5EF4-FFF2-40B4-BE49-F238E27FC236}">
                <a16:creationId xmlns:a16="http://schemas.microsoft.com/office/drawing/2014/main" id="{9E396D98-B295-4775-A6C4-45EDD4441BC3}"/>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2884964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BB5446-A96B-4357-A35E-E75EF52AA38A}"/>
              </a:ext>
            </a:extLst>
          </p:cNvPr>
          <p:cNvSpPr>
            <a:spLocks noGrp="1"/>
          </p:cNvSpPr>
          <p:nvPr>
            <p:ph type="dt" sz="half" idx="10"/>
          </p:nvPr>
        </p:nvSpPr>
        <p:spPr/>
        <p:txBody>
          <a:bodyPr/>
          <a:lstStyle/>
          <a:p>
            <a:fld id="{9872688D-03A1-4E9F-9792-A53BA4C52A3C}" type="datetime1">
              <a:rPr lang="en-US" smtClean="0"/>
              <a:t>9/10/2026</a:t>
            </a:fld>
            <a:endParaRPr lang="en-IN"/>
          </a:p>
        </p:txBody>
      </p:sp>
      <p:sp>
        <p:nvSpPr>
          <p:cNvPr id="3" name="Footer Placeholder 2">
            <a:extLst>
              <a:ext uri="{FF2B5EF4-FFF2-40B4-BE49-F238E27FC236}">
                <a16:creationId xmlns:a16="http://schemas.microsoft.com/office/drawing/2014/main" id="{28228172-4DE5-4296-8D1F-46B3AC66787D}"/>
              </a:ext>
            </a:extLst>
          </p:cNvPr>
          <p:cNvSpPr>
            <a:spLocks noGrp="1"/>
          </p:cNvSpPr>
          <p:nvPr>
            <p:ph type="ftr" sz="quarter" idx="11"/>
          </p:nvPr>
        </p:nvSpPr>
        <p:spPr/>
        <p:txBody>
          <a:bodyPr/>
          <a:lstStyle/>
          <a:p>
            <a:r>
              <a:rPr lang="en-IN"/>
              <a:t>Internet of Things</a:t>
            </a:r>
          </a:p>
        </p:txBody>
      </p:sp>
      <p:sp>
        <p:nvSpPr>
          <p:cNvPr id="4" name="Slide Number Placeholder 3">
            <a:extLst>
              <a:ext uri="{FF2B5EF4-FFF2-40B4-BE49-F238E27FC236}">
                <a16:creationId xmlns:a16="http://schemas.microsoft.com/office/drawing/2014/main" id="{D6CC50A6-EE1D-4F4B-B382-F29862BA0DE8}"/>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1339087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5792-C283-4089-8200-FDC514E537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6EDE6C-BECC-4C59-93F2-B4EACF4C2F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4182859-94F1-4460-AD83-2E375BA1B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90A76F-7322-45C4-9D82-9244372F13E2}"/>
              </a:ext>
            </a:extLst>
          </p:cNvPr>
          <p:cNvSpPr>
            <a:spLocks noGrp="1"/>
          </p:cNvSpPr>
          <p:nvPr>
            <p:ph type="dt" sz="half" idx="10"/>
          </p:nvPr>
        </p:nvSpPr>
        <p:spPr/>
        <p:txBody>
          <a:bodyPr/>
          <a:lstStyle/>
          <a:p>
            <a:fld id="{FADD4F0A-E1A6-45E8-83DF-2EE6FD650EAE}" type="datetime1">
              <a:rPr lang="en-US" smtClean="0"/>
              <a:t>9/10/2026</a:t>
            </a:fld>
            <a:endParaRPr lang="en-IN"/>
          </a:p>
        </p:txBody>
      </p:sp>
      <p:sp>
        <p:nvSpPr>
          <p:cNvPr id="6" name="Footer Placeholder 5">
            <a:extLst>
              <a:ext uri="{FF2B5EF4-FFF2-40B4-BE49-F238E27FC236}">
                <a16:creationId xmlns:a16="http://schemas.microsoft.com/office/drawing/2014/main" id="{CF3F2FA7-F9AA-4FBC-9A48-A209F42F5F03}"/>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F633B49C-A1B6-498A-A622-D47885F0F364}"/>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1753313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1D6A0-5D28-4F00-8D47-558B34F29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E9559D-C3BF-4983-A822-93F289660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EACD4A-D0DF-4869-8D9C-F647FF8E2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2975A-9DED-41E0-B852-B6B75D19282D}"/>
              </a:ext>
            </a:extLst>
          </p:cNvPr>
          <p:cNvSpPr>
            <a:spLocks noGrp="1"/>
          </p:cNvSpPr>
          <p:nvPr>
            <p:ph type="dt" sz="half" idx="10"/>
          </p:nvPr>
        </p:nvSpPr>
        <p:spPr/>
        <p:txBody>
          <a:bodyPr/>
          <a:lstStyle/>
          <a:p>
            <a:fld id="{324F0F47-FBDF-46AD-8B80-07784487D9ED}" type="datetime1">
              <a:rPr lang="en-US" smtClean="0"/>
              <a:t>9/10/2026</a:t>
            </a:fld>
            <a:endParaRPr lang="en-IN"/>
          </a:p>
        </p:txBody>
      </p:sp>
      <p:sp>
        <p:nvSpPr>
          <p:cNvPr id="6" name="Footer Placeholder 5">
            <a:extLst>
              <a:ext uri="{FF2B5EF4-FFF2-40B4-BE49-F238E27FC236}">
                <a16:creationId xmlns:a16="http://schemas.microsoft.com/office/drawing/2014/main" id="{4EEF6B47-5CFD-414E-B17A-AADEEB5A860B}"/>
              </a:ext>
            </a:extLst>
          </p:cNvPr>
          <p:cNvSpPr>
            <a:spLocks noGrp="1"/>
          </p:cNvSpPr>
          <p:nvPr>
            <p:ph type="ftr" sz="quarter" idx="11"/>
          </p:nvPr>
        </p:nvSpPr>
        <p:spPr/>
        <p:txBody>
          <a:bodyPr/>
          <a:lstStyle/>
          <a:p>
            <a:r>
              <a:rPr lang="en-IN"/>
              <a:t>Internet of Things</a:t>
            </a:r>
          </a:p>
        </p:txBody>
      </p:sp>
      <p:sp>
        <p:nvSpPr>
          <p:cNvPr id="7" name="Slide Number Placeholder 6">
            <a:extLst>
              <a:ext uri="{FF2B5EF4-FFF2-40B4-BE49-F238E27FC236}">
                <a16:creationId xmlns:a16="http://schemas.microsoft.com/office/drawing/2014/main" id="{1F19AF4A-3CA2-4C7E-8DBF-7A330C377342}"/>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2682876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B2B4C-5942-47AD-B158-AADA218640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A749FB-2165-4A92-A338-0010911003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77FC44-DCF8-432D-B787-6F44B04D6565}"/>
              </a:ext>
            </a:extLst>
          </p:cNvPr>
          <p:cNvSpPr>
            <a:spLocks noGrp="1"/>
          </p:cNvSpPr>
          <p:nvPr>
            <p:ph type="dt" sz="half" idx="10"/>
          </p:nvPr>
        </p:nvSpPr>
        <p:spPr/>
        <p:txBody>
          <a:bodyPr/>
          <a:lstStyle/>
          <a:p>
            <a:fld id="{67FA8585-A248-436D-91AC-5578B2023EA9}" type="datetime1">
              <a:rPr lang="en-US" smtClean="0"/>
              <a:t>9/10/2026</a:t>
            </a:fld>
            <a:endParaRPr lang="en-IN"/>
          </a:p>
        </p:txBody>
      </p:sp>
      <p:sp>
        <p:nvSpPr>
          <p:cNvPr id="5" name="Footer Placeholder 4">
            <a:extLst>
              <a:ext uri="{FF2B5EF4-FFF2-40B4-BE49-F238E27FC236}">
                <a16:creationId xmlns:a16="http://schemas.microsoft.com/office/drawing/2014/main" id="{B74799D8-68EB-42A1-9D53-4B1605127D1D}"/>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7A5C9B91-F7D4-447A-AC81-92D6F595600C}"/>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980537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C76A56-EFC7-4374-A6EF-9F3A3B5612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3AD443-48FF-43DA-BC7B-B2FE8471E4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77D183-5112-4D56-85AB-BEDDF6759246}"/>
              </a:ext>
            </a:extLst>
          </p:cNvPr>
          <p:cNvSpPr>
            <a:spLocks noGrp="1"/>
          </p:cNvSpPr>
          <p:nvPr>
            <p:ph type="dt" sz="half" idx="10"/>
          </p:nvPr>
        </p:nvSpPr>
        <p:spPr/>
        <p:txBody>
          <a:bodyPr/>
          <a:lstStyle/>
          <a:p>
            <a:fld id="{6AD9E1D6-45CF-4F48-9902-546FF0718347}" type="datetime1">
              <a:rPr lang="en-US" smtClean="0"/>
              <a:t>9/10/2026</a:t>
            </a:fld>
            <a:endParaRPr lang="en-IN"/>
          </a:p>
        </p:txBody>
      </p:sp>
      <p:sp>
        <p:nvSpPr>
          <p:cNvPr id="5" name="Footer Placeholder 4">
            <a:extLst>
              <a:ext uri="{FF2B5EF4-FFF2-40B4-BE49-F238E27FC236}">
                <a16:creationId xmlns:a16="http://schemas.microsoft.com/office/drawing/2014/main" id="{0AEFF218-56A5-4C6E-A522-731D0520167D}"/>
              </a:ext>
            </a:extLst>
          </p:cNvPr>
          <p:cNvSpPr>
            <a:spLocks noGrp="1"/>
          </p:cNvSpPr>
          <p:nvPr>
            <p:ph type="ftr" sz="quarter" idx="11"/>
          </p:nvPr>
        </p:nvSpPr>
        <p:spPr/>
        <p:txBody>
          <a:bodyPr/>
          <a:lstStyle/>
          <a:p>
            <a:r>
              <a:rPr lang="en-IN"/>
              <a:t>Internet of Things</a:t>
            </a:r>
          </a:p>
        </p:txBody>
      </p:sp>
      <p:sp>
        <p:nvSpPr>
          <p:cNvPr id="6" name="Slide Number Placeholder 5">
            <a:extLst>
              <a:ext uri="{FF2B5EF4-FFF2-40B4-BE49-F238E27FC236}">
                <a16:creationId xmlns:a16="http://schemas.microsoft.com/office/drawing/2014/main" id="{E4165DDF-4AA8-4D08-9271-33870E8A6741}"/>
              </a:ext>
            </a:extLst>
          </p:cNvPr>
          <p:cNvSpPr>
            <a:spLocks noGrp="1"/>
          </p:cNvSpPr>
          <p:nvPr>
            <p:ph type="sldNum" sz="quarter" idx="12"/>
          </p:nvPr>
        </p:nvSpPr>
        <p:spPr/>
        <p:txBody>
          <a:bodyPr/>
          <a:lstStyle/>
          <a:p>
            <a:fld id="{5FDBCEB4-CAA2-4975-B77B-719E163E142D}" type="slidenum">
              <a:rPr lang="en-IN" smtClean="0"/>
              <a:t>‹#›</a:t>
            </a:fld>
            <a:endParaRPr lang="en-IN"/>
          </a:p>
        </p:txBody>
      </p:sp>
    </p:spTree>
    <p:extLst>
      <p:ext uri="{BB962C8B-B14F-4D97-AF65-F5344CB8AC3E}">
        <p14:creationId xmlns:p14="http://schemas.microsoft.com/office/powerpoint/2010/main" val="51239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D8A998-8043-4CA5-9CFA-45153761BB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071641-141F-4D44-BA28-0805C8CF06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C2980C-BF94-4EA8-B598-3BF206542F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D11839-46FC-4576-954D-481C5937C39A}" type="datetime1">
              <a:rPr lang="en-US" smtClean="0"/>
              <a:t>9/10/2026</a:t>
            </a:fld>
            <a:endParaRPr lang="en-IN"/>
          </a:p>
        </p:txBody>
      </p:sp>
      <p:sp>
        <p:nvSpPr>
          <p:cNvPr id="5" name="Footer Placeholder 4">
            <a:extLst>
              <a:ext uri="{FF2B5EF4-FFF2-40B4-BE49-F238E27FC236}">
                <a16:creationId xmlns:a16="http://schemas.microsoft.com/office/drawing/2014/main" id="{C541AF29-3DB2-481F-AA8C-1F97F5BD8C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Internet of Things</a:t>
            </a:r>
          </a:p>
        </p:txBody>
      </p:sp>
      <p:sp>
        <p:nvSpPr>
          <p:cNvPr id="6" name="Slide Number Placeholder 5">
            <a:extLst>
              <a:ext uri="{FF2B5EF4-FFF2-40B4-BE49-F238E27FC236}">
                <a16:creationId xmlns:a16="http://schemas.microsoft.com/office/drawing/2014/main" id="{D1FB00FA-3B31-401D-B534-3153DDE91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DBCEB4-CAA2-4975-B77B-719E163E142D}" type="slidenum">
              <a:rPr lang="en-IN" smtClean="0"/>
              <a:t>‹#›</a:t>
            </a:fld>
            <a:endParaRPr lang="en-IN"/>
          </a:p>
        </p:txBody>
      </p:sp>
    </p:spTree>
    <p:extLst>
      <p:ext uri="{BB962C8B-B14F-4D97-AF65-F5344CB8AC3E}">
        <p14:creationId xmlns:p14="http://schemas.microsoft.com/office/powerpoint/2010/main" val="2328563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hivemq.com/blog/mqtt-essentials-part-5-mqtt-topics-best-practice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docs.oasis-open.org/mqtt/mqtt/v3.1.1/os/mqtt-v3.1.1-os.html#_Toc398718063"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docs.oasis-open.org/mqtt/mqtt/v3.1.1/os/mqtt-v3.1.1-os.html#_Toc398718068"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hyperlink" Target="http://docs.oasis-open.org/mqtt/mqtt/v3.1.1/os/mqtt-v3.1.1-os.html#_Toc398718072"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docs.oasis-open.org/mqtt/mqtt/v3.1.1/os/mqtt-v3.1.1-os.html#_Toc398718077"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0080" y="659424"/>
            <a:ext cx="11338560" cy="2725614"/>
          </a:xfrm>
        </p:spPr>
        <p:txBody>
          <a:bodyPr>
            <a:normAutofit/>
          </a:bodyPr>
          <a:lstStyle/>
          <a:p>
            <a:r>
              <a:rPr lang="en-US" b="1" dirty="0"/>
              <a:t>Internet of Things</a:t>
            </a:r>
            <a:r>
              <a:rPr lang="en-US" b="1" dirty="0" smtClean="0"/>
              <a:t>: </a:t>
            </a:r>
            <a:r>
              <a:rPr lang="en-US" dirty="0"/>
              <a:t>Protocols for </a:t>
            </a:r>
            <a:r>
              <a:rPr lang="en-US" dirty="0" err="1"/>
              <a:t>IoT</a:t>
            </a:r>
            <a:r>
              <a:rPr lang="en-US" dirty="0"/>
              <a:t>- Messaging and Transport</a:t>
            </a:r>
            <a:r>
              <a:rPr lang="en-US" b="1" dirty="0"/>
              <a:t/>
            </a:r>
            <a:br>
              <a:rPr lang="en-US" b="1" dirty="0"/>
            </a:br>
            <a:r>
              <a:rPr lang="en-US" b="1" dirty="0" err="1"/>
              <a:t>Lect</a:t>
            </a:r>
            <a:r>
              <a:rPr lang="en-US" b="1" dirty="0"/>
              <a:t> </a:t>
            </a:r>
            <a:r>
              <a:rPr lang="en-US" b="1" dirty="0" smtClean="0"/>
              <a:t>#</a:t>
            </a:r>
            <a:r>
              <a:rPr lang="en-US" b="1" dirty="0"/>
              <a:t> </a:t>
            </a:r>
            <a:r>
              <a:rPr lang="en-US" b="1" dirty="0" smtClean="0"/>
              <a:t>13 - 15</a:t>
            </a:r>
            <a:endParaRPr lang="en-US" b="1" dirty="0"/>
          </a:p>
        </p:txBody>
      </p:sp>
      <p:sp>
        <p:nvSpPr>
          <p:cNvPr id="3" name="Subtitle 2"/>
          <p:cNvSpPr>
            <a:spLocks noGrp="1"/>
          </p:cNvSpPr>
          <p:nvPr>
            <p:ph type="subTitle" idx="1"/>
          </p:nvPr>
        </p:nvSpPr>
        <p:spPr>
          <a:xfrm>
            <a:off x="1524000" y="3602038"/>
            <a:ext cx="9144000" cy="2691186"/>
          </a:xfrm>
        </p:spPr>
        <p:txBody>
          <a:bodyPr/>
          <a:lstStyle/>
          <a:p>
            <a:endParaRPr lang="en-US" b="1" dirty="0"/>
          </a:p>
          <a:p>
            <a:endParaRPr lang="en-US" b="1" dirty="0"/>
          </a:p>
          <a:p>
            <a:r>
              <a:rPr lang="en-US" b="1" dirty="0"/>
              <a:t>Prof. </a:t>
            </a:r>
            <a:r>
              <a:rPr lang="en-US" b="1" dirty="0" err="1"/>
              <a:t>Suchismita</a:t>
            </a:r>
            <a:r>
              <a:rPr lang="en-US" b="1" dirty="0"/>
              <a:t> </a:t>
            </a:r>
            <a:r>
              <a:rPr lang="en-US" b="1" dirty="0" err="1"/>
              <a:t>Chinara</a:t>
            </a:r>
            <a:endParaRPr lang="en-US" b="1" dirty="0"/>
          </a:p>
          <a:p>
            <a:r>
              <a:rPr lang="en-US" b="1" dirty="0"/>
              <a:t>Dept. of Computer Science </a:t>
            </a:r>
            <a:r>
              <a:rPr lang="en-US" b="1" dirty="0" err="1"/>
              <a:t>Engg</a:t>
            </a:r>
            <a:r>
              <a:rPr lang="en-US" b="1" dirty="0"/>
              <a:t>.</a:t>
            </a:r>
          </a:p>
          <a:p>
            <a:r>
              <a:rPr lang="en-US" b="1" dirty="0"/>
              <a:t>National Institute of Technology Rourkela-769008</a:t>
            </a:r>
          </a:p>
        </p:txBody>
      </p:sp>
      <p:sp>
        <p:nvSpPr>
          <p:cNvPr id="4" name="Date Placeholder 3"/>
          <p:cNvSpPr>
            <a:spLocks noGrp="1"/>
          </p:cNvSpPr>
          <p:nvPr>
            <p:ph type="dt" sz="half" idx="10"/>
          </p:nvPr>
        </p:nvSpPr>
        <p:spPr/>
        <p:txBody>
          <a:bodyPr/>
          <a:lstStyle/>
          <a:p>
            <a:fld id="{27932D58-6007-42EC-9D35-F3003F7927BC}" type="datetime1">
              <a:rPr lang="en-US" smtClean="0"/>
              <a:t>9/10/2026</a:t>
            </a:fld>
            <a:endParaRPr lang="en-US"/>
          </a:p>
        </p:txBody>
      </p:sp>
      <p:sp>
        <p:nvSpPr>
          <p:cNvPr id="5" name="Footer Placeholder 4"/>
          <p:cNvSpPr>
            <a:spLocks noGrp="1"/>
          </p:cNvSpPr>
          <p:nvPr>
            <p:ph type="ftr" sz="quarter" idx="11"/>
          </p:nvPr>
        </p:nvSpPr>
        <p:spPr/>
        <p:txBody>
          <a:bodyPr/>
          <a:lstStyle/>
          <a:p>
            <a:r>
              <a:rPr lang="en-US"/>
              <a:t>Internet of Things</a:t>
            </a:r>
          </a:p>
        </p:txBody>
      </p:sp>
      <p:sp>
        <p:nvSpPr>
          <p:cNvPr id="6" name="Slide Number Placeholder 5"/>
          <p:cNvSpPr>
            <a:spLocks noGrp="1"/>
          </p:cNvSpPr>
          <p:nvPr>
            <p:ph type="sldNum" sz="quarter" idx="12"/>
          </p:nvPr>
        </p:nvSpPr>
        <p:spPr/>
        <p:txBody>
          <a:bodyPr/>
          <a:lstStyle/>
          <a:p>
            <a:fld id="{CB11CA4D-55D5-43B2-9EAD-DBFCD82C487F}" type="slidenum">
              <a:rPr lang="en-US" smtClean="0"/>
              <a:t>1</a:t>
            </a:fld>
            <a:endParaRPr lang="en-US"/>
          </a:p>
        </p:txBody>
      </p:sp>
    </p:spTree>
    <p:extLst>
      <p:ext uri="{BB962C8B-B14F-4D97-AF65-F5344CB8AC3E}">
        <p14:creationId xmlns:p14="http://schemas.microsoft.com/office/powerpoint/2010/main" val="171535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27c3b57486c_1_8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Introduction</a:t>
            </a:r>
            <a:endParaRPr/>
          </a:p>
        </p:txBody>
      </p:sp>
      <p:sp>
        <p:nvSpPr>
          <p:cNvPr id="252" name="Google Shape;252;g27c3b57486c_1_83"/>
          <p:cNvSpPr txBox="1">
            <a:spLocks noGrp="1"/>
          </p:cNvSpPr>
          <p:nvPr>
            <p:ph type="body" idx="1"/>
          </p:nvPr>
        </p:nvSpPr>
        <p:spPr>
          <a:xfrm>
            <a:off x="1981200" y="1371600"/>
            <a:ext cx="8229600" cy="4754700"/>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dirty="0"/>
              <a:t>Messaging protocols act as the backbone of </a:t>
            </a:r>
            <a:r>
              <a:rPr lang="en-US" dirty="0" err="1"/>
              <a:t>IoT</a:t>
            </a:r>
            <a:r>
              <a:rPr lang="en-US" dirty="0"/>
              <a:t>.</a:t>
            </a:r>
            <a:endParaRPr dirty="0"/>
          </a:p>
          <a:p>
            <a:pPr marL="342900" indent="-342900" algn="just">
              <a:spcBef>
                <a:spcPts val="640"/>
              </a:spcBef>
              <a:buClr>
                <a:schemeClr val="dk1"/>
              </a:buClr>
              <a:buSzPts val="3200"/>
            </a:pPr>
            <a:r>
              <a:rPr lang="en-US" dirty="0"/>
              <a:t>They play a vital role to send and receive the data/message to /from the cloud for any </a:t>
            </a:r>
            <a:r>
              <a:rPr lang="en-US" dirty="0" err="1"/>
              <a:t>IoT</a:t>
            </a:r>
            <a:r>
              <a:rPr lang="en-US" dirty="0"/>
              <a:t> application. </a:t>
            </a:r>
            <a:endParaRPr dirty="0"/>
          </a:p>
          <a:p>
            <a:pPr marL="342900" indent="-342900" algn="just">
              <a:spcBef>
                <a:spcPts val="640"/>
              </a:spcBef>
              <a:buClr>
                <a:schemeClr val="dk1"/>
              </a:buClr>
              <a:buSzPts val="3200"/>
            </a:pPr>
            <a:r>
              <a:rPr lang="en-US" dirty="0"/>
              <a:t>Two major protocols in this regard are:</a:t>
            </a:r>
            <a:endParaRPr dirty="0"/>
          </a:p>
          <a:p>
            <a:pPr marL="742950" lvl="1" indent="-285750" algn="just">
              <a:spcBef>
                <a:spcPts val="560"/>
              </a:spcBef>
              <a:buClr>
                <a:schemeClr val="dk1"/>
              </a:buClr>
              <a:buSzPts val="2800"/>
              <a:buChar char="–"/>
            </a:pPr>
            <a:r>
              <a:rPr lang="en-US" dirty="0"/>
              <a:t>MQTT (Message Queuing Telemetry Transport)</a:t>
            </a:r>
            <a:endParaRPr dirty="0"/>
          </a:p>
          <a:p>
            <a:pPr marL="742950" lvl="1" indent="-285750" algn="just">
              <a:spcBef>
                <a:spcPts val="560"/>
              </a:spcBef>
              <a:buClr>
                <a:schemeClr val="dk1"/>
              </a:buClr>
              <a:buSzPts val="2800"/>
              <a:buChar char="–"/>
            </a:pPr>
            <a:r>
              <a:rPr lang="en-US" dirty="0" err="1"/>
              <a:t>CoAP</a:t>
            </a:r>
            <a:r>
              <a:rPr lang="en-US" dirty="0"/>
              <a:t> (Constrained Application Protocol)</a:t>
            </a:r>
            <a:endParaRPr dirty="0"/>
          </a:p>
        </p:txBody>
      </p:sp>
      <p:sp>
        <p:nvSpPr>
          <p:cNvPr id="253" name="Google Shape;253;g27c3b57486c_1_83"/>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7F7C5C19-EA6B-40AA-BBEE-672A9E046AE9}" type="datetime1">
              <a:rPr lang="en-US" smtClean="0"/>
              <a:t>9/10/2026</a:t>
            </a:fld>
            <a:endParaRPr/>
          </a:p>
        </p:txBody>
      </p:sp>
      <p:sp>
        <p:nvSpPr>
          <p:cNvPr id="254" name="Google Shape;254;g27c3b57486c_1_83"/>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smtClean="0"/>
              <a:t>Internet of Things</a:t>
            </a:r>
            <a:endParaRPr/>
          </a:p>
        </p:txBody>
      </p:sp>
      <p:sp>
        <p:nvSpPr>
          <p:cNvPr id="255" name="Google Shape;255;g27c3b57486c_1_83"/>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2</a:t>
            </a:fld>
            <a:endParaRPr/>
          </a:p>
        </p:txBody>
      </p:sp>
    </p:spTree>
    <p:extLst>
      <p:ext uri="{BB962C8B-B14F-4D97-AF65-F5344CB8AC3E}">
        <p14:creationId xmlns:p14="http://schemas.microsoft.com/office/powerpoint/2010/main" val="72297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27c3b57486c_1_91"/>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MQTT</a:t>
            </a:r>
            <a:endParaRPr/>
          </a:p>
        </p:txBody>
      </p:sp>
      <p:sp>
        <p:nvSpPr>
          <p:cNvPr id="261" name="Google Shape;261;g27c3b57486c_1_91"/>
          <p:cNvSpPr txBox="1">
            <a:spLocks noGrp="1"/>
          </p:cNvSpPr>
          <p:nvPr>
            <p:ph type="body" idx="1"/>
          </p:nvPr>
        </p:nvSpPr>
        <p:spPr>
          <a:xfrm>
            <a:off x="1981200" y="1295400"/>
            <a:ext cx="8229600" cy="4830900"/>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dirty="0"/>
              <a:t>MQTT is a </a:t>
            </a:r>
            <a:r>
              <a:rPr lang="en-US" dirty="0" smtClean="0"/>
              <a:t>light weight </a:t>
            </a:r>
            <a:r>
              <a:rPr lang="en-US" dirty="0"/>
              <a:t>protocol, which makes it exceptionally useful.</a:t>
            </a:r>
            <a:endParaRPr dirty="0"/>
          </a:p>
          <a:p>
            <a:pPr marL="342900" indent="-342900" algn="just">
              <a:spcBef>
                <a:spcPts val="640"/>
              </a:spcBef>
              <a:buClr>
                <a:schemeClr val="dk1"/>
              </a:buClr>
              <a:buSzPts val="3200"/>
            </a:pPr>
            <a:r>
              <a:rPr lang="en-US" dirty="0" smtClean="0"/>
              <a:t>Light weight </a:t>
            </a:r>
            <a:r>
              <a:rPr lang="en-US" dirty="0"/>
              <a:t>means that it demands minimal resources for its functioning and does not require additional resources from its working environment. </a:t>
            </a:r>
            <a:endParaRPr dirty="0"/>
          </a:p>
          <a:p>
            <a:pPr marL="342900" indent="-342900" algn="just">
              <a:spcBef>
                <a:spcPts val="640"/>
              </a:spcBef>
              <a:buClr>
                <a:schemeClr val="dk1"/>
              </a:buClr>
              <a:buSzPts val="3200"/>
            </a:pPr>
            <a:r>
              <a:rPr lang="en-US" dirty="0" err="1"/>
              <a:t>IoT</a:t>
            </a:r>
            <a:r>
              <a:rPr lang="en-US" dirty="0"/>
              <a:t> prefers this type of lightweight protocols due to resource constraint.</a:t>
            </a:r>
            <a:endParaRPr dirty="0"/>
          </a:p>
        </p:txBody>
      </p:sp>
      <p:sp>
        <p:nvSpPr>
          <p:cNvPr id="262" name="Google Shape;262;g27c3b57486c_1_91"/>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863CD2B0-D58C-45DB-A453-B69B34752E93}" type="datetime1">
              <a:rPr lang="en-US" smtClean="0"/>
              <a:t>9/10/2026</a:t>
            </a:fld>
            <a:endParaRPr/>
          </a:p>
        </p:txBody>
      </p:sp>
      <p:sp>
        <p:nvSpPr>
          <p:cNvPr id="263" name="Google Shape;263;g27c3b57486c_1_91"/>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smtClean="0"/>
              <a:t>Internet of Things</a:t>
            </a:r>
            <a:endParaRPr/>
          </a:p>
        </p:txBody>
      </p:sp>
      <p:sp>
        <p:nvSpPr>
          <p:cNvPr id="264" name="Google Shape;264;g27c3b57486c_1_91"/>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3</a:t>
            </a:fld>
            <a:endParaRPr/>
          </a:p>
        </p:txBody>
      </p:sp>
    </p:spTree>
    <p:extLst>
      <p:ext uri="{BB962C8B-B14F-4D97-AF65-F5344CB8AC3E}">
        <p14:creationId xmlns:p14="http://schemas.microsoft.com/office/powerpoint/2010/main" val="1662436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27c3b57486c_1_99"/>
          <p:cNvSpPr txBox="1">
            <a:spLocks noGrp="1"/>
          </p:cNvSpPr>
          <p:nvPr>
            <p:ph type="title"/>
          </p:nvPr>
        </p:nvSpPr>
        <p:spPr>
          <a:xfrm>
            <a:off x="1981200" y="274638"/>
            <a:ext cx="8229600" cy="10209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MQTT</a:t>
            </a:r>
            <a:endParaRPr/>
          </a:p>
        </p:txBody>
      </p:sp>
      <p:sp>
        <p:nvSpPr>
          <p:cNvPr id="270" name="Google Shape;270;g27c3b57486c_1_99"/>
          <p:cNvSpPr txBox="1">
            <a:spLocks noGrp="1"/>
          </p:cNvSpPr>
          <p:nvPr>
            <p:ph type="body" idx="1"/>
          </p:nvPr>
        </p:nvSpPr>
        <p:spPr>
          <a:xfrm>
            <a:off x="1676400" y="1295400"/>
            <a:ext cx="8763000" cy="5029200"/>
          </a:xfrm>
          <a:prstGeom prst="rect">
            <a:avLst/>
          </a:prstGeom>
          <a:noFill/>
          <a:ln>
            <a:noFill/>
          </a:ln>
        </p:spPr>
        <p:txBody>
          <a:bodyPr spcFirstLastPara="1" vert="horz" wrap="square" lIns="91425" tIns="45700" rIns="91425" bIns="45700" rtlCol="0" anchor="t" anchorCtr="0">
            <a:normAutofit/>
          </a:bodyPr>
          <a:lstStyle/>
          <a:p>
            <a:pPr marL="342900" indent="-356235" algn="just">
              <a:spcBef>
                <a:spcPts val="518"/>
              </a:spcBef>
              <a:buClr>
                <a:schemeClr val="dk1"/>
              </a:buClr>
              <a:buSzPts val="2800"/>
            </a:pPr>
            <a:r>
              <a:rPr lang="en-US" dirty="0" smtClean="0"/>
              <a:t>MQTT </a:t>
            </a:r>
            <a:r>
              <a:rPr lang="en-US" dirty="0"/>
              <a:t>follows the publish – subscribe pattern.</a:t>
            </a:r>
            <a:endParaRPr dirty="0"/>
          </a:p>
          <a:p>
            <a:pPr marL="342900" indent="-356235" algn="just">
              <a:spcBef>
                <a:spcPts val="518"/>
              </a:spcBef>
              <a:buClr>
                <a:schemeClr val="dk1"/>
              </a:buClr>
              <a:buSzPts val="2800"/>
            </a:pPr>
            <a:r>
              <a:rPr lang="en-US" dirty="0"/>
              <a:t>Thus, a </a:t>
            </a:r>
            <a:r>
              <a:rPr lang="en-US" b="1" i="1" dirty="0"/>
              <a:t>central broker</a:t>
            </a:r>
            <a:r>
              <a:rPr lang="en-US" dirty="0"/>
              <a:t> plays a key role in the entire system. </a:t>
            </a:r>
            <a:endParaRPr dirty="0"/>
          </a:p>
          <a:p>
            <a:pPr marL="342900" indent="-358140" algn="just">
              <a:spcBef>
                <a:spcPts val="592"/>
              </a:spcBef>
              <a:buClr>
                <a:schemeClr val="dk1"/>
              </a:buClr>
              <a:buSzPts val="3200"/>
            </a:pPr>
            <a:r>
              <a:rPr lang="en-US" dirty="0"/>
              <a:t>This message broker helps to dispatch messages to the nodes that have subscribed for the same.</a:t>
            </a:r>
            <a:endParaRPr dirty="0"/>
          </a:p>
          <a:p>
            <a:pPr marL="342900" indent="-358140" algn="just">
              <a:spcBef>
                <a:spcPts val="592"/>
              </a:spcBef>
              <a:buClr>
                <a:schemeClr val="dk1"/>
              </a:buClr>
              <a:buSzPts val="3200"/>
            </a:pPr>
            <a:r>
              <a:rPr lang="en-US" dirty="0"/>
              <a:t> The publisher node sends messages to the broker and the broker takes responsibility of dispatching the messages to the subscribed destinations.</a:t>
            </a:r>
            <a:endParaRPr dirty="0"/>
          </a:p>
        </p:txBody>
      </p:sp>
      <p:sp>
        <p:nvSpPr>
          <p:cNvPr id="271" name="Google Shape;271;g27c3b57486c_1_99"/>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9EE5AE0C-AD57-49ED-907A-5E538EFEB275}" type="datetime1">
              <a:rPr lang="en-US" smtClean="0"/>
              <a:t>9/10/2026</a:t>
            </a:fld>
            <a:endParaRPr/>
          </a:p>
        </p:txBody>
      </p:sp>
      <p:sp>
        <p:nvSpPr>
          <p:cNvPr id="272" name="Google Shape;272;g27c3b57486c_1_99"/>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smtClean="0"/>
              <a:t>Internet of Things</a:t>
            </a:r>
            <a:endParaRPr/>
          </a:p>
        </p:txBody>
      </p:sp>
      <p:sp>
        <p:nvSpPr>
          <p:cNvPr id="273" name="Google Shape;273;g27c3b57486c_1_99"/>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4</a:t>
            </a:fld>
            <a:endParaRPr/>
          </a:p>
        </p:txBody>
      </p:sp>
    </p:spTree>
    <p:extLst>
      <p:ext uri="{BB962C8B-B14F-4D97-AF65-F5344CB8AC3E}">
        <p14:creationId xmlns:p14="http://schemas.microsoft.com/office/powerpoint/2010/main" val="3457909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27c3b57486c_1_10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Example: MQTT broker</a:t>
            </a:r>
            <a:endParaRPr/>
          </a:p>
        </p:txBody>
      </p:sp>
      <p:sp>
        <p:nvSpPr>
          <p:cNvPr id="279" name="Google Shape;279;g27c3b57486c_1_107"/>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5652FC4E-BD4A-424F-8399-2CCFB1DF9A54}" type="datetime1">
              <a:rPr lang="en-US" smtClean="0"/>
              <a:t>9/10/2026</a:t>
            </a:fld>
            <a:endParaRPr/>
          </a:p>
        </p:txBody>
      </p:sp>
      <p:sp>
        <p:nvSpPr>
          <p:cNvPr id="280" name="Google Shape;280;g27c3b57486c_1_107"/>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smtClean="0"/>
              <a:t>Internet of Things</a:t>
            </a:r>
            <a:endParaRPr/>
          </a:p>
        </p:txBody>
      </p:sp>
      <p:sp>
        <p:nvSpPr>
          <p:cNvPr id="281" name="Google Shape;281;g27c3b57486c_1_107"/>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5</a:t>
            </a:fld>
            <a:endParaRPr/>
          </a:p>
        </p:txBody>
      </p:sp>
      <p:pic>
        <p:nvPicPr>
          <p:cNvPr id="282" name="Google Shape;282;g27c3b57486c_1_107"/>
          <p:cNvPicPr preferRelativeResize="0">
            <a:picLocks noGrp="1"/>
          </p:cNvPicPr>
          <p:nvPr>
            <p:ph type="body" idx="1"/>
          </p:nvPr>
        </p:nvPicPr>
        <p:blipFill rotWithShape="1">
          <a:blip r:embed="rId3">
            <a:alphaModFix/>
          </a:blip>
          <a:srcRect/>
          <a:stretch/>
        </p:blipFill>
        <p:spPr>
          <a:xfrm>
            <a:off x="1817528" y="1371600"/>
            <a:ext cx="8393400" cy="4887900"/>
          </a:xfrm>
          <a:prstGeom prst="rect">
            <a:avLst/>
          </a:prstGeom>
          <a:noFill/>
          <a:ln>
            <a:noFill/>
          </a:ln>
        </p:spPr>
      </p:pic>
    </p:spTree>
    <p:extLst>
      <p:ext uri="{BB962C8B-B14F-4D97-AF65-F5344CB8AC3E}">
        <p14:creationId xmlns:p14="http://schemas.microsoft.com/office/powerpoint/2010/main" val="1862821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g27c3b57486c_1_115"/>
          <p:cNvSpPr txBox="1">
            <a:spLocks noGrp="1"/>
          </p:cNvSpPr>
          <p:nvPr>
            <p:ph type="title"/>
          </p:nvPr>
        </p:nvSpPr>
        <p:spPr>
          <a:xfrm>
            <a:off x="1981200" y="76200"/>
            <a:ext cx="8229600" cy="9906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
            </a:r>
            <a:br>
              <a:rPr lang="en-US"/>
            </a:br>
            <a:r>
              <a:rPr lang="en-US" b="1"/>
              <a:t>Characteristics of MQTT</a:t>
            </a:r>
            <a:br>
              <a:rPr lang="en-US" b="1"/>
            </a:br>
            <a:endParaRPr b="1"/>
          </a:p>
        </p:txBody>
      </p:sp>
      <p:sp>
        <p:nvSpPr>
          <p:cNvPr id="288" name="Google Shape;288;g27c3b57486c_1_115"/>
          <p:cNvSpPr txBox="1">
            <a:spLocks noGrp="1"/>
          </p:cNvSpPr>
          <p:nvPr>
            <p:ph type="body" idx="1"/>
          </p:nvPr>
        </p:nvSpPr>
        <p:spPr>
          <a:xfrm>
            <a:off x="1828800" y="1143000"/>
            <a:ext cx="8610600" cy="4983300"/>
          </a:xfrm>
          <a:prstGeom prst="rect">
            <a:avLst/>
          </a:prstGeom>
          <a:noFill/>
          <a:ln>
            <a:noFill/>
          </a:ln>
        </p:spPr>
        <p:txBody>
          <a:bodyPr spcFirstLastPara="1" vert="horz" wrap="square" lIns="91425" tIns="45700" rIns="91425" bIns="45700" rtlCol="0" anchor="t" anchorCtr="0">
            <a:normAutofit/>
          </a:bodyPr>
          <a:lstStyle/>
          <a:p>
            <a:pPr marL="342900" indent="-327660" algn="just">
              <a:spcBef>
                <a:spcPts val="0"/>
              </a:spcBef>
              <a:buClr>
                <a:schemeClr val="dk1"/>
              </a:buClr>
              <a:buSzPct val="100000"/>
            </a:pPr>
            <a:r>
              <a:rPr lang="en-US" dirty="0"/>
              <a:t>It is a machine to machine protocol. (M2M)</a:t>
            </a:r>
            <a:endParaRPr dirty="0"/>
          </a:p>
          <a:p>
            <a:pPr marL="342900" indent="-327660" algn="just">
              <a:spcBef>
                <a:spcPts val="640"/>
              </a:spcBef>
              <a:buClr>
                <a:schemeClr val="dk1"/>
              </a:buClr>
              <a:buSzPct val="100000"/>
            </a:pPr>
            <a:r>
              <a:rPr lang="en-US" dirty="0"/>
              <a:t>It is a simple messaging protocol designed for the constrained devices and with low bandwidth</a:t>
            </a:r>
            <a:endParaRPr dirty="0"/>
          </a:p>
          <a:p>
            <a:pPr marL="342900" indent="-327660" algn="just">
              <a:spcBef>
                <a:spcPts val="640"/>
              </a:spcBef>
              <a:buClr>
                <a:schemeClr val="dk1"/>
              </a:buClr>
              <a:buSzPct val="100000"/>
            </a:pPr>
            <a:r>
              <a:rPr lang="en-US" dirty="0"/>
              <a:t>It provides faster data </a:t>
            </a:r>
            <a:r>
              <a:rPr lang="en-US" dirty="0" smtClean="0"/>
              <a:t>transmission. </a:t>
            </a:r>
            <a:r>
              <a:rPr lang="en-US" dirty="0"/>
              <a:t>It's a real-time messaging protocol.</a:t>
            </a:r>
            <a:endParaRPr dirty="0"/>
          </a:p>
          <a:p>
            <a:pPr marL="342900" indent="-327660" algn="just">
              <a:spcBef>
                <a:spcPts val="640"/>
              </a:spcBef>
              <a:buClr>
                <a:schemeClr val="dk1"/>
              </a:buClr>
              <a:buSzPct val="100000"/>
            </a:pPr>
            <a:r>
              <a:rPr lang="en-US" dirty="0"/>
              <a:t>The latest version of MQTT (</a:t>
            </a:r>
            <a:r>
              <a:rPr lang="en-US" dirty="0" err="1"/>
              <a:t>Ver</a:t>
            </a:r>
            <a:r>
              <a:rPr lang="en-US" dirty="0"/>
              <a:t> 5.0) has the feature of enhancement in the scalability and the large-scale system in order to set up with the thousands or the millions of devices. (</a:t>
            </a:r>
            <a:r>
              <a:rPr lang="en-US" dirty="0" err="1"/>
              <a:t>IoT</a:t>
            </a:r>
            <a:r>
              <a:rPr lang="en-US" dirty="0"/>
              <a:t>)</a:t>
            </a:r>
            <a:endParaRPr dirty="0"/>
          </a:p>
          <a:p>
            <a:pPr marL="342900" indent="-139700" algn="just">
              <a:spcBef>
                <a:spcPts val="640"/>
              </a:spcBef>
              <a:buClr>
                <a:schemeClr val="dk1"/>
              </a:buClr>
              <a:buSzPct val="100000"/>
              <a:buNone/>
            </a:pPr>
            <a:endParaRPr dirty="0"/>
          </a:p>
          <a:p>
            <a:pPr marL="342900" indent="-139700">
              <a:spcBef>
                <a:spcPts val="640"/>
              </a:spcBef>
              <a:buClr>
                <a:schemeClr val="dk1"/>
              </a:buClr>
              <a:buSzPct val="100000"/>
              <a:buNone/>
            </a:pPr>
            <a:endParaRPr dirty="0"/>
          </a:p>
        </p:txBody>
      </p:sp>
      <p:sp>
        <p:nvSpPr>
          <p:cNvPr id="289" name="Google Shape;289;g27c3b57486c_1_115"/>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01EDC37D-B302-4C55-8371-0F33341C537D}" type="datetime1">
              <a:rPr lang="en-US" smtClean="0"/>
              <a:t>9/10/2026</a:t>
            </a:fld>
            <a:endParaRPr/>
          </a:p>
        </p:txBody>
      </p:sp>
      <p:sp>
        <p:nvSpPr>
          <p:cNvPr id="290" name="Google Shape;290;g27c3b57486c_1_115"/>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91" name="Google Shape;291;g27c3b57486c_1_115"/>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6</a:t>
            </a:fld>
            <a:endParaRPr/>
          </a:p>
        </p:txBody>
      </p:sp>
    </p:spTree>
    <p:extLst>
      <p:ext uri="{BB962C8B-B14F-4D97-AF65-F5344CB8AC3E}">
        <p14:creationId xmlns:p14="http://schemas.microsoft.com/office/powerpoint/2010/main" val="548831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MQTT Architecture</a:t>
            </a:r>
            <a:endParaRPr/>
          </a:p>
        </p:txBody>
      </p:sp>
      <p:sp>
        <p:nvSpPr>
          <p:cNvPr id="98" name="Google Shape;98;p8"/>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b="1"/>
              <a:t>To understand the MQTT architecture, we first look at the components of the MQTT:</a:t>
            </a:r>
            <a:endParaRPr/>
          </a:p>
          <a:p>
            <a:pPr marL="742950" lvl="1" indent="-285750">
              <a:spcBef>
                <a:spcPts val="560"/>
              </a:spcBef>
              <a:buClr>
                <a:schemeClr val="dk1"/>
              </a:buClr>
              <a:buSzPts val="2800"/>
              <a:buChar char="–"/>
            </a:pPr>
            <a:r>
              <a:rPr lang="en-US" b="1"/>
              <a:t>Message</a:t>
            </a:r>
            <a:endParaRPr/>
          </a:p>
          <a:p>
            <a:pPr marL="742950" lvl="1" indent="-285750">
              <a:spcBef>
                <a:spcPts val="560"/>
              </a:spcBef>
              <a:buClr>
                <a:schemeClr val="dk1"/>
              </a:buClr>
              <a:buSzPts val="2800"/>
              <a:buChar char="–"/>
            </a:pPr>
            <a:r>
              <a:rPr lang="en-US" b="1"/>
              <a:t>Client</a:t>
            </a:r>
            <a:endParaRPr/>
          </a:p>
          <a:p>
            <a:pPr marL="742950" lvl="1" indent="-285750">
              <a:spcBef>
                <a:spcPts val="560"/>
              </a:spcBef>
              <a:buClr>
                <a:schemeClr val="dk1"/>
              </a:buClr>
              <a:buSzPts val="2800"/>
              <a:buChar char="–"/>
            </a:pPr>
            <a:r>
              <a:rPr lang="en-US" b="1"/>
              <a:t>Server or Broker</a:t>
            </a:r>
            <a:endParaRPr/>
          </a:p>
          <a:p>
            <a:pPr marL="742950" lvl="1" indent="-285750">
              <a:spcBef>
                <a:spcPts val="560"/>
              </a:spcBef>
              <a:buClr>
                <a:schemeClr val="dk1"/>
              </a:buClr>
              <a:buSzPts val="2800"/>
              <a:buChar char="–"/>
            </a:pPr>
            <a:r>
              <a:rPr lang="en-US" b="1"/>
              <a:t>TOPIC</a:t>
            </a:r>
            <a:endParaRPr/>
          </a:p>
          <a:p>
            <a:pPr marL="342900" indent="-139700">
              <a:spcBef>
                <a:spcPts val="640"/>
              </a:spcBef>
              <a:buClr>
                <a:schemeClr val="dk1"/>
              </a:buClr>
              <a:buSzPts val="3200"/>
              <a:buNone/>
            </a:pPr>
            <a:endParaRPr/>
          </a:p>
        </p:txBody>
      </p:sp>
      <p:sp>
        <p:nvSpPr>
          <p:cNvPr id="99" name="Google Shape;99;p8"/>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002A30AB-C025-43F7-9B18-867BDC9D1A41}" type="datetime1">
              <a:rPr lang="en-US" smtClean="0"/>
              <a:t>9/10/2026</a:t>
            </a:fld>
            <a:endParaRPr/>
          </a:p>
        </p:txBody>
      </p:sp>
      <p:sp>
        <p:nvSpPr>
          <p:cNvPr id="100" name="Google Shape;100;p8"/>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01" name="Google Shape;101;p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7</a:t>
            </a:fld>
            <a:endParaRPr/>
          </a:p>
        </p:txBody>
      </p:sp>
    </p:spTree>
    <p:extLst>
      <p:ext uri="{BB962C8B-B14F-4D97-AF65-F5344CB8AC3E}">
        <p14:creationId xmlns:p14="http://schemas.microsoft.com/office/powerpoint/2010/main" val="36201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1981200" y="274638"/>
            <a:ext cx="8229600" cy="7921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Message</a:t>
            </a:r>
            <a:endParaRPr b="1"/>
          </a:p>
        </p:txBody>
      </p:sp>
      <p:sp>
        <p:nvSpPr>
          <p:cNvPr id="107" name="Google Shape;107;p9"/>
          <p:cNvSpPr txBox="1">
            <a:spLocks noGrp="1"/>
          </p:cNvSpPr>
          <p:nvPr>
            <p:ph type="body" idx="1"/>
          </p:nvPr>
        </p:nvSpPr>
        <p:spPr>
          <a:xfrm>
            <a:off x="1981200" y="1295401"/>
            <a:ext cx="8229600" cy="48307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a:t>The message is the data that is carried out by the protocol across the network for the application. </a:t>
            </a:r>
            <a:endParaRPr/>
          </a:p>
          <a:p>
            <a:pPr marL="342900" indent="-342900" algn="just">
              <a:spcBef>
                <a:spcPts val="640"/>
              </a:spcBef>
              <a:buClr>
                <a:schemeClr val="dk1"/>
              </a:buClr>
              <a:buSzPts val="3200"/>
            </a:pPr>
            <a:r>
              <a:rPr lang="en-US"/>
              <a:t>When the message is transmitted over the network, it contains the following parameters:</a:t>
            </a:r>
            <a:endParaRPr/>
          </a:p>
          <a:p>
            <a:pPr marL="742950" lvl="1" indent="-285750" algn="just">
              <a:spcBef>
                <a:spcPts val="560"/>
              </a:spcBef>
              <a:buClr>
                <a:schemeClr val="dk1"/>
              </a:buClr>
              <a:buSzPts val="2800"/>
              <a:buChar char="–"/>
            </a:pPr>
            <a:r>
              <a:rPr lang="en-US"/>
              <a:t>Payload data</a:t>
            </a:r>
            <a:endParaRPr/>
          </a:p>
          <a:p>
            <a:pPr marL="742950" lvl="1" indent="-285750" algn="just">
              <a:spcBef>
                <a:spcPts val="560"/>
              </a:spcBef>
              <a:buClr>
                <a:schemeClr val="dk1"/>
              </a:buClr>
              <a:buSzPts val="2800"/>
              <a:buChar char="–"/>
            </a:pPr>
            <a:r>
              <a:rPr lang="en-US"/>
              <a:t>Quality of Service (QoS) (0 (unAcked)/1(Acked, retransmitted)/2 (RTS, CTS)</a:t>
            </a:r>
            <a:endParaRPr/>
          </a:p>
          <a:p>
            <a:pPr marL="742950" lvl="1" indent="-285750" algn="just">
              <a:spcBef>
                <a:spcPts val="560"/>
              </a:spcBef>
              <a:buClr>
                <a:schemeClr val="dk1"/>
              </a:buClr>
              <a:buSzPts val="2800"/>
              <a:buChar char="–"/>
            </a:pPr>
            <a:r>
              <a:rPr lang="en-US"/>
              <a:t>Topic Name</a:t>
            </a:r>
            <a:endParaRPr/>
          </a:p>
          <a:p>
            <a:pPr marL="342900" indent="-139700">
              <a:spcBef>
                <a:spcPts val="640"/>
              </a:spcBef>
              <a:buClr>
                <a:schemeClr val="dk1"/>
              </a:buClr>
              <a:buSzPts val="3200"/>
              <a:buNone/>
            </a:pPr>
            <a:endParaRPr/>
          </a:p>
        </p:txBody>
      </p:sp>
      <p:sp>
        <p:nvSpPr>
          <p:cNvPr id="108" name="Google Shape;108;p9"/>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AAF55EA8-A6FA-45C3-8DD9-6DD065D5CD40}" type="datetime1">
              <a:rPr lang="en-US" smtClean="0"/>
              <a:t>9/10/2026</a:t>
            </a:fld>
            <a:endParaRPr/>
          </a:p>
        </p:txBody>
      </p:sp>
      <p:sp>
        <p:nvSpPr>
          <p:cNvPr id="109" name="Google Shape;109;p9"/>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10" name="Google Shape;110;p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8</a:t>
            </a:fld>
            <a:endParaRPr/>
          </a:p>
        </p:txBody>
      </p:sp>
    </p:spTree>
    <p:extLst>
      <p:ext uri="{BB962C8B-B14F-4D97-AF65-F5344CB8AC3E}">
        <p14:creationId xmlns:p14="http://schemas.microsoft.com/office/powerpoint/2010/main" val="125855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0"/>
          <p:cNvSpPr txBox="1">
            <a:spLocks noGrp="1"/>
          </p:cNvSpPr>
          <p:nvPr>
            <p:ph type="title"/>
          </p:nvPr>
        </p:nvSpPr>
        <p:spPr>
          <a:xfrm>
            <a:off x="1981200" y="274638"/>
            <a:ext cx="8229600" cy="639762"/>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a:t/>
            </a:r>
            <a:br>
              <a:rPr lang="en-US"/>
            </a:br>
            <a:r>
              <a:rPr lang="en-US"/>
              <a:t>MQTT Message Format</a:t>
            </a:r>
            <a:br>
              <a:rPr lang="en-US"/>
            </a:br>
            <a:endParaRPr/>
          </a:p>
        </p:txBody>
      </p:sp>
      <p:sp>
        <p:nvSpPr>
          <p:cNvPr id="116" name="Google Shape;116;p10"/>
          <p:cNvSpPr txBox="1">
            <a:spLocks noGrp="1"/>
          </p:cNvSpPr>
          <p:nvPr>
            <p:ph type="body" idx="1"/>
          </p:nvPr>
        </p:nvSpPr>
        <p:spPr>
          <a:xfrm>
            <a:off x="1981200" y="1066801"/>
            <a:ext cx="8229600" cy="50593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a:t>The MQTT uses the command and the command acknowledgment format.</a:t>
            </a:r>
            <a:endParaRPr/>
          </a:p>
          <a:p>
            <a:pPr marL="342900" indent="-342900" algn="just">
              <a:spcBef>
                <a:spcPts val="640"/>
              </a:spcBef>
              <a:buClr>
                <a:schemeClr val="dk1"/>
              </a:buClr>
              <a:buSzPts val="3200"/>
            </a:pPr>
            <a:r>
              <a:rPr lang="en-US"/>
              <a:t>This mechanism is similar to the handshaking mechanism as in TCP protocol.</a:t>
            </a:r>
            <a:endParaRPr/>
          </a:p>
        </p:txBody>
      </p:sp>
      <p:pic>
        <p:nvPicPr>
          <p:cNvPr id="117" name="Google Shape;117;p10"/>
          <p:cNvPicPr preferRelativeResize="0"/>
          <p:nvPr/>
        </p:nvPicPr>
        <p:blipFill rotWithShape="1">
          <a:blip r:embed="rId3">
            <a:alphaModFix/>
          </a:blip>
          <a:srcRect/>
          <a:stretch/>
        </p:blipFill>
        <p:spPr>
          <a:xfrm>
            <a:off x="2438400" y="3581400"/>
            <a:ext cx="7391400" cy="2530570"/>
          </a:xfrm>
          <a:prstGeom prst="rect">
            <a:avLst/>
          </a:prstGeom>
          <a:noFill/>
          <a:ln>
            <a:noFill/>
          </a:ln>
        </p:spPr>
      </p:pic>
      <p:sp>
        <p:nvSpPr>
          <p:cNvPr id="118" name="Google Shape;118;p10"/>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AB6ACDA3-AB51-4058-9EBC-BE41F24F2B15}" type="datetime1">
              <a:rPr lang="en-US" smtClean="0"/>
              <a:t>9/10/2026</a:t>
            </a:fld>
            <a:endParaRPr/>
          </a:p>
        </p:txBody>
      </p:sp>
      <p:sp>
        <p:nvSpPr>
          <p:cNvPr id="119" name="Google Shape;119;p10"/>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20" name="Google Shape;120;p10"/>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9</a:t>
            </a:fld>
            <a:endParaRPr/>
          </a:p>
        </p:txBody>
      </p:sp>
    </p:spTree>
    <p:extLst>
      <p:ext uri="{BB962C8B-B14F-4D97-AF65-F5344CB8AC3E}">
        <p14:creationId xmlns:p14="http://schemas.microsoft.com/office/powerpoint/2010/main" val="3928462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1"/>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MQTT Packet Structure</a:t>
            </a:r>
            <a:endParaRPr/>
          </a:p>
        </p:txBody>
      </p:sp>
      <p:sp>
        <p:nvSpPr>
          <p:cNvPr id="126" name="Google Shape;126;p11"/>
          <p:cNvSpPr txBox="1">
            <a:spLocks noGrp="1"/>
          </p:cNvSpPr>
          <p:nvPr>
            <p:ph type="body" idx="1"/>
          </p:nvPr>
        </p:nvSpPr>
        <p:spPr>
          <a:xfrm>
            <a:off x="1981200" y="1447801"/>
            <a:ext cx="8229600" cy="46783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a:t>The payload field basically contains the data which is being sent. Some commands do not use the payload field, for example, disconnect message.</a:t>
            </a:r>
            <a:endParaRPr/>
          </a:p>
        </p:txBody>
      </p:sp>
      <p:pic>
        <p:nvPicPr>
          <p:cNvPr id="127" name="Google Shape;127;p11"/>
          <p:cNvPicPr preferRelativeResize="0"/>
          <p:nvPr/>
        </p:nvPicPr>
        <p:blipFill rotWithShape="1">
          <a:blip r:embed="rId3">
            <a:alphaModFix/>
          </a:blip>
          <a:srcRect/>
          <a:stretch/>
        </p:blipFill>
        <p:spPr>
          <a:xfrm>
            <a:off x="2599912" y="3581400"/>
            <a:ext cx="7229889" cy="2347614"/>
          </a:xfrm>
          <a:prstGeom prst="rect">
            <a:avLst/>
          </a:prstGeom>
          <a:noFill/>
          <a:ln>
            <a:noFill/>
          </a:ln>
        </p:spPr>
      </p:pic>
      <p:sp>
        <p:nvSpPr>
          <p:cNvPr id="128" name="Google Shape;128;p11"/>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7BB6B5A1-5429-480F-89A6-4B36C1FE839A}" type="datetime1">
              <a:rPr lang="en-US" smtClean="0"/>
              <a:t>9/10/2026</a:t>
            </a:fld>
            <a:endParaRPr/>
          </a:p>
        </p:txBody>
      </p:sp>
      <p:sp>
        <p:nvSpPr>
          <p:cNvPr id="129" name="Google Shape;129;p11"/>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30" name="Google Shape;130;p11"/>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10</a:t>
            </a:fld>
            <a:endParaRPr/>
          </a:p>
        </p:txBody>
      </p:sp>
    </p:spTree>
    <p:extLst>
      <p:ext uri="{BB962C8B-B14F-4D97-AF65-F5344CB8AC3E}">
        <p14:creationId xmlns:p14="http://schemas.microsoft.com/office/powerpoint/2010/main" val="2988346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2"/>
          <p:cNvSpPr txBox="1">
            <a:spLocks noGrp="1"/>
          </p:cNvSpPr>
          <p:nvPr>
            <p:ph type="title"/>
          </p:nvPr>
        </p:nvSpPr>
        <p:spPr>
          <a:xfrm>
            <a:off x="1981200" y="274638"/>
            <a:ext cx="8229600" cy="10207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Fixed Header -2 bytes</a:t>
            </a:r>
            <a:endParaRPr/>
          </a:p>
        </p:txBody>
      </p:sp>
      <p:sp>
        <p:nvSpPr>
          <p:cNvPr id="136" name="Google Shape;136;p12"/>
          <p:cNvSpPr txBox="1">
            <a:spLocks noGrp="1"/>
          </p:cNvSpPr>
          <p:nvPr>
            <p:ph type="body" idx="1"/>
          </p:nvPr>
        </p:nvSpPr>
        <p:spPr>
          <a:xfrm>
            <a:off x="1981200" y="1371600"/>
            <a:ext cx="8229600" cy="4953000"/>
          </a:xfrm>
          <a:prstGeom prst="rect">
            <a:avLst/>
          </a:prstGeom>
          <a:noFill/>
          <a:ln>
            <a:noFill/>
          </a:ln>
        </p:spPr>
        <p:txBody>
          <a:bodyPr spcFirstLastPara="1" vert="horz" wrap="square" lIns="91425" tIns="45700" rIns="91425" bIns="45700" rtlCol="0" anchor="t" anchorCtr="0">
            <a:normAutofit lnSpcReduction="10000"/>
          </a:bodyPr>
          <a:lstStyle/>
          <a:p>
            <a:pPr marL="342900" indent="-170180">
              <a:spcBef>
                <a:spcPts val="0"/>
              </a:spcBef>
              <a:buClr>
                <a:schemeClr val="dk1"/>
              </a:buClr>
              <a:buSzPct val="100000"/>
              <a:buNone/>
            </a:pPr>
            <a:endParaRPr/>
          </a:p>
          <a:p>
            <a:pPr marL="342900" indent="-170180">
              <a:spcBef>
                <a:spcPts val="544"/>
              </a:spcBef>
              <a:buClr>
                <a:schemeClr val="dk1"/>
              </a:buClr>
              <a:buSzPct val="100000"/>
              <a:buNone/>
            </a:pPr>
            <a:endParaRPr/>
          </a:p>
          <a:p>
            <a:pPr marL="342900" indent="-170180">
              <a:spcBef>
                <a:spcPts val="544"/>
              </a:spcBef>
              <a:buClr>
                <a:schemeClr val="dk1"/>
              </a:buClr>
              <a:buSzPct val="100000"/>
              <a:buNone/>
            </a:pPr>
            <a:endParaRPr/>
          </a:p>
          <a:p>
            <a:pPr marL="342900" indent="-170180">
              <a:spcBef>
                <a:spcPts val="544"/>
              </a:spcBef>
              <a:buClr>
                <a:schemeClr val="dk1"/>
              </a:buClr>
              <a:buSzPct val="100000"/>
              <a:buNone/>
            </a:pPr>
            <a:endParaRPr/>
          </a:p>
          <a:p>
            <a:pPr marL="342900" indent="-170180">
              <a:spcBef>
                <a:spcPts val="544"/>
              </a:spcBef>
              <a:buClr>
                <a:schemeClr val="dk1"/>
              </a:buClr>
              <a:buSzPct val="100000"/>
              <a:buNone/>
            </a:pPr>
            <a:endParaRPr/>
          </a:p>
          <a:p>
            <a:pPr marL="342900" indent="-170180" algn="just">
              <a:spcBef>
                <a:spcPts val="544"/>
              </a:spcBef>
              <a:buClr>
                <a:schemeClr val="dk1"/>
              </a:buClr>
              <a:buSzPct val="100000"/>
              <a:buNone/>
            </a:pPr>
            <a:endParaRPr b="1"/>
          </a:p>
          <a:p>
            <a:pPr marL="342900" indent="-342900" algn="just">
              <a:spcBef>
                <a:spcPts val="544"/>
              </a:spcBef>
              <a:buClr>
                <a:schemeClr val="dk1"/>
              </a:buClr>
              <a:buSzPct val="100000"/>
            </a:pPr>
            <a:r>
              <a:rPr lang="en-US" b="1"/>
              <a:t>MQTT Control Packet Type:</a:t>
            </a:r>
            <a:r>
              <a:rPr lang="en-US"/>
              <a:t> It occupies 4 bits, i.e., 7 to 4-bit positions. This 4-bit is an assigned value, and each bit represents the MQTT control packet type.</a:t>
            </a:r>
            <a:endParaRPr/>
          </a:p>
          <a:p>
            <a:pPr marL="342900" indent="-342900" algn="just">
              <a:spcBef>
                <a:spcPts val="544"/>
              </a:spcBef>
              <a:buClr>
                <a:schemeClr val="dk1"/>
              </a:buClr>
              <a:buSzPct val="100000"/>
            </a:pPr>
            <a:r>
              <a:rPr lang="en-US" b="1"/>
              <a:t>Flag specific to each MQTT packet type:</a:t>
            </a:r>
            <a:r>
              <a:rPr lang="en-US"/>
              <a:t> The remaining 4-bits represent flag specific to each MQTT packet type.</a:t>
            </a:r>
            <a:endParaRPr/>
          </a:p>
          <a:p>
            <a:pPr marL="342900" indent="-170180">
              <a:spcBef>
                <a:spcPts val="544"/>
              </a:spcBef>
              <a:buClr>
                <a:schemeClr val="dk1"/>
              </a:buClr>
              <a:buSzPct val="100000"/>
              <a:buNone/>
            </a:pPr>
            <a:endParaRPr/>
          </a:p>
        </p:txBody>
      </p:sp>
      <p:pic>
        <p:nvPicPr>
          <p:cNvPr id="137" name="Google Shape;137;p12"/>
          <p:cNvPicPr preferRelativeResize="0"/>
          <p:nvPr/>
        </p:nvPicPr>
        <p:blipFill rotWithShape="1">
          <a:blip r:embed="rId3">
            <a:alphaModFix/>
          </a:blip>
          <a:srcRect/>
          <a:stretch/>
        </p:blipFill>
        <p:spPr>
          <a:xfrm>
            <a:off x="2097314" y="1295400"/>
            <a:ext cx="8113486" cy="2362200"/>
          </a:xfrm>
          <a:prstGeom prst="rect">
            <a:avLst/>
          </a:prstGeom>
          <a:noFill/>
          <a:ln>
            <a:noFill/>
          </a:ln>
        </p:spPr>
      </p:pic>
      <p:sp>
        <p:nvSpPr>
          <p:cNvPr id="138" name="Google Shape;138;p12"/>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515115A0-A573-4F7A-8740-C121ED84B8C9}" type="datetime1">
              <a:rPr lang="en-US" smtClean="0"/>
              <a:t>9/10/2026</a:t>
            </a:fld>
            <a:endParaRPr/>
          </a:p>
        </p:txBody>
      </p:sp>
      <p:sp>
        <p:nvSpPr>
          <p:cNvPr id="139" name="Google Shape;139;p12"/>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40" name="Google Shape;140;p12"/>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11</a:t>
            </a:fld>
            <a:endParaRPr/>
          </a:p>
        </p:txBody>
      </p:sp>
    </p:spTree>
    <p:extLst>
      <p:ext uri="{BB962C8B-B14F-4D97-AF65-F5344CB8AC3E}">
        <p14:creationId xmlns:p14="http://schemas.microsoft.com/office/powerpoint/2010/main" val="641612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3"/>
          <p:cNvSpPr txBox="1">
            <a:spLocks noGrp="1"/>
          </p:cNvSpPr>
          <p:nvPr>
            <p:ph type="title"/>
          </p:nvPr>
        </p:nvSpPr>
        <p:spPr>
          <a:xfrm>
            <a:off x="1981200" y="274638"/>
            <a:ext cx="8229600" cy="8683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MQTT Control Packet Types (4 bits)</a:t>
            </a:r>
            <a:endParaRPr/>
          </a:p>
        </p:txBody>
      </p:sp>
      <p:pic>
        <p:nvPicPr>
          <p:cNvPr id="146" name="Google Shape;146;p13"/>
          <p:cNvPicPr preferRelativeResize="0">
            <a:picLocks noGrp="1"/>
          </p:cNvPicPr>
          <p:nvPr>
            <p:ph type="body" idx="1"/>
          </p:nvPr>
        </p:nvPicPr>
        <p:blipFill rotWithShape="1">
          <a:blip r:embed="rId3">
            <a:alphaModFix/>
          </a:blip>
          <a:srcRect/>
          <a:stretch/>
        </p:blipFill>
        <p:spPr>
          <a:xfrm>
            <a:off x="2057400" y="1219200"/>
            <a:ext cx="8382000" cy="5219700"/>
          </a:xfrm>
          <a:prstGeom prst="rect">
            <a:avLst/>
          </a:prstGeom>
          <a:noFill/>
          <a:ln>
            <a:noFill/>
          </a:ln>
        </p:spPr>
      </p:pic>
      <p:sp>
        <p:nvSpPr>
          <p:cNvPr id="147" name="Google Shape;147;p13"/>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14F40307-DB19-4C4C-8BF1-3F14163266A3}" type="datetime1">
              <a:rPr lang="en-US" smtClean="0"/>
              <a:t>9/10/2026</a:t>
            </a:fld>
            <a:endParaRPr/>
          </a:p>
        </p:txBody>
      </p:sp>
      <p:sp>
        <p:nvSpPr>
          <p:cNvPr id="148" name="Google Shape;148;p13"/>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49" name="Google Shape;149;p13"/>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12</a:t>
            </a:fld>
            <a:endParaRPr/>
          </a:p>
        </p:txBody>
      </p:sp>
    </p:spTree>
    <p:extLst>
      <p:ext uri="{BB962C8B-B14F-4D97-AF65-F5344CB8AC3E}">
        <p14:creationId xmlns:p14="http://schemas.microsoft.com/office/powerpoint/2010/main" val="2895344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a:spLocks noGrp="1"/>
          </p:cNvSpPr>
          <p:nvPr>
            <p:ph type="title"/>
          </p:nvPr>
        </p:nvSpPr>
        <p:spPr>
          <a:xfrm>
            <a:off x="1981200" y="274638"/>
            <a:ext cx="8229600" cy="7159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ct val="100000"/>
            </a:pPr>
            <a:r>
              <a:rPr lang="en-US"/>
              <a:t>Fixed Header: Remaining Length </a:t>
            </a:r>
            <a:endParaRPr/>
          </a:p>
        </p:txBody>
      </p:sp>
      <p:sp>
        <p:nvSpPr>
          <p:cNvPr id="155" name="Google Shape;155;p14"/>
          <p:cNvSpPr txBox="1">
            <a:spLocks noGrp="1"/>
          </p:cNvSpPr>
          <p:nvPr>
            <p:ph type="body" idx="1"/>
          </p:nvPr>
        </p:nvSpPr>
        <p:spPr>
          <a:xfrm>
            <a:off x="1828800" y="1248508"/>
            <a:ext cx="8382000" cy="4999892"/>
          </a:xfrm>
          <a:prstGeom prst="rect">
            <a:avLst/>
          </a:prstGeom>
          <a:noFill/>
          <a:ln>
            <a:noFill/>
          </a:ln>
        </p:spPr>
        <p:txBody>
          <a:bodyPr spcFirstLastPara="1" vert="horz" wrap="square" lIns="91425" tIns="45700" rIns="91425" bIns="45700" rtlCol="0" anchor="t" anchorCtr="0">
            <a:normAutofit fontScale="62500" lnSpcReduction="20000"/>
          </a:bodyPr>
          <a:lstStyle/>
          <a:p>
            <a:pPr marL="342900" indent="-342900" algn="just">
              <a:spcBef>
                <a:spcPts val="0"/>
              </a:spcBef>
              <a:buClr>
                <a:schemeClr val="dk1"/>
              </a:buClr>
              <a:buSzPct val="100000"/>
            </a:pPr>
            <a:r>
              <a:rPr lang="en-US" sz="4500" dirty="0"/>
              <a:t>The byte 2 contains the remaining length, which is a variable-length byte integer. </a:t>
            </a:r>
            <a:endParaRPr lang="en-US" sz="4500" dirty="0" smtClean="0"/>
          </a:p>
          <a:p>
            <a:pPr marL="342900" indent="-342900" algn="just">
              <a:spcBef>
                <a:spcPts val="0"/>
              </a:spcBef>
              <a:buClr>
                <a:schemeClr val="dk1"/>
              </a:buClr>
              <a:buSzPct val="100000"/>
            </a:pPr>
            <a:r>
              <a:rPr lang="en-US" sz="4500" dirty="0" smtClean="0"/>
              <a:t>It </a:t>
            </a:r>
            <a:r>
              <a:rPr lang="en-US" sz="4500" dirty="0"/>
              <a:t>represents the number of bytes remaining in a current </a:t>
            </a:r>
            <a:r>
              <a:rPr lang="en-US" sz="4500" dirty="0" smtClean="0"/>
              <a:t>packet</a:t>
            </a:r>
            <a:r>
              <a:rPr lang="en-US" sz="4500" dirty="0"/>
              <a:t>, including data in the variable header and payload. </a:t>
            </a:r>
            <a:endParaRPr sz="4500" dirty="0"/>
          </a:p>
          <a:p>
            <a:pPr marL="342900" indent="-342900" algn="just">
              <a:spcBef>
                <a:spcPts val="475"/>
              </a:spcBef>
              <a:buClr>
                <a:schemeClr val="dk1"/>
              </a:buClr>
              <a:buSzPct val="100000"/>
            </a:pPr>
            <a:r>
              <a:rPr lang="en-US" sz="4500" dirty="0"/>
              <a:t>Remaining length = length of variable header + length of payload</a:t>
            </a:r>
            <a:endParaRPr sz="4500" dirty="0"/>
          </a:p>
          <a:p>
            <a:pPr marL="342900" indent="-342900" algn="just">
              <a:spcBef>
                <a:spcPts val="475"/>
              </a:spcBef>
              <a:buClr>
                <a:schemeClr val="dk1"/>
              </a:buClr>
              <a:buSzPct val="100000"/>
            </a:pPr>
            <a:r>
              <a:rPr lang="en-US" sz="4500" dirty="0"/>
              <a:t>For example, if the length of the variable header is 20 and the length of the payload is 30, then the remaining length is 50.</a:t>
            </a:r>
            <a:endParaRPr sz="4500" dirty="0"/>
          </a:p>
          <a:p>
            <a:pPr marL="342900" indent="-342900" algn="just">
              <a:spcBef>
                <a:spcPts val="475"/>
              </a:spcBef>
              <a:buClr>
                <a:schemeClr val="dk1"/>
              </a:buClr>
              <a:buSzPct val="100000"/>
            </a:pPr>
            <a:r>
              <a:rPr lang="en-US" sz="4500" dirty="0" smtClean="0"/>
              <a:t>This </a:t>
            </a:r>
            <a:r>
              <a:rPr lang="en-US" sz="4500" dirty="0"/>
              <a:t>field uses 7-bit for the lengths, and MSB bit can be used </a:t>
            </a:r>
            <a:r>
              <a:rPr lang="en-US" sz="4500" dirty="0" smtClean="0"/>
              <a:t>as a </a:t>
            </a:r>
            <a:r>
              <a:rPr lang="en-US" sz="4500" dirty="0"/>
              <a:t>continue </a:t>
            </a:r>
            <a:r>
              <a:rPr lang="en-US" sz="4500" dirty="0" smtClean="0"/>
              <a:t>flag</a:t>
            </a:r>
            <a:r>
              <a:rPr lang="en-US" sz="4500" dirty="0"/>
              <a:t>. If the continuation flag is 1, the next byte is also a part of the remaining length. </a:t>
            </a:r>
            <a:endParaRPr sz="4500" dirty="0"/>
          </a:p>
          <a:p>
            <a:pPr marL="342900" indent="-342900" algn="just">
              <a:spcBef>
                <a:spcPts val="475"/>
              </a:spcBef>
              <a:buClr>
                <a:schemeClr val="dk1"/>
              </a:buClr>
              <a:buSzPct val="100000"/>
            </a:pPr>
            <a:r>
              <a:rPr lang="en-US" sz="4500" dirty="0"/>
              <a:t>If the continuation flag is 0, the byte is the last one of the remaining length.</a:t>
            </a:r>
            <a:endParaRPr sz="4500" dirty="0"/>
          </a:p>
          <a:p>
            <a:pPr marL="342900" indent="-215900" algn="just">
              <a:spcBef>
                <a:spcPts val="400"/>
              </a:spcBef>
              <a:buClr>
                <a:schemeClr val="dk1"/>
              </a:buClr>
              <a:buSzPct val="100000"/>
              <a:buNone/>
            </a:pPr>
            <a:endParaRPr dirty="0"/>
          </a:p>
        </p:txBody>
      </p:sp>
      <p:sp>
        <p:nvSpPr>
          <p:cNvPr id="156" name="Google Shape;156;p14"/>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8F42703B-3F15-42EF-9ED6-4A1EE77D2CB0}" type="datetime1">
              <a:rPr lang="en-US" smtClean="0"/>
              <a:t>9/10/2026</a:t>
            </a:fld>
            <a:endParaRPr/>
          </a:p>
        </p:txBody>
      </p:sp>
      <p:sp>
        <p:nvSpPr>
          <p:cNvPr id="157" name="Google Shape;157;p14"/>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58" name="Google Shape;158;p14"/>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13</a:t>
            </a:fld>
            <a:endParaRPr/>
          </a:p>
        </p:txBody>
      </p:sp>
    </p:spTree>
    <p:extLst>
      <p:ext uri="{BB962C8B-B14F-4D97-AF65-F5344CB8AC3E}">
        <p14:creationId xmlns:p14="http://schemas.microsoft.com/office/powerpoint/2010/main" val="2872777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5"/>
          <p:cNvSpPr txBox="1">
            <a:spLocks noGrp="1"/>
          </p:cNvSpPr>
          <p:nvPr>
            <p:ph type="title"/>
          </p:nvPr>
        </p:nvSpPr>
        <p:spPr>
          <a:xfrm>
            <a:off x="1981200" y="274638"/>
            <a:ext cx="8229600" cy="944562"/>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Variable Header</a:t>
            </a:r>
            <a:endParaRPr/>
          </a:p>
        </p:txBody>
      </p:sp>
      <p:sp>
        <p:nvSpPr>
          <p:cNvPr id="165" name="Google Shape;165;p15"/>
          <p:cNvSpPr txBox="1">
            <a:spLocks noGrp="1"/>
          </p:cNvSpPr>
          <p:nvPr>
            <p:ph type="body" idx="1"/>
          </p:nvPr>
        </p:nvSpPr>
        <p:spPr>
          <a:xfrm>
            <a:off x="1981200" y="1295401"/>
            <a:ext cx="8229600" cy="48307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ct val="100000"/>
            </a:pPr>
            <a:r>
              <a:rPr lang="en-US" dirty="0"/>
              <a:t>Some types of MQTT control packet types contain an optional </a:t>
            </a:r>
            <a:r>
              <a:rPr lang="en-US" dirty="0" smtClean="0"/>
              <a:t>variable </a:t>
            </a:r>
            <a:r>
              <a:rPr lang="en-US" dirty="0"/>
              <a:t>header component. </a:t>
            </a:r>
            <a:endParaRPr lang="en-US" dirty="0" smtClean="0"/>
          </a:p>
          <a:p>
            <a:pPr marL="342900" indent="-342900" algn="just">
              <a:spcBef>
                <a:spcPts val="0"/>
              </a:spcBef>
              <a:buClr>
                <a:schemeClr val="dk1"/>
              </a:buClr>
              <a:buSzPct val="100000"/>
            </a:pPr>
            <a:r>
              <a:rPr lang="en-US" dirty="0" smtClean="0"/>
              <a:t>The </a:t>
            </a:r>
            <a:r>
              <a:rPr lang="en-US" dirty="0"/>
              <a:t>content of the variable header depends upon the packet type</a:t>
            </a:r>
            <a:r>
              <a:rPr lang="en-US" dirty="0" smtClean="0"/>
              <a:t>.</a:t>
            </a:r>
          </a:p>
          <a:p>
            <a:pPr marL="342900" indent="-342900" algn="just">
              <a:spcBef>
                <a:spcPts val="0"/>
              </a:spcBef>
              <a:buClr>
                <a:schemeClr val="dk1"/>
              </a:buClr>
              <a:buSzPct val="100000"/>
            </a:pPr>
            <a:r>
              <a:rPr lang="en-US" dirty="0" smtClean="0"/>
              <a:t> </a:t>
            </a:r>
            <a:r>
              <a:rPr lang="en-US" dirty="0"/>
              <a:t>The variable header contains the packet identifier field, which is common in several packet types. </a:t>
            </a:r>
            <a:endParaRPr lang="en-US" dirty="0" smtClean="0"/>
          </a:p>
          <a:p>
            <a:pPr marL="342900" indent="-342900" algn="just">
              <a:spcBef>
                <a:spcPts val="0"/>
              </a:spcBef>
              <a:buClr>
                <a:schemeClr val="dk1"/>
              </a:buClr>
              <a:buSzPct val="100000"/>
            </a:pPr>
            <a:r>
              <a:rPr lang="en-US" dirty="0" smtClean="0"/>
              <a:t>The </a:t>
            </a:r>
            <a:r>
              <a:rPr lang="en-US" dirty="0"/>
              <a:t>variable header component of many MQTT control packet types includes 2-byte integer, i.e., the packet identifier field.</a:t>
            </a:r>
            <a:endParaRPr dirty="0"/>
          </a:p>
        </p:txBody>
      </p:sp>
      <p:sp>
        <p:nvSpPr>
          <p:cNvPr id="166" name="Google Shape;166;p15"/>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29FA83D3-D2FD-4C92-819C-8811CBBC5BD4}" type="datetime1">
              <a:rPr lang="en-US" smtClean="0"/>
              <a:t>9/10/2026</a:t>
            </a:fld>
            <a:endParaRPr/>
          </a:p>
        </p:txBody>
      </p:sp>
      <p:sp>
        <p:nvSpPr>
          <p:cNvPr id="167" name="Google Shape;167;p15"/>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68" name="Google Shape;168;p15"/>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14</a:t>
            </a:fld>
            <a:endParaRPr/>
          </a:p>
        </p:txBody>
      </p:sp>
    </p:spTree>
    <p:extLst>
      <p:ext uri="{BB962C8B-B14F-4D97-AF65-F5344CB8AC3E}">
        <p14:creationId xmlns:p14="http://schemas.microsoft.com/office/powerpoint/2010/main" val="3148440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Example: Packet identifier field</a:t>
            </a:r>
            <a:endParaRPr/>
          </a:p>
        </p:txBody>
      </p:sp>
      <p:sp>
        <p:nvSpPr>
          <p:cNvPr id="174" name="Google Shape;174;p16"/>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ct val="100000"/>
            </a:pPr>
            <a:r>
              <a:rPr lang="en-US"/>
              <a:t>PUBLISH</a:t>
            </a:r>
            <a:endParaRPr/>
          </a:p>
          <a:p>
            <a:pPr marL="342900" indent="-342900">
              <a:spcBef>
                <a:spcPts val="592"/>
              </a:spcBef>
              <a:buClr>
                <a:schemeClr val="dk1"/>
              </a:buClr>
              <a:buSzPct val="100000"/>
            </a:pPr>
            <a:r>
              <a:rPr lang="en-US"/>
              <a:t>PUBACK</a:t>
            </a:r>
            <a:endParaRPr/>
          </a:p>
          <a:p>
            <a:pPr marL="342900" indent="-342900">
              <a:spcBef>
                <a:spcPts val="592"/>
              </a:spcBef>
              <a:buClr>
                <a:schemeClr val="dk1"/>
              </a:buClr>
              <a:buSzPct val="100000"/>
            </a:pPr>
            <a:r>
              <a:rPr lang="en-US"/>
              <a:t>PUBREC</a:t>
            </a:r>
            <a:endParaRPr/>
          </a:p>
          <a:p>
            <a:pPr marL="342900" indent="-342900">
              <a:spcBef>
                <a:spcPts val="592"/>
              </a:spcBef>
              <a:buClr>
                <a:schemeClr val="dk1"/>
              </a:buClr>
              <a:buSzPct val="100000"/>
            </a:pPr>
            <a:r>
              <a:rPr lang="en-US"/>
              <a:t>PUBREL</a:t>
            </a:r>
            <a:endParaRPr/>
          </a:p>
          <a:p>
            <a:pPr marL="342900" indent="-342900">
              <a:spcBef>
                <a:spcPts val="592"/>
              </a:spcBef>
              <a:buClr>
                <a:schemeClr val="dk1"/>
              </a:buClr>
              <a:buSzPct val="100000"/>
            </a:pPr>
            <a:r>
              <a:rPr lang="en-US"/>
              <a:t>PUBCOMP</a:t>
            </a:r>
            <a:endParaRPr/>
          </a:p>
          <a:p>
            <a:pPr marL="342900" indent="-342900">
              <a:spcBef>
                <a:spcPts val="592"/>
              </a:spcBef>
              <a:buClr>
                <a:schemeClr val="dk1"/>
              </a:buClr>
              <a:buSzPct val="100000"/>
            </a:pPr>
            <a:r>
              <a:rPr lang="en-US"/>
              <a:t>SUBSCRIBE</a:t>
            </a:r>
            <a:endParaRPr/>
          </a:p>
          <a:p>
            <a:pPr marL="342900" indent="-342900">
              <a:spcBef>
                <a:spcPts val="592"/>
              </a:spcBef>
              <a:buClr>
                <a:schemeClr val="dk1"/>
              </a:buClr>
              <a:buSzPct val="100000"/>
            </a:pPr>
            <a:r>
              <a:rPr lang="en-US"/>
              <a:t>SUBACK</a:t>
            </a:r>
            <a:endParaRPr/>
          </a:p>
          <a:p>
            <a:pPr marL="342900" indent="-342900">
              <a:spcBef>
                <a:spcPts val="592"/>
              </a:spcBef>
              <a:buClr>
                <a:schemeClr val="dk1"/>
              </a:buClr>
              <a:buSzPct val="100000"/>
            </a:pPr>
            <a:r>
              <a:rPr lang="en-US"/>
              <a:t>UNSUBSCRIBE</a:t>
            </a:r>
            <a:endParaRPr/>
          </a:p>
          <a:p>
            <a:pPr marL="342900" indent="-342900">
              <a:spcBef>
                <a:spcPts val="592"/>
              </a:spcBef>
              <a:buClr>
                <a:schemeClr val="dk1"/>
              </a:buClr>
              <a:buSzPct val="100000"/>
            </a:pPr>
            <a:r>
              <a:rPr lang="en-US"/>
              <a:t>UNSUBACK</a:t>
            </a:r>
            <a:endParaRPr/>
          </a:p>
          <a:p>
            <a:pPr marL="342900" indent="-154940">
              <a:spcBef>
                <a:spcPts val="592"/>
              </a:spcBef>
              <a:buClr>
                <a:schemeClr val="dk1"/>
              </a:buClr>
              <a:buSzPct val="100000"/>
              <a:buNone/>
            </a:pPr>
            <a:endParaRPr/>
          </a:p>
        </p:txBody>
      </p:sp>
      <p:sp>
        <p:nvSpPr>
          <p:cNvPr id="175" name="Google Shape;175;p16"/>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6D15A788-2CD0-4CF2-8EFB-BA0950F5597C}" type="datetime1">
              <a:rPr lang="en-US" smtClean="0"/>
              <a:t>9/10/2026</a:t>
            </a:fld>
            <a:endParaRPr/>
          </a:p>
        </p:txBody>
      </p:sp>
      <p:sp>
        <p:nvSpPr>
          <p:cNvPr id="176" name="Google Shape;176;p16"/>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77" name="Google Shape;177;p16"/>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15</a:t>
            </a:fld>
            <a:endParaRPr/>
          </a:p>
        </p:txBody>
      </p:sp>
    </p:spTree>
    <p:extLst>
      <p:ext uri="{BB962C8B-B14F-4D97-AF65-F5344CB8AC3E}">
        <p14:creationId xmlns:p14="http://schemas.microsoft.com/office/powerpoint/2010/main" val="982168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7"/>
          <p:cNvSpPr txBox="1">
            <a:spLocks noGrp="1"/>
          </p:cNvSpPr>
          <p:nvPr>
            <p:ph type="title"/>
          </p:nvPr>
        </p:nvSpPr>
        <p:spPr>
          <a:xfrm>
            <a:off x="1981200" y="152400"/>
            <a:ext cx="8229600" cy="9906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dirty="0"/>
              <a:t>Key points related to the packet identifier field:</a:t>
            </a:r>
            <a:endParaRPr dirty="0"/>
          </a:p>
        </p:txBody>
      </p:sp>
      <p:sp>
        <p:nvSpPr>
          <p:cNvPr id="183" name="Google Shape;183;p17"/>
          <p:cNvSpPr txBox="1">
            <a:spLocks noGrp="1"/>
          </p:cNvSpPr>
          <p:nvPr>
            <p:ph type="body" idx="1"/>
          </p:nvPr>
        </p:nvSpPr>
        <p:spPr>
          <a:xfrm>
            <a:off x="1981200" y="1459522"/>
            <a:ext cx="8229600" cy="4865077"/>
          </a:xfrm>
          <a:prstGeom prst="rect">
            <a:avLst/>
          </a:prstGeom>
          <a:noFill/>
          <a:ln>
            <a:noFill/>
          </a:ln>
        </p:spPr>
        <p:txBody>
          <a:bodyPr spcFirstLastPara="1" vert="horz" wrap="square" lIns="91425" tIns="45700" rIns="91425" bIns="45700" rtlCol="0" anchor="t" anchorCtr="0">
            <a:noAutofit/>
          </a:bodyPr>
          <a:lstStyle/>
          <a:p>
            <a:pPr marL="342900" indent="-342900" algn="just">
              <a:spcBef>
                <a:spcPts val="0"/>
              </a:spcBef>
              <a:buClr>
                <a:schemeClr val="dk1"/>
              </a:buClr>
              <a:buSzPts val="2000"/>
            </a:pPr>
            <a:r>
              <a:rPr lang="en-US" sz="2000" dirty="0"/>
              <a:t>A PUBLISH packet should not contain the packet identifier field if the value of </a:t>
            </a:r>
            <a:r>
              <a:rPr lang="en-US" sz="2000" dirty="0" err="1"/>
              <a:t>QoS</a:t>
            </a:r>
            <a:r>
              <a:rPr lang="en-US" sz="2000" dirty="0"/>
              <a:t> is set to zero. It implies that if the value of </a:t>
            </a:r>
            <a:r>
              <a:rPr lang="en-US" sz="2000" dirty="0" err="1"/>
              <a:t>QoS</a:t>
            </a:r>
            <a:r>
              <a:rPr lang="en-US" sz="2000" dirty="0"/>
              <a:t> is greater than zero, only the PUBLISH packet will contain the packet identifier field.</a:t>
            </a:r>
            <a:endParaRPr dirty="0"/>
          </a:p>
          <a:p>
            <a:pPr marL="342900" indent="-342900" algn="just">
              <a:spcBef>
                <a:spcPts val="400"/>
              </a:spcBef>
              <a:buClr>
                <a:schemeClr val="dk1"/>
              </a:buClr>
              <a:buSzPts val="2000"/>
            </a:pPr>
            <a:r>
              <a:rPr lang="en-US" sz="2000" dirty="0"/>
              <a:t>When a client sends a new SUBSCRIBE, UNSUBSCRIBE, or PUBLISH MQTT control packet, it should assign a non-zero packet identifier that is currently unused.</a:t>
            </a:r>
            <a:endParaRPr dirty="0"/>
          </a:p>
          <a:p>
            <a:pPr marL="342900" indent="-342900" algn="just">
              <a:spcBef>
                <a:spcPts val="400"/>
              </a:spcBef>
              <a:buClr>
                <a:schemeClr val="dk1"/>
              </a:buClr>
              <a:buSzPts val="2000"/>
            </a:pPr>
            <a:r>
              <a:rPr lang="en-US" sz="2000" dirty="0"/>
              <a:t>A PUBACK, PUBREC, PUBUREL, are the acknowledgment packets of PUBLISH command that contain the same packet identifier as the PUBLISH packet.</a:t>
            </a:r>
            <a:endParaRPr dirty="0"/>
          </a:p>
          <a:p>
            <a:pPr marL="342900" indent="-342900" algn="just">
              <a:spcBef>
                <a:spcPts val="400"/>
              </a:spcBef>
              <a:buClr>
                <a:schemeClr val="dk1"/>
              </a:buClr>
              <a:buSzPts val="2000"/>
            </a:pPr>
            <a:r>
              <a:rPr lang="en-US" sz="2000" dirty="0"/>
              <a:t>A SUBACK and UNSUBACK are the acknowledgment packets of SUBSCRIBE and UNSUBSCRIBE, respectively. Both the packets, i.e., SUBACK and UNSUBACK, use the same packet identifier as the SUBSCRIBE and UNSUBSCRIBE packets.</a:t>
            </a:r>
            <a:endParaRPr sz="2000" dirty="0"/>
          </a:p>
        </p:txBody>
      </p:sp>
      <p:sp>
        <p:nvSpPr>
          <p:cNvPr id="184" name="Google Shape;184;p17"/>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911DC3BA-B8F3-4AB8-99A4-4D42AAFE9A0D}" type="datetime1">
              <a:rPr lang="en-US" smtClean="0"/>
              <a:t>9/10/2026</a:t>
            </a:fld>
            <a:endParaRPr/>
          </a:p>
        </p:txBody>
      </p:sp>
      <p:sp>
        <p:nvSpPr>
          <p:cNvPr id="185" name="Google Shape;185;p17"/>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86" name="Google Shape;186;p1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16</a:t>
            </a:fld>
            <a:endParaRPr/>
          </a:p>
        </p:txBody>
      </p:sp>
    </p:spTree>
    <p:extLst>
      <p:ext uri="{BB962C8B-B14F-4D97-AF65-F5344CB8AC3E}">
        <p14:creationId xmlns:p14="http://schemas.microsoft.com/office/powerpoint/2010/main" val="1065350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Payload</a:t>
            </a:r>
            <a:endParaRPr/>
          </a:p>
        </p:txBody>
      </p:sp>
      <p:sp>
        <p:nvSpPr>
          <p:cNvPr id="192" name="Google Shape;192;p18"/>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ts val="3200"/>
            </a:pPr>
            <a:r>
              <a:rPr lang="en-US" dirty="0"/>
              <a:t>The last MQTT control packet is the payload. This field contains the data which is to be sent. For example, in the case of the CONNECT packet, the payload is a client ID, the username and password, and </a:t>
            </a:r>
            <a:r>
              <a:rPr lang="en-US" dirty="0" smtClean="0"/>
              <a:t>for the </a:t>
            </a:r>
            <a:r>
              <a:rPr lang="en-US" dirty="0"/>
              <a:t>PUBLISH packet, the payload is just an application message.</a:t>
            </a:r>
            <a:endParaRPr dirty="0"/>
          </a:p>
        </p:txBody>
      </p:sp>
      <p:sp>
        <p:nvSpPr>
          <p:cNvPr id="193" name="Google Shape;193;p18"/>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5496C04B-B4E4-4861-98A7-A7B881D09CC7}" type="datetime1">
              <a:rPr lang="en-US" smtClean="0"/>
              <a:t>9/10/2026</a:t>
            </a:fld>
            <a:endParaRPr/>
          </a:p>
        </p:txBody>
      </p:sp>
      <p:sp>
        <p:nvSpPr>
          <p:cNvPr id="194" name="Google Shape;194;p18"/>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195" name="Google Shape;195;p18"/>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17</a:t>
            </a:fld>
            <a:endParaRPr/>
          </a:p>
        </p:txBody>
      </p:sp>
    </p:spTree>
    <p:extLst>
      <p:ext uri="{BB962C8B-B14F-4D97-AF65-F5344CB8AC3E}">
        <p14:creationId xmlns:p14="http://schemas.microsoft.com/office/powerpoint/2010/main" val="173059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endParaRPr/>
          </a:p>
        </p:txBody>
      </p:sp>
      <p:pic>
        <p:nvPicPr>
          <p:cNvPr id="201" name="Google Shape;201;p19"/>
          <p:cNvPicPr preferRelativeResize="0">
            <a:picLocks noGrp="1"/>
          </p:cNvPicPr>
          <p:nvPr>
            <p:ph type="body" idx="1"/>
          </p:nvPr>
        </p:nvPicPr>
        <p:blipFill rotWithShape="1">
          <a:blip r:embed="rId3">
            <a:alphaModFix/>
          </a:blip>
          <a:srcRect/>
          <a:stretch/>
        </p:blipFill>
        <p:spPr>
          <a:xfrm>
            <a:off x="1752600" y="76201"/>
            <a:ext cx="8686800" cy="6597797"/>
          </a:xfrm>
          <a:prstGeom prst="rect">
            <a:avLst/>
          </a:prstGeom>
          <a:noFill/>
          <a:ln>
            <a:noFill/>
          </a:ln>
        </p:spPr>
      </p:pic>
      <p:sp>
        <p:nvSpPr>
          <p:cNvPr id="202" name="Google Shape;202;p19"/>
          <p:cNvSpPr txBox="1">
            <a:spLocks noGrp="1"/>
          </p:cNvSpPr>
          <p:nvPr>
            <p:ph type="dt" idx="10"/>
          </p:nvPr>
        </p:nvSpPr>
        <p:spPr>
          <a:xfrm>
            <a:off x="1981200" y="6356351"/>
            <a:ext cx="2133600" cy="365125"/>
          </a:xfrm>
          <a:prstGeom prst="rect">
            <a:avLst/>
          </a:prstGeom>
          <a:noFill/>
          <a:ln>
            <a:noFill/>
          </a:ln>
        </p:spPr>
        <p:txBody>
          <a:bodyPr spcFirstLastPara="1" vert="horz" wrap="square" lIns="91425" tIns="45700" rIns="91425" bIns="45700" rtlCol="0" anchor="ctr" anchorCtr="0">
            <a:noAutofit/>
          </a:bodyPr>
          <a:lstStyle/>
          <a:p>
            <a:fld id="{67182F25-95DB-4F1A-A74F-135988276F98}" type="datetime1">
              <a:rPr lang="en-US" smtClean="0"/>
              <a:t>9/10/2026</a:t>
            </a:fld>
            <a:endParaRPr/>
          </a:p>
        </p:txBody>
      </p:sp>
      <p:sp>
        <p:nvSpPr>
          <p:cNvPr id="203" name="Google Shape;203;p19"/>
          <p:cNvSpPr txBox="1">
            <a:spLocks noGrp="1"/>
          </p:cNvSpPr>
          <p:nvPr>
            <p:ph type="ftr" idx="11"/>
          </p:nvPr>
        </p:nvSpPr>
        <p:spPr>
          <a:xfrm>
            <a:off x="4648200" y="6356351"/>
            <a:ext cx="2895600" cy="365125"/>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04" name="Google Shape;204;p19"/>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18</a:t>
            </a:fld>
            <a:endParaRPr/>
          </a:p>
        </p:txBody>
      </p:sp>
    </p:spTree>
    <p:extLst>
      <p:ext uri="{BB962C8B-B14F-4D97-AF65-F5344CB8AC3E}">
        <p14:creationId xmlns:p14="http://schemas.microsoft.com/office/powerpoint/2010/main" val="4271400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242571989b7_0_0"/>
          <p:cNvSpPr txBox="1">
            <a:spLocks noGrp="1"/>
          </p:cNvSpPr>
          <p:nvPr>
            <p:ph type="title"/>
          </p:nvPr>
        </p:nvSpPr>
        <p:spPr>
          <a:xfrm>
            <a:off x="1981200" y="228600"/>
            <a:ext cx="8229600" cy="9144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Client</a:t>
            </a:r>
            <a:endParaRPr b="1"/>
          </a:p>
        </p:txBody>
      </p:sp>
      <p:sp>
        <p:nvSpPr>
          <p:cNvPr id="210" name="Google Shape;210;g242571989b7_0_0"/>
          <p:cNvSpPr txBox="1">
            <a:spLocks noGrp="1"/>
          </p:cNvSpPr>
          <p:nvPr>
            <p:ph type="body" idx="1"/>
          </p:nvPr>
        </p:nvSpPr>
        <p:spPr>
          <a:xfrm>
            <a:off x="1981200" y="1143000"/>
            <a:ext cx="8229600" cy="4983300"/>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chemeClr val="dk1"/>
              </a:buClr>
              <a:buSzPct val="100000"/>
            </a:pPr>
            <a:r>
              <a:rPr lang="en-US" dirty="0"/>
              <a:t>In MQTT, the subscriber and publisher are the two roles of a client. </a:t>
            </a:r>
            <a:endParaRPr dirty="0"/>
          </a:p>
          <a:p>
            <a:pPr marL="342900" indent="-342900" algn="just">
              <a:spcBef>
                <a:spcPts val="592"/>
              </a:spcBef>
              <a:buClr>
                <a:schemeClr val="dk1"/>
              </a:buClr>
              <a:buSzPct val="100000"/>
            </a:pPr>
            <a:r>
              <a:rPr lang="en-US" dirty="0"/>
              <a:t>The clients subscribe to the topics to publish and receive messages. </a:t>
            </a:r>
            <a:endParaRPr dirty="0"/>
          </a:p>
          <a:p>
            <a:pPr marL="342900" indent="-342900" algn="just">
              <a:spcBef>
                <a:spcPts val="592"/>
              </a:spcBef>
              <a:buClr>
                <a:schemeClr val="dk1"/>
              </a:buClr>
              <a:buSzPct val="145454"/>
            </a:pPr>
            <a:r>
              <a:rPr lang="en-US" dirty="0"/>
              <a:t>A device is a client if it opens the network connection to the </a:t>
            </a:r>
            <a:r>
              <a:rPr lang="en-US" dirty="0" smtClean="0"/>
              <a:t>server/ </a:t>
            </a:r>
            <a:r>
              <a:rPr lang="en-US" dirty="0"/>
              <a:t>publishes messages that other clients want to </a:t>
            </a:r>
            <a:r>
              <a:rPr lang="en-US" dirty="0" smtClean="0"/>
              <a:t>see/ </a:t>
            </a:r>
            <a:r>
              <a:rPr lang="en-US" dirty="0"/>
              <a:t>subscribes to the messages that it is interested in </a:t>
            </a:r>
            <a:r>
              <a:rPr lang="en-US" dirty="0" smtClean="0"/>
              <a:t>receiving/ </a:t>
            </a:r>
            <a:r>
              <a:rPr lang="en-US" dirty="0"/>
              <a:t>unsubscribes to the messages that it is not interested in </a:t>
            </a:r>
            <a:r>
              <a:rPr lang="en-US" dirty="0" smtClean="0"/>
              <a:t>receiving/ </a:t>
            </a:r>
            <a:r>
              <a:rPr lang="en-US" dirty="0"/>
              <a:t>and closes the network connection to the server. </a:t>
            </a:r>
            <a:r>
              <a:rPr lang="en-US" sz="2200" i="1" dirty="0"/>
              <a:t>(If any program or device uses an MQTT, then that device is referred to as a client. )</a:t>
            </a:r>
            <a:endParaRPr sz="2200" i="1" dirty="0"/>
          </a:p>
          <a:p>
            <a:pPr marL="342900" indent="-154940" algn="just">
              <a:spcBef>
                <a:spcPts val="592"/>
              </a:spcBef>
              <a:buClr>
                <a:schemeClr val="dk1"/>
              </a:buClr>
              <a:buSzPct val="100000"/>
              <a:buNone/>
            </a:pPr>
            <a:endParaRPr dirty="0"/>
          </a:p>
        </p:txBody>
      </p:sp>
      <p:sp>
        <p:nvSpPr>
          <p:cNvPr id="211" name="Google Shape;211;g242571989b7_0_0"/>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88562F3A-0CDC-4BB6-8FE3-D47AE020A3C2}" type="datetime1">
              <a:rPr lang="en-US" smtClean="0"/>
              <a:t>9/10/2026</a:t>
            </a:fld>
            <a:endParaRPr/>
          </a:p>
        </p:txBody>
      </p:sp>
      <p:sp>
        <p:nvSpPr>
          <p:cNvPr id="212" name="Google Shape;212;g242571989b7_0_0"/>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13" name="Google Shape;213;g242571989b7_0_0"/>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19</a:t>
            </a:fld>
            <a:endParaRPr/>
          </a:p>
        </p:txBody>
      </p:sp>
    </p:spTree>
    <p:extLst>
      <p:ext uri="{BB962C8B-B14F-4D97-AF65-F5344CB8AC3E}">
        <p14:creationId xmlns:p14="http://schemas.microsoft.com/office/powerpoint/2010/main" val="1727223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242571989b7_0_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a:t>Example: Client &amp; Broker Architecture</a:t>
            </a:r>
            <a:endParaRPr b="1"/>
          </a:p>
        </p:txBody>
      </p:sp>
      <p:sp>
        <p:nvSpPr>
          <p:cNvPr id="219" name="Google Shape;219;g242571989b7_0_8"/>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FD08F91D-52BE-411D-9C96-E4153CAAFFD6}" type="datetime1">
              <a:rPr lang="en-US" smtClean="0"/>
              <a:t>9/10/2026</a:t>
            </a:fld>
            <a:endParaRPr/>
          </a:p>
        </p:txBody>
      </p:sp>
      <p:sp>
        <p:nvSpPr>
          <p:cNvPr id="220" name="Google Shape;220;g242571989b7_0_8"/>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21" name="Google Shape;221;g242571989b7_0_8"/>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20</a:t>
            </a:fld>
            <a:endParaRPr/>
          </a:p>
        </p:txBody>
      </p:sp>
      <p:pic>
        <p:nvPicPr>
          <p:cNvPr id="222" name="Google Shape;222;g242571989b7_0_8"/>
          <p:cNvPicPr preferRelativeResize="0">
            <a:picLocks noGrp="1"/>
          </p:cNvPicPr>
          <p:nvPr>
            <p:ph type="body" idx="1"/>
          </p:nvPr>
        </p:nvPicPr>
        <p:blipFill rotWithShape="1">
          <a:blip r:embed="rId3">
            <a:alphaModFix/>
          </a:blip>
          <a:srcRect/>
          <a:stretch/>
        </p:blipFill>
        <p:spPr>
          <a:xfrm>
            <a:off x="2210072" y="1600200"/>
            <a:ext cx="7924500" cy="4526100"/>
          </a:xfrm>
          <a:prstGeom prst="rect">
            <a:avLst/>
          </a:prstGeom>
          <a:noFill/>
          <a:ln>
            <a:noFill/>
          </a:ln>
        </p:spPr>
      </p:pic>
    </p:spTree>
    <p:extLst>
      <p:ext uri="{BB962C8B-B14F-4D97-AF65-F5344CB8AC3E}">
        <p14:creationId xmlns:p14="http://schemas.microsoft.com/office/powerpoint/2010/main" val="3905172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g242571989b7_0_1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Example: MQTT implementation</a:t>
            </a:r>
            <a:endParaRPr/>
          </a:p>
        </p:txBody>
      </p:sp>
      <p:sp>
        <p:nvSpPr>
          <p:cNvPr id="228" name="Google Shape;228;g242571989b7_0_16"/>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4049D464-8CED-4BC1-9340-BC6DBB149B97}" type="datetime1">
              <a:rPr lang="en-US" smtClean="0"/>
              <a:t>9/10/2026</a:t>
            </a:fld>
            <a:endParaRPr/>
          </a:p>
        </p:txBody>
      </p:sp>
      <p:sp>
        <p:nvSpPr>
          <p:cNvPr id="229" name="Google Shape;229;g242571989b7_0_16"/>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30" name="Google Shape;230;g242571989b7_0_16"/>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21</a:t>
            </a:fld>
            <a:endParaRPr/>
          </a:p>
        </p:txBody>
      </p:sp>
      <p:pic>
        <p:nvPicPr>
          <p:cNvPr id="231" name="Google Shape;231;g242571989b7_0_16"/>
          <p:cNvPicPr preferRelativeResize="0">
            <a:picLocks noGrp="1"/>
          </p:cNvPicPr>
          <p:nvPr>
            <p:ph type="body" idx="1"/>
          </p:nvPr>
        </p:nvPicPr>
        <p:blipFill rotWithShape="1">
          <a:blip r:embed="rId3">
            <a:alphaModFix/>
          </a:blip>
          <a:srcRect/>
          <a:stretch/>
        </p:blipFill>
        <p:spPr>
          <a:xfrm>
            <a:off x="2209800" y="1353134"/>
            <a:ext cx="7924800" cy="4766700"/>
          </a:xfrm>
          <a:prstGeom prst="rect">
            <a:avLst/>
          </a:prstGeom>
          <a:noFill/>
          <a:ln>
            <a:noFill/>
          </a:ln>
        </p:spPr>
      </p:pic>
    </p:spTree>
    <p:extLst>
      <p:ext uri="{BB962C8B-B14F-4D97-AF65-F5344CB8AC3E}">
        <p14:creationId xmlns:p14="http://schemas.microsoft.com/office/powerpoint/2010/main" val="706058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242571989b7_0_24"/>
          <p:cNvSpPr txBox="1">
            <a:spLocks noGrp="1"/>
          </p:cNvSpPr>
          <p:nvPr>
            <p:ph type="title"/>
          </p:nvPr>
        </p:nvSpPr>
        <p:spPr>
          <a:xfrm>
            <a:off x="2152650" y="152400"/>
            <a:ext cx="7886700" cy="909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Public / Subscribe Pattern</a:t>
            </a:r>
            <a:endParaRPr/>
          </a:p>
        </p:txBody>
      </p:sp>
      <p:sp>
        <p:nvSpPr>
          <p:cNvPr id="237" name="Google Shape;237;g242571989b7_0_24"/>
          <p:cNvSpPr txBox="1">
            <a:spLocks noGrp="1"/>
          </p:cNvSpPr>
          <p:nvPr>
            <p:ph type="body" idx="1"/>
          </p:nvPr>
        </p:nvSpPr>
        <p:spPr>
          <a:xfrm>
            <a:off x="1459523" y="1110343"/>
            <a:ext cx="9434146" cy="5066700"/>
          </a:xfrm>
          <a:prstGeom prst="rect">
            <a:avLst/>
          </a:prstGeom>
          <a:noFill/>
          <a:ln>
            <a:noFill/>
          </a:ln>
        </p:spPr>
        <p:txBody>
          <a:bodyPr spcFirstLastPara="1" vert="horz" wrap="square" lIns="91425" tIns="45700" rIns="91425" bIns="45700" rtlCol="0" anchor="t" anchorCtr="0">
            <a:normAutofit fontScale="92500" lnSpcReduction="10000"/>
          </a:bodyPr>
          <a:lstStyle/>
          <a:p>
            <a:pPr marL="342900" indent="-342900" algn="just">
              <a:spcBef>
                <a:spcPts val="0"/>
              </a:spcBef>
              <a:buClr>
                <a:srgbClr val="333333"/>
              </a:buClr>
              <a:buSzPct val="100000"/>
            </a:pPr>
            <a:r>
              <a:rPr lang="en-US" b="0" i="0" dirty="0">
                <a:solidFill>
                  <a:srgbClr val="333333"/>
                </a:solidFill>
                <a:latin typeface="Arial"/>
                <a:ea typeface="Arial"/>
                <a:cs typeface="Arial"/>
                <a:sym typeface="Arial"/>
              </a:rPr>
              <a:t>The publish/subscribe pattern provides an alternative to traditional client-server architecture. </a:t>
            </a:r>
            <a:endParaRPr b="0" i="0" dirty="0">
              <a:solidFill>
                <a:srgbClr val="333333"/>
              </a:solidFill>
              <a:latin typeface="Arial"/>
              <a:ea typeface="Arial"/>
              <a:cs typeface="Arial"/>
              <a:sym typeface="Arial"/>
            </a:endParaRPr>
          </a:p>
          <a:p>
            <a:pPr marL="342900" indent="-342900" algn="just">
              <a:spcBef>
                <a:spcPts val="496"/>
              </a:spcBef>
              <a:buClr>
                <a:srgbClr val="333333"/>
              </a:buClr>
              <a:buSzPct val="100000"/>
            </a:pPr>
            <a:r>
              <a:rPr lang="en-US" b="0" i="0" dirty="0">
                <a:solidFill>
                  <a:srgbClr val="333333"/>
                </a:solidFill>
                <a:latin typeface="Arial"/>
                <a:ea typeface="Arial"/>
                <a:cs typeface="Arial"/>
                <a:sym typeface="Arial"/>
              </a:rPr>
              <a:t>In the client-sever model, a client communicates directly with an end point. </a:t>
            </a:r>
            <a:endParaRPr b="0" i="0" dirty="0">
              <a:solidFill>
                <a:srgbClr val="333333"/>
              </a:solidFill>
              <a:latin typeface="Arial"/>
              <a:ea typeface="Arial"/>
              <a:cs typeface="Arial"/>
              <a:sym typeface="Arial"/>
            </a:endParaRPr>
          </a:p>
          <a:p>
            <a:pPr marL="342900" indent="-342900" algn="just">
              <a:spcBef>
                <a:spcPts val="496"/>
              </a:spcBef>
              <a:buClr>
                <a:srgbClr val="333333"/>
              </a:buClr>
              <a:buSzPct val="100000"/>
            </a:pPr>
            <a:r>
              <a:rPr lang="en-US" b="0" i="0" dirty="0">
                <a:solidFill>
                  <a:srgbClr val="333333"/>
                </a:solidFill>
                <a:latin typeface="Arial"/>
                <a:ea typeface="Arial"/>
                <a:cs typeface="Arial"/>
                <a:sym typeface="Arial"/>
              </a:rPr>
              <a:t>The pub/sub model </a:t>
            </a:r>
            <a:r>
              <a:rPr lang="en-US" b="1" i="0" dirty="0">
                <a:solidFill>
                  <a:srgbClr val="333333"/>
                </a:solidFill>
                <a:latin typeface="Arial"/>
                <a:ea typeface="Arial"/>
                <a:cs typeface="Arial"/>
                <a:sym typeface="Arial"/>
              </a:rPr>
              <a:t>decouples the client that sends a message (the publisher) from the client that receives the messages (the subscribers)</a:t>
            </a:r>
            <a:r>
              <a:rPr lang="en-US" b="0" i="0" dirty="0">
                <a:solidFill>
                  <a:srgbClr val="333333"/>
                </a:solidFill>
                <a:latin typeface="Arial"/>
                <a:ea typeface="Arial"/>
                <a:cs typeface="Arial"/>
                <a:sym typeface="Arial"/>
              </a:rPr>
              <a:t>.</a:t>
            </a:r>
            <a:endParaRPr dirty="0"/>
          </a:p>
          <a:p>
            <a:pPr marL="342900" indent="-342900" algn="just">
              <a:spcBef>
                <a:spcPts val="496"/>
              </a:spcBef>
              <a:buClr>
                <a:srgbClr val="333333"/>
              </a:buClr>
              <a:buSzPct val="100000"/>
            </a:pPr>
            <a:r>
              <a:rPr lang="en-US" b="0" i="0" dirty="0">
                <a:solidFill>
                  <a:srgbClr val="333333"/>
                </a:solidFill>
                <a:latin typeface="Arial"/>
                <a:ea typeface="Arial"/>
                <a:cs typeface="Arial"/>
                <a:sym typeface="Arial"/>
              </a:rPr>
              <a:t>The publishers and subscribers never contact each other directly. </a:t>
            </a:r>
            <a:endParaRPr b="0" i="0" dirty="0">
              <a:solidFill>
                <a:srgbClr val="333333"/>
              </a:solidFill>
              <a:latin typeface="Arial"/>
              <a:ea typeface="Arial"/>
              <a:cs typeface="Arial"/>
              <a:sym typeface="Arial"/>
            </a:endParaRPr>
          </a:p>
          <a:p>
            <a:pPr marL="342900" indent="-342900" algn="just">
              <a:spcBef>
                <a:spcPts val="496"/>
              </a:spcBef>
              <a:buClr>
                <a:srgbClr val="333333"/>
              </a:buClr>
              <a:buSzPct val="100000"/>
            </a:pPr>
            <a:r>
              <a:rPr lang="en-US" b="0" i="0" dirty="0">
                <a:solidFill>
                  <a:srgbClr val="333333"/>
                </a:solidFill>
                <a:latin typeface="Arial"/>
                <a:ea typeface="Arial"/>
                <a:cs typeface="Arial"/>
                <a:sym typeface="Arial"/>
              </a:rPr>
              <a:t>In fact, they are not even aware that the other exists. </a:t>
            </a:r>
            <a:r>
              <a:rPr lang="en-US" b="1" i="0" dirty="0">
                <a:solidFill>
                  <a:srgbClr val="333333"/>
                </a:solidFill>
                <a:latin typeface="Arial"/>
                <a:ea typeface="Arial"/>
                <a:cs typeface="Arial"/>
                <a:sym typeface="Arial"/>
              </a:rPr>
              <a:t>The connection between them is handled by a third component (the broker)</a:t>
            </a:r>
            <a:r>
              <a:rPr lang="en-US" b="0" i="0" dirty="0">
                <a:solidFill>
                  <a:srgbClr val="333333"/>
                </a:solidFill>
                <a:latin typeface="Arial"/>
                <a:ea typeface="Arial"/>
                <a:cs typeface="Arial"/>
                <a:sym typeface="Arial"/>
              </a:rPr>
              <a:t>.</a:t>
            </a:r>
            <a:endParaRPr dirty="0"/>
          </a:p>
          <a:p>
            <a:pPr marL="342900" indent="-342900" algn="just">
              <a:spcBef>
                <a:spcPts val="496"/>
              </a:spcBef>
              <a:buClr>
                <a:srgbClr val="333333"/>
              </a:buClr>
              <a:buSzPct val="100000"/>
            </a:pPr>
            <a:r>
              <a:rPr lang="en-US" b="0" i="0" dirty="0">
                <a:solidFill>
                  <a:srgbClr val="333333"/>
                </a:solidFill>
                <a:latin typeface="Arial"/>
                <a:ea typeface="Arial"/>
                <a:cs typeface="Arial"/>
                <a:sym typeface="Arial"/>
              </a:rPr>
              <a:t> The job of the broker is to filter all incoming messages and distribute them correctly to subscribers.</a:t>
            </a:r>
            <a:endParaRPr dirty="0">
              <a:latin typeface="Arial"/>
              <a:ea typeface="Arial"/>
              <a:cs typeface="Arial"/>
              <a:sym typeface="Arial"/>
            </a:endParaRPr>
          </a:p>
        </p:txBody>
      </p:sp>
      <p:sp>
        <p:nvSpPr>
          <p:cNvPr id="2" name="Date Placeholder 1"/>
          <p:cNvSpPr>
            <a:spLocks noGrp="1"/>
          </p:cNvSpPr>
          <p:nvPr>
            <p:ph type="dt" sz="half" idx="10"/>
          </p:nvPr>
        </p:nvSpPr>
        <p:spPr/>
        <p:txBody>
          <a:bodyPr/>
          <a:lstStyle/>
          <a:p>
            <a:fld id="{40148219-A555-4443-A458-D2D24047C1E0}" type="datetime1">
              <a:rPr lang="en-US" smtClean="0"/>
              <a:t>9/10/2026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22</a:t>
            </a:fld>
            <a:endParaRPr lang="en-IN"/>
          </a:p>
        </p:txBody>
      </p:sp>
    </p:spTree>
    <p:extLst>
      <p:ext uri="{BB962C8B-B14F-4D97-AF65-F5344CB8AC3E}">
        <p14:creationId xmlns:p14="http://schemas.microsoft.com/office/powerpoint/2010/main" val="1906712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242571989b7_0_29"/>
          <p:cNvSpPr txBox="1">
            <a:spLocks noGrp="1"/>
          </p:cNvSpPr>
          <p:nvPr>
            <p:ph type="title"/>
          </p:nvPr>
        </p:nvSpPr>
        <p:spPr>
          <a:xfrm>
            <a:off x="2152650" y="267286"/>
            <a:ext cx="7886700" cy="10128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Ex: MQTT Pub/Sub Architecture</a:t>
            </a:r>
            <a:endParaRPr/>
          </a:p>
        </p:txBody>
      </p:sp>
      <p:pic>
        <p:nvPicPr>
          <p:cNvPr id="243" name="Google Shape;243;g242571989b7_0_29"/>
          <p:cNvPicPr preferRelativeResize="0">
            <a:picLocks noGrp="1"/>
          </p:cNvPicPr>
          <p:nvPr>
            <p:ph type="body" idx="1"/>
          </p:nvPr>
        </p:nvPicPr>
        <p:blipFill rotWithShape="1">
          <a:blip r:embed="rId3">
            <a:alphaModFix/>
          </a:blip>
          <a:srcRect/>
          <a:stretch/>
        </p:blipFill>
        <p:spPr>
          <a:xfrm>
            <a:off x="2423952" y="1266092"/>
            <a:ext cx="7593300" cy="4889700"/>
          </a:xfrm>
          <a:prstGeom prst="rect">
            <a:avLst/>
          </a:prstGeom>
          <a:noFill/>
          <a:ln>
            <a:noFill/>
          </a:ln>
        </p:spPr>
      </p:pic>
      <p:sp>
        <p:nvSpPr>
          <p:cNvPr id="2" name="Date Placeholder 1"/>
          <p:cNvSpPr>
            <a:spLocks noGrp="1"/>
          </p:cNvSpPr>
          <p:nvPr>
            <p:ph type="dt" sz="half" idx="10"/>
          </p:nvPr>
        </p:nvSpPr>
        <p:spPr/>
        <p:txBody>
          <a:bodyPr/>
          <a:lstStyle/>
          <a:p>
            <a:fld id="{9352E1A0-880E-4617-8461-2DBED66C0FEC}" type="datetime1">
              <a:rPr lang="en-US" smtClean="0"/>
              <a:t>9/10/2026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23</a:t>
            </a:fld>
            <a:endParaRPr lang="en-IN"/>
          </a:p>
        </p:txBody>
      </p:sp>
    </p:spTree>
    <p:extLst>
      <p:ext uri="{BB962C8B-B14F-4D97-AF65-F5344CB8AC3E}">
        <p14:creationId xmlns:p14="http://schemas.microsoft.com/office/powerpoint/2010/main" val="2985906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g242571989b7_0_34"/>
          <p:cNvSpPr txBox="1">
            <a:spLocks noGrp="1"/>
          </p:cNvSpPr>
          <p:nvPr>
            <p:ph type="title"/>
          </p:nvPr>
        </p:nvSpPr>
        <p:spPr>
          <a:xfrm>
            <a:off x="2152650" y="244930"/>
            <a:ext cx="7886700" cy="939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Ex: MQTT Pub/Sub Architecture</a:t>
            </a:r>
            <a:endParaRPr/>
          </a:p>
        </p:txBody>
      </p:sp>
      <p:pic>
        <p:nvPicPr>
          <p:cNvPr id="249" name="Google Shape;249;g242571989b7_0_34"/>
          <p:cNvPicPr preferRelativeResize="0">
            <a:picLocks noGrp="1"/>
          </p:cNvPicPr>
          <p:nvPr>
            <p:ph type="body" idx="1"/>
          </p:nvPr>
        </p:nvPicPr>
        <p:blipFill rotWithShape="1">
          <a:blip r:embed="rId3">
            <a:alphaModFix/>
          </a:blip>
          <a:srcRect/>
          <a:stretch/>
        </p:blipFill>
        <p:spPr>
          <a:xfrm>
            <a:off x="1828800" y="1298121"/>
            <a:ext cx="8458200" cy="5078100"/>
          </a:xfrm>
          <a:prstGeom prst="rect">
            <a:avLst/>
          </a:prstGeom>
          <a:noFill/>
          <a:ln>
            <a:noFill/>
          </a:ln>
        </p:spPr>
      </p:pic>
      <p:sp>
        <p:nvSpPr>
          <p:cNvPr id="2" name="Date Placeholder 1"/>
          <p:cNvSpPr>
            <a:spLocks noGrp="1"/>
          </p:cNvSpPr>
          <p:nvPr>
            <p:ph type="dt" sz="half" idx="10"/>
          </p:nvPr>
        </p:nvSpPr>
        <p:spPr/>
        <p:txBody>
          <a:bodyPr/>
          <a:lstStyle/>
          <a:p>
            <a:fld id="{9574660B-74BA-4524-87EC-063CE14E61B5}" type="datetime1">
              <a:rPr lang="en-US" smtClean="0"/>
              <a:t>9/10/2026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24</a:t>
            </a:fld>
            <a:endParaRPr lang="en-IN"/>
          </a:p>
        </p:txBody>
      </p:sp>
    </p:spTree>
    <p:extLst>
      <p:ext uri="{BB962C8B-B14F-4D97-AF65-F5344CB8AC3E}">
        <p14:creationId xmlns:p14="http://schemas.microsoft.com/office/powerpoint/2010/main" val="1742182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242571989b7_0_39"/>
          <p:cNvSpPr txBox="1">
            <a:spLocks noGrp="1"/>
          </p:cNvSpPr>
          <p:nvPr>
            <p:ph type="title"/>
          </p:nvPr>
        </p:nvSpPr>
        <p:spPr>
          <a:xfrm>
            <a:off x="2152650" y="76200"/>
            <a:ext cx="7886700" cy="9144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Public / Subscribe Pattern</a:t>
            </a:r>
            <a:endParaRPr/>
          </a:p>
        </p:txBody>
      </p:sp>
      <p:sp>
        <p:nvSpPr>
          <p:cNvPr id="255" name="Google Shape;255;g242571989b7_0_39"/>
          <p:cNvSpPr txBox="1">
            <a:spLocks noGrp="1"/>
          </p:cNvSpPr>
          <p:nvPr>
            <p:ph type="body" idx="1"/>
          </p:nvPr>
        </p:nvSpPr>
        <p:spPr>
          <a:xfrm>
            <a:off x="1274885" y="990600"/>
            <a:ext cx="9302261" cy="5410200"/>
          </a:xfrm>
          <a:prstGeom prst="rect">
            <a:avLst/>
          </a:prstGeom>
          <a:noFill/>
          <a:ln>
            <a:noFill/>
          </a:ln>
        </p:spPr>
        <p:txBody>
          <a:bodyPr spcFirstLastPara="1" vert="horz" wrap="square" lIns="91425" tIns="45700" rIns="91425" bIns="45700" rtlCol="0" anchor="t" anchorCtr="0">
            <a:normAutofit fontScale="92500"/>
          </a:bodyPr>
          <a:lstStyle/>
          <a:p>
            <a:pPr marL="342900" indent="-358140" algn="just">
              <a:spcBef>
                <a:spcPts val="0"/>
              </a:spcBef>
              <a:buClr>
                <a:srgbClr val="333333"/>
              </a:buClr>
              <a:buSzPct val="100000"/>
            </a:pPr>
            <a:r>
              <a:rPr lang="en-US" b="0" i="0" dirty="0">
                <a:solidFill>
                  <a:srgbClr val="333333"/>
                </a:solidFill>
                <a:latin typeface="Arial"/>
                <a:ea typeface="Arial"/>
                <a:cs typeface="Arial"/>
                <a:sym typeface="Arial"/>
              </a:rPr>
              <a:t>The decoupling of the publisher of the message from the subscriber has several dimensions:</a:t>
            </a:r>
            <a:endParaRPr dirty="0"/>
          </a:p>
          <a:p>
            <a:pPr marL="742950" lvl="1" indent="-299085" algn="just">
              <a:spcBef>
                <a:spcPts val="434"/>
              </a:spcBef>
              <a:buClr>
                <a:srgbClr val="333333"/>
              </a:buClr>
              <a:buSzPct val="100000"/>
              <a:buChar char="–"/>
            </a:pPr>
            <a:r>
              <a:rPr lang="en-US" b="1" i="0" dirty="0">
                <a:solidFill>
                  <a:srgbClr val="333333"/>
                </a:solidFill>
                <a:latin typeface="Arial"/>
                <a:ea typeface="Arial"/>
                <a:cs typeface="Arial"/>
                <a:sym typeface="Arial"/>
              </a:rPr>
              <a:t>Space decoupling:</a:t>
            </a:r>
            <a:r>
              <a:rPr lang="en-US" b="0" i="0" dirty="0">
                <a:solidFill>
                  <a:srgbClr val="333333"/>
                </a:solidFill>
                <a:latin typeface="Arial"/>
                <a:ea typeface="Arial"/>
                <a:cs typeface="Arial"/>
                <a:sym typeface="Arial"/>
              </a:rPr>
              <a:t> Publisher and subscriber do not need to know each other (for example, no exchange of IP address and port).</a:t>
            </a:r>
            <a:endParaRPr dirty="0"/>
          </a:p>
          <a:p>
            <a:pPr marL="742950" lvl="1" indent="-299085" algn="just">
              <a:spcBef>
                <a:spcPts val="434"/>
              </a:spcBef>
              <a:buClr>
                <a:srgbClr val="333333"/>
              </a:buClr>
              <a:buSzPct val="100000"/>
              <a:buChar char="–"/>
            </a:pPr>
            <a:r>
              <a:rPr lang="en-US" b="1" i="0" dirty="0">
                <a:solidFill>
                  <a:srgbClr val="333333"/>
                </a:solidFill>
                <a:latin typeface="Arial"/>
                <a:ea typeface="Arial"/>
                <a:cs typeface="Arial"/>
                <a:sym typeface="Arial"/>
              </a:rPr>
              <a:t>Time decoupling:</a:t>
            </a:r>
            <a:r>
              <a:rPr lang="en-US" b="0" i="0" dirty="0">
                <a:solidFill>
                  <a:srgbClr val="333333"/>
                </a:solidFill>
                <a:latin typeface="Arial"/>
                <a:ea typeface="Arial"/>
                <a:cs typeface="Arial"/>
                <a:sym typeface="Arial"/>
              </a:rPr>
              <a:t> Publisher and subscriber do not need to run at the same time.</a:t>
            </a:r>
            <a:endParaRPr dirty="0"/>
          </a:p>
          <a:p>
            <a:pPr marL="742950" lvl="1" indent="-299085" algn="just">
              <a:spcBef>
                <a:spcPts val="434"/>
              </a:spcBef>
              <a:buClr>
                <a:srgbClr val="333333"/>
              </a:buClr>
              <a:buSzPct val="100000"/>
              <a:buChar char="–"/>
            </a:pPr>
            <a:r>
              <a:rPr lang="en-US" b="1" i="0" dirty="0">
                <a:solidFill>
                  <a:srgbClr val="333333"/>
                </a:solidFill>
                <a:latin typeface="Arial"/>
                <a:ea typeface="Arial"/>
                <a:cs typeface="Arial"/>
                <a:sym typeface="Arial"/>
              </a:rPr>
              <a:t>Synchronization decoupling:</a:t>
            </a:r>
            <a:r>
              <a:rPr lang="en-US" b="0" i="0" dirty="0">
                <a:solidFill>
                  <a:srgbClr val="333333"/>
                </a:solidFill>
                <a:latin typeface="Arial"/>
                <a:ea typeface="Arial"/>
                <a:cs typeface="Arial"/>
                <a:sym typeface="Arial"/>
              </a:rPr>
              <a:t> Operations on both components do not need to be interrupted during publishing or receiving.</a:t>
            </a:r>
            <a:endParaRPr dirty="0"/>
          </a:p>
          <a:p>
            <a:pPr marL="342900" indent="-358140" algn="just">
              <a:spcBef>
                <a:spcPts val="496"/>
              </a:spcBef>
              <a:buClr>
                <a:srgbClr val="333333"/>
              </a:buClr>
              <a:buSzPct val="100000"/>
            </a:pPr>
            <a:r>
              <a:rPr lang="en-US" b="0" i="0" dirty="0">
                <a:solidFill>
                  <a:srgbClr val="333333"/>
                </a:solidFill>
                <a:latin typeface="Arial"/>
                <a:ea typeface="Arial"/>
                <a:cs typeface="Arial"/>
                <a:sym typeface="Arial"/>
              </a:rPr>
              <a:t>In summary, the pub/sub model removes direct communication between the publisher and the subscriber. </a:t>
            </a:r>
            <a:endParaRPr b="0" i="0" dirty="0">
              <a:solidFill>
                <a:srgbClr val="333333"/>
              </a:solidFill>
              <a:latin typeface="Arial"/>
              <a:ea typeface="Arial"/>
              <a:cs typeface="Arial"/>
              <a:sym typeface="Arial"/>
            </a:endParaRPr>
          </a:p>
          <a:p>
            <a:pPr marL="342900" indent="-358140" algn="just">
              <a:spcBef>
                <a:spcPts val="496"/>
              </a:spcBef>
              <a:buClr>
                <a:srgbClr val="333333"/>
              </a:buClr>
              <a:buSzPct val="100000"/>
            </a:pPr>
            <a:r>
              <a:rPr lang="en-US" b="0" i="0" dirty="0">
                <a:solidFill>
                  <a:srgbClr val="333333"/>
                </a:solidFill>
                <a:latin typeface="Arial"/>
                <a:ea typeface="Arial"/>
                <a:cs typeface="Arial"/>
                <a:sym typeface="Arial"/>
              </a:rPr>
              <a:t>The filtering activity of the broker makes it possible to control which client/subscriber receives which message. </a:t>
            </a:r>
            <a:endParaRPr dirty="0">
              <a:latin typeface="Arial"/>
              <a:ea typeface="Arial"/>
              <a:cs typeface="Arial"/>
              <a:sym typeface="Arial"/>
            </a:endParaRPr>
          </a:p>
        </p:txBody>
      </p:sp>
      <p:sp>
        <p:nvSpPr>
          <p:cNvPr id="2" name="Date Placeholder 1"/>
          <p:cNvSpPr>
            <a:spLocks noGrp="1"/>
          </p:cNvSpPr>
          <p:nvPr>
            <p:ph type="dt" sz="half" idx="10"/>
          </p:nvPr>
        </p:nvSpPr>
        <p:spPr/>
        <p:txBody>
          <a:bodyPr/>
          <a:lstStyle/>
          <a:p>
            <a:fld id="{F78A5448-6D64-4A78-8A63-18FE6BAAE25B}" type="datetime1">
              <a:rPr lang="en-US" smtClean="0"/>
              <a:t>9/10/2026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25</a:t>
            </a:fld>
            <a:endParaRPr lang="en-IN"/>
          </a:p>
        </p:txBody>
      </p:sp>
    </p:spTree>
    <p:extLst>
      <p:ext uri="{BB962C8B-B14F-4D97-AF65-F5344CB8AC3E}">
        <p14:creationId xmlns:p14="http://schemas.microsoft.com/office/powerpoint/2010/main" val="2982934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242571989b7_0_44"/>
          <p:cNvSpPr txBox="1">
            <a:spLocks noGrp="1"/>
          </p:cNvSpPr>
          <p:nvPr>
            <p:ph type="title"/>
          </p:nvPr>
        </p:nvSpPr>
        <p:spPr>
          <a:xfrm>
            <a:off x="2152650" y="225085"/>
            <a:ext cx="7886700" cy="6132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a:t>Message Filtering</a:t>
            </a:r>
            <a:endParaRPr/>
          </a:p>
        </p:txBody>
      </p:sp>
      <p:sp>
        <p:nvSpPr>
          <p:cNvPr id="261" name="Google Shape;261;g242571989b7_0_44"/>
          <p:cNvSpPr txBox="1">
            <a:spLocks noGrp="1"/>
          </p:cNvSpPr>
          <p:nvPr>
            <p:ph type="body" idx="1"/>
          </p:nvPr>
        </p:nvSpPr>
        <p:spPr>
          <a:xfrm>
            <a:off x="1362809" y="914400"/>
            <a:ext cx="9592406" cy="5262600"/>
          </a:xfrm>
          <a:prstGeom prst="rect">
            <a:avLst/>
          </a:prstGeom>
          <a:noFill/>
          <a:ln>
            <a:noFill/>
          </a:ln>
        </p:spPr>
        <p:txBody>
          <a:bodyPr spcFirstLastPara="1" vert="horz" wrap="square" lIns="91425" tIns="45700" rIns="91425" bIns="45700" rtlCol="0" anchor="t" anchorCtr="0">
            <a:normAutofit fontScale="92500" lnSpcReduction="20000"/>
          </a:bodyPr>
          <a:lstStyle/>
          <a:p>
            <a:pPr marL="342900" indent="-342900" algn="just">
              <a:spcBef>
                <a:spcPts val="0"/>
              </a:spcBef>
              <a:buClr>
                <a:srgbClr val="333333"/>
              </a:buClr>
              <a:buSzPct val="100000"/>
            </a:pPr>
            <a:r>
              <a:rPr lang="en-US" b="0" i="0" dirty="0">
                <a:solidFill>
                  <a:srgbClr val="333333"/>
                </a:solidFill>
                <a:latin typeface="Arial"/>
                <a:ea typeface="Arial"/>
                <a:cs typeface="Arial"/>
                <a:sym typeface="Arial"/>
              </a:rPr>
              <a:t>But how does the broker manage to filter all the messages so that each subscriber receives only messages of interest? The broker has several filtering options:</a:t>
            </a:r>
            <a:endParaRPr dirty="0"/>
          </a:p>
          <a:p>
            <a:pPr marL="342900" indent="-215900" algn="just">
              <a:spcBef>
                <a:spcPts val="400"/>
              </a:spcBef>
              <a:buClr>
                <a:schemeClr val="dk1"/>
              </a:buClr>
              <a:buSzPct val="100000"/>
              <a:buNone/>
            </a:pPr>
            <a:endParaRPr b="0" i="0" dirty="0">
              <a:solidFill>
                <a:srgbClr val="333333"/>
              </a:solidFill>
              <a:latin typeface="Arial"/>
              <a:ea typeface="Arial"/>
              <a:cs typeface="Arial"/>
              <a:sym typeface="Arial"/>
            </a:endParaRPr>
          </a:p>
          <a:p>
            <a:pPr marL="342900" indent="-342900" algn="just">
              <a:spcBef>
                <a:spcPts val="400"/>
              </a:spcBef>
              <a:buClr>
                <a:srgbClr val="333333"/>
              </a:buClr>
              <a:buSzPct val="100000"/>
            </a:pPr>
            <a:r>
              <a:rPr lang="en-US" b="1" i="0" cap="none" dirty="0">
                <a:solidFill>
                  <a:srgbClr val="333333"/>
                </a:solidFill>
                <a:latin typeface="Arial"/>
                <a:ea typeface="Arial"/>
                <a:cs typeface="Arial"/>
                <a:sym typeface="Arial"/>
              </a:rPr>
              <a:t>SUBJECT-BASED FILTERING:</a:t>
            </a:r>
            <a:endParaRPr b="1" i="0" cap="none" dirty="0">
              <a:solidFill>
                <a:srgbClr val="333333"/>
              </a:solidFill>
              <a:latin typeface="Arial"/>
              <a:ea typeface="Arial"/>
              <a:cs typeface="Arial"/>
              <a:sym typeface="Arial"/>
            </a:endParaRPr>
          </a:p>
          <a:p>
            <a:pPr marL="742950" lvl="1" indent="-285750" algn="just">
              <a:spcBef>
                <a:spcPts val="350"/>
              </a:spcBef>
              <a:buClr>
                <a:srgbClr val="333333"/>
              </a:buClr>
              <a:buSzPct val="100000"/>
              <a:buChar char="–"/>
            </a:pPr>
            <a:r>
              <a:rPr lang="en-US" b="0" i="0" dirty="0">
                <a:solidFill>
                  <a:srgbClr val="333333"/>
                </a:solidFill>
                <a:latin typeface="Arial"/>
                <a:ea typeface="Arial"/>
                <a:cs typeface="Arial"/>
                <a:sym typeface="Arial"/>
              </a:rPr>
              <a:t>This filtering is based on the subject or </a:t>
            </a:r>
            <a:r>
              <a:rPr lang="en-US" b="1" i="0" u="sng" strike="noStrike" dirty="0">
                <a:solidFill>
                  <a:srgbClr val="0060AA"/>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topic</a:t>
            </a:r>
            <a:r>
              <a:rPr lang="en-US" b="0" i="0" dirty="0">
                <a:solidFill>
                  <a:srgbClr val="333333"/>
                </a:solidFill>
                <a:latin typeface="Arial"/>
                <a:ea typeface="Arial"/>
                <a:cs typeface="Arial"/>
                <a:sym typeface="Arial"/>
              </a:rPr>
              <a:t> that is part of each message. </a:t>
            </a:r>
            <a:endParaRPr b="0" i="0" dirty="0">
              <a:solidFill>
                <a:srgbClr val="333333"/>
              </a:solidFill>
              <a:latin typeface="Arial"/>
              <a:ea typeface="Arial"/>
              <a:cs typeface="Arial"/>
              <a:sym typeface="Arial"/>
            </a:endParaRPr>
          </a:p>
          <a:p>
            <a:pPr marL="742950" lvl="1" indent="-285750" algn="just">
              <a:spcBef>
                <a:spcPts val="350"/>
              </a:spcBef>
              <a:buClr>
                <a:srgbClr val="333333"/>
              </a:buClr>
              <a:buSzPct val="100000"/>
              <a:buChar char="–"/>
            </a:pPr>
            <a:r>
              <a:rPr lang="en-US" b="0" i="0" dirty="0">
                <a:solidFill>
                  <a:srgbClr val="333333"/>
                </a:solidFill>
                <a:latin typeface="Arial"/>
                <a:ea typeface="Arial"/>
                <a:cs typeface="Arial"/>
                <a:sym typeface="Arial"/>
              </a:rPr>
              <a:t>The receiving client subscribes to the broker for topics of interest. </a:t>
            </a:r>
            <a:endParaRPr b="0" i="0" dirty="0">
              <a:solidFill>
                <a:srgbClr val="333333"/>
              </a:solidFill>
              <a:latin typeface="Arial"/>
              <a:ea typeface="Arial"/>
              <a:cs typeface="Arial"/>
              <a:sym typeface="Arial"/>
            </a:endParaRPr>
          </a:p>
          <a:p>
            <a:pPr marL="742950" lvl="1" indent="-285750" algn="just">
              <a:spcBef>
                <a:spcPts val="350"/>
              </a:spcBef>
              <a:buClr>
                <a:srgbClr val="333333"/>
              </a:buClr>
              <a:buSzPct val="100000"/>
              <a:buChar char="–"/>
            </a:pPr>
            <a:r>
              <a:rPr lang="en-US" b="0" i="0" dirty="0">
                <a:solidFill>
                  <a:srgbClr val="333333"/>
                </a:solidFill>
                <a:latin typeface="Arial"/>
                <a:ea typeface="Arial"/>
                <a:cs typeface="Arial"/>
                <a:sym typeface="Arial"/>
              </a:rPr>
              <a:t>The broker ensures that the receiving client gets all message published to the subscribed topics. </a:t>
            </a:r>
            <a:endParaRPr b="0" i="0" dirty="0">
              <a:solidFill>
                <a:srgbClr val="333333"/>
              </a:solidFill>
              <a:latin typeface="Arial"/>
              <a:ea typeface="Arial"/>
              <a:cs typeface="Arial"/>
              <a:sym typeface="Arial"/>
            </a:endParaRPr>
          </a:p>
          <a:p>
            <a:pPr marL="742950" lvl="1" indent="-285750" algn="just">
              <a:spcBef>
                <a:spcPts val="350"/>
              </a:spcBef>
              <a:buClr>
                <a:srgbClr val="333333"/>
              </a:buClr>
              <a:buSzPct val="100000"/>
              <a:buChar char="–"/>
            </a:pPr>
            <a:r>
              <a:rPr lang="en-US" b="0" i="0" dirty="0">
                <a:solidFill>
                  <a:srgbClr val="333333"/>
                </a:solidFill>
                <a:latin typeface="Arial"/>
                <a:ea typeface="Arial"/>
                <a:cs typeface="Arial"/>
                <a:sym typeface="Arial"/>
              </a:rPr>
              <a:t>In general, topics are strings with a hierarchical structure that allow filtering based on a limited number of expressions.</a:t>
            </a:r>
            <a:endParaRPr dirty="0"/>
          </a:p>
          <a:p>
            <a:pPr marL="742950" lvl="1" indent="-174625" algn="just">
              <a:spcBef>
                <a:spcPts val="350"/>
              </a:spcBef>
              <a:buClr>
                <a:schemeClr val="dk1"/>
              </a:buClr>
              <a:buSzPct val="100000"/>
              <a:buNone/>
            </a:pPr>
            <a:endParaRPr b="0" i="0" dirty="0">
              <a:solidFill>
                <a:srgbClr val="333333"/>
              </a:solidFill>
              <a:latin typeface="Arial"/>
              <a:ea typeface="Arial"/>
              <a:cs typeface="Arial"/>
              <a:sym typeface="Arial"/>
            </a:endParaRPr>
          </a:p>
          <a:p>
            <a:pPr marL="342900" indent="-342900" algn="just">
              <a:spcBef>
                <a:spcPts val="400"/>
              </a:spcBef>
              <a:buClr>
                <a:srgbClr val="333333"/>
              </a:buClr>
              <a:buSzPct val="100000"/>
            </a:pPr>
            <a:r>
              <a:rPr lang="en-US" b="1" i="0" cap="none" dirty="0">
                <a:solidFill>
                  <a:srgbClr val="333333"/>
                </a:solidFill>
                <a:latin typeface="Arial"/>
                <a:ea typeface="Arial"/>
                <a:cs typeface="Arial"/>
                <a:sym typeface="Arial"/>
              </a:rPr>
              <a:t>CONTENT-BASED FILTERING:</a:t>
            </a:r>
            <a:endParaRPr b="1" i="0" cap="none" dirty="0">
              <a:solidFill>
                <a:srgbClr val="333333"/>
              </a:solidFill>
              <a:latin typeface="Arial"/>
              <a:ea typeface="Arial"/>
              <a:cs typeface="Arial"/>
              <a:sym typeface="Arial"/>
            </a:endParaRPr>
          </a:p>
          <a:p>
            <a:pPr marL="742950" lvl="1" indent="-285750" algn="just">
              <a:spcBef>
                <a:spcPts val="350"/>
              </a:spcBef>
              <a:buClr>
                <a:srgbClr val="333333"/>
              </a:buClr>
              <a:buSzPct val="100000"/>
              <a:buChar char="–"/>
            </a:pPr>
            <a:r>
              <a:rPr lang="en-US" b="0" i="0" dirty="0">
                <a:solidFill>
                  <a:srgbClr val="333333"/>
                </a:solidFill>
                <a:latin typeface="Arial"/>
                <a:ea typeface="Arial"/>
                <a:cs typeface="Arial"/>
                <a:sym typeface="Arial"/>
              </a:rPr>
              <a:t>In content-based filtering, the broker filters the message based on a specific content filter-language. </a:t>
            </a:r>
            <a:endParaRPr b="0" i="0" dirty="0">
              <a:solidFill>
                <a:srgbClr val="333333"/>
              </a:solidFill>
              <a:latin typeface="Arial"/>
              <a:ea typeface="Arial"/>
              <a:cs typeface="Arial"/>
              <a:sym typeface="Arial"/>
            </a:endParaRPr>
          </a:p>
          <a:p>
            <a:pPr marL="742950" lvl="1" indent="-285750" algn="just">
              <a:spcBef>
                <a:spcPts val="350"/>
              </a:spcBef>
              <a:buClr>
                <a:srgbClr val="333333"/>
              </a:buClr>
              <a:buSzPct val="100000"/>
              <a:buChar char="–"/>
            </a:pPr>
            <a:r>
              <a:rPr lang="en-US" b="0" i="0" dirty="0">
                <a:solidFill>
                  <a:srgbClr val="333333"/>
                </a:solidFill>
                <a:latin typeface="Arial"/>
                <a:ea typeface="Arial"/>
                <a:cs typeface="Arial"/>
                <a:sym typeface="Arial"/>
              </a:rPr>
              <a:t>The receiving clients subscribe to filter queries of messages for which they are interested. </a:t>
            </a:r>
            <a:endParaRPr dirty="0"/>
          </a:p>
        </p:txBody>
      </p:sp>
      <p:sp>
        <p:nvSpPr>
          <p:cNvPr id="2" name="Date Placeholder 1"/>
          <p:cNvSpPr>
            <a:spLocks noGrp="1"/>
          </p:cNvSpPr>
          <p:nvPr>
            <p:ph type="dt" sz="half" idx="10"/>
          </p:nvPr>
        </p:nvSpPr>
        <p:spPr/>
        <p:txBody>
          <a:bodyPr/>
          <a:lstStyle/>
          <a:p>
            <a:fld id="{C0784CA3-2DFD-48ED-BA65-77DB9E3DD29A}" type="datetime1">
              <a:rPr lang="en-US" smtClean="0"/>
              <a:t>9/10/2026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26</a:t>
            </a:fld>
            <a:endParaRPr lang="en-IN"/>
          </a:p>
        </p:txBody>
      </p:sp>
    </p:spTree>
    <p:extLst>
      <p:ext uri="{BB962C8B-B14F-4D97-AF65-F5344CB8AC3E}">
        <p14:creationId xmlns:p14="http://schemas.microsoft.com/office/powerpoint/2010/main" val="1459834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g242571989b7_0_49"/>
          <p:cNvSpPr txBox="1">
            <a:spLocks noGrp="1"/>
          </p:cNvSpPr>
          <p:nvPr>
            <p:ph type="title"/>
          </p:nvPr>
        </p:nvSpPr>
        <p:spPr>
          <a:xfrm>
            <a:off x="1981200" y="274638"/>
            <a:ext cx="8229600" cy="9447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TOPIC</a:t>
            </a:r>
            <a:endParaRPr/>
          </a:p>
        </p:txBody>
      </p:sp>
      <p:sp>
        <p:nvSpPr>
          <p:cNvPr id="267" name="Google Shape;267;g242571989b7_0_49"/>
          <p:cNvSpPr txBox="1">
            <a:spLocks noGrp="1"/>
          </p:cNvSpPr>
          <p:nvPr>
            <p:ph type="body" idx="1"/>
          </p:nvPr>
        </p:nvSpPr>
        <p:spPr>
          <a:xfrm>
            <a:off x="1867958" y="1447800"/>
            <a:ext cx="8495100" cy="46785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dirty="0"/>
              <a:t>The label provided to the message is checked against the subscription known by the server is known as TOPIC.</a:t>
            </a:r>
            <a:endParaRPr dirty="0"/>
          </a:p>
          <a:p>
            <a:pPr marL="342900" indent="-139700">
              <a:spcBef>
                <a:spcPts val="640"/>
              </a:spcBef>
              <a:buClr>
                <a:schemeClr val="dk1"/>
              </a:buClr>
              <a:buSzPts val="3200"/>
              <a:buNone/>
            </a:pPr>
            <a:endParaRPr dirty="0"/>
          </a:p>
        </p:txBody>
      </p:sp>
      <p:pic>
        <p:nvPicPr>
          <p:cNvPr id="268" name="Google Shape;268;g242571989b7_0_49"/>
          <p:cNvPicPr preferRelativeResize="0"/>
          <p:nvPr/>
        </p:nvPicPr>
        <p:blipFill rotWithShape="1">
          <a:blip r:embed="rId3">
            <a:alphaModFix/>
          </a:blip>
          <a:srcRect/>
          <a:stretch/>
        </p:blipFill>
        <p:spPr>
          <a:xfrm>
            <a:off x="1867959" y="3810000"/>
            <a:ext cx="8495241" cy="1219200"/>
          </a:xfrm>
          <a:prstGeom prst="rect">
            <a:avLst/>
          </a:prstGeom>
          <a:noFill/>
          <a:ln>
            <a:noFill/>
          </a:ln>
        </p:spPr>
      </p:pic>
      <p:sp>
        <p:nvSpPr>
          <p:cNvPr id="269" name="Google Shape;269;g242571989b7_0_49"/>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94867A52-3B1D-4E0B-9328-1EFD0D087326}" type="datetime1">
              <a:rPr lang="en-US" smtClean="0"/>
              <a:t>9/10/2026</a:t>
            </a:fld>
            <a:endParaRPr/>
          </a:p>
        </p:txBody>
      </p:sp>
      <p:sp>
        <p:nvSpPr>
          <p:cNvPr id="270" name="Google Shape;270;g242571989b7_0_49"/>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71" name="Google Shape;271;g242571989b7_0_49"/>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27</a:t>
            </a:fld>
            <a:endParaRPr/>
          </a:p>
        </p:txBody>
      </p:sp>
    </p:spTree>
    <p:extLst>
      <p:ext uri="{BB962C8B-B14F-4D97-AF65-F5344CB8AC3E}">
        <p14:creationId xmlns:p14="http://schemas.microsoft.com/office/powerpoint/2010/main" val="22600866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242571989b7_0_58"/>
          <p:cNvSpPr txBox="1">
            <a:spLocks noGrp="1"/>
          </p:cNvSpPr>
          <p:nvPr>
            <p:ph type="title"/>
          </p:nvPr>
        </p:nvSpPr>
        <p:spPr>
          <a:xfrm>
            <a:off x="1981200" y="274638"/>
            <a:ext cx="8229600" cy="9447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Operations of MQTT Client</a:t>
            </a:r>
            <a:endParaRPr b="1"/>
          </a:p>
        </p:txBody>
      </p:sp>
      <p:sp>
        <p:nvSpPr>
          <p:cNvPr id="277" name="Google Shape;277;g242571989b7_0_58"/>
          <p:cNvSpPr txBox="1">
            <a:spLocks noGrp="1"/>
          </p:cNvSpPr>
          <p:nvPr>
            <p:ph type="body" idx="1"/>
          </p:nvPr>
        </p:nvSpPr>
        <p:spPr>
          <a:xfrm>
            <a:off x="1981200" y="1371600"/>
            <a:ext cx="8229600" cy="47547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a:t>In MQTT, the client performs two operations:</a:t>
            </a:r>
            <a:endParaRPr/>
          </a:p>
          <a:p>
            <a:pPr marL="742950" lvl="1" indent="-285750" algn="just">
              <a:spcBef>
                <a:spcPts val="560"/>
              </a:spcBef>
              <a:buClr>
                <a:schemeClr val="dk1"/>
              </a:buClr>
              <a:buSzPts val="2800"/>
              <a:buChar char="–"/>
            </a:pPr>
            <a:r>
              <a:rPr lang="en-US" b="1"/>
              <a:t>Publish:</a:t>
            </a:r>
            <a:r>
              <a:rPr lang="en-US"/>
              <a:t> When the client sends the data to the server, then we call this operation as a publish.</a:t>
            </a:r>
            <a:endParaRPr/>
          </a:p>
          <a:p>
            <a:pPr marL="742950" lvl="1" indent="-107950" algn="just">
              <a:spcBef>
                <a:spcPts val="560"/>
              </a:spcBef>
              <a:buClr>
                <a:schemeClr val="dk1"/>
              </a:buClr>
              <a:buSzPts val="2800"/>
              <a:buNone/>
            </a:pPr>
            <a:endParaRPr/>
          </a:p>
          <a:p>
            <a:pPr marL="342900" indent="-139700">
              <a:spcBef>
                <a:spcPts val="640"/>
              </a:spcBef>
              <a:buClr>
                <a:schemeClr val="dk1"/>
              </a:buClr>
              <a:buSzPts val="3200"/>
              <a:buNone/>
            </a:pPr>
            <a:endParaRPr/>
          </a:p>
        </p:txBody>
      </p:sp>
      <p:pic>
        <p:nvPicPr>
          <p:cNvPr id="278" name="Google Shape;278;g242571989b7_0_58"/>
          <p:cNvPicPr preferRelativeResize="0"/>
          <p:nvPr/>
        </p:nvPicPr>
        <p:blipFill rotWithShape="1">
          <a:blip r:embed="rId3">
            <a:alphaModFix/>
          </a:blip>
          <a:srcRect/>
          <a:stretch/>
        </p:blipFill>
        <p:spPr>
          <a:xfrm>
            <a:off x="2743200" y="3048000"/>
            <a:ext cx="6858000" cy="3124200"/>
          </a:xfrm>
          <a:prstGeom prst="rect">
            <a:avLst/>
          </a:prstGeom>
          <a:noFill/>
          <a:ln>
            <a:noFill/>
          </a:ln>
        </p:spPr>
      </p:pic>
      <p:sp>
        <p:nvSpPr>
          <p:cNvPr id="279" name="Google Shape;279;g242571989b7_0_58"/>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C5A8B4E0-CF15-4D56-8B6A-BA54DDAA627F}" type="datetime1">
              <a:rPr lang="en-US" smtClean="0"/>
              <a:t>9/10/2026</a:t>
            </a:fld>
            <a:endParaRPr/>
          </a:p>
        </p:txBody>
      </p:sp>
      <p:sp>
        <p:nvSpPr>
          <p:cNvPr id="280" name="Google Shape;280;g242571989b7_0_58"/>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81" name="Google Shape;281;g242571989b7_0_58"/>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28</a:t>
            </a:fld>
            <a:endParaRPr/>
          </a:p>
        </p:txBody>
      </p:sp>
    </p:spTree>
    <p:extLst>
      <p:ext uri="{BB962C8B-B14F-4D97-AF65-F5344CB8AC3E}">
        <p14:creationId xmlns:p14="http://schemas.microsoft.com/office/powerpoint/2010/main" val="155456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242571989b7_0_67"/>
          <p:cNvSpPr txBox="1">
            <a:spLocks noGrp="1"/>
          </p:cNvSpPr>
          <p:nvPr>
            <p:ph type="title"/>
          </p:nvPr>
        </p:nvSpPr>
        <p:spPr>
          <a:xfrm>
            <a:off x="1981200" y="274638"/>
            <a:ext cx="8229600" cy="8685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Operations of MQTT Client</a:t>
            </a:r>
            <a:endParaRPr b="1"/>
          </a:p>
        </p:txBody>
      </p:sp>
      <p:sp>
        <p:nvSpPr>
          <p:cNvPr id="287" name="Google Shape;287;g242571989b7_0_67"/>
          <p:cNvSpPr txBox="1">
            <a:spLocks noGrp="1"/>
          </p:cNvSpPr>
          <p:nvPr>
            <p:ph type="body" idx="1"/>
          </p:nvPr>
        </p:nvSpPr>
        <p:spPr>
          <a:xfrm>
            <a:off x="1981200" y="1219200"/>
            <a:ext cx="8229600" cy="4907100"/>
          </a:xfrm>
          <a:prstGeom prst="rect">
            <a:avLst/>
          </a:prstGeom>
          <a:noFill/>
          <a:ln>
            <a:noFill/>
          </a:ln>
        </p:spPr>
        <p:txBody>
          <a:bodyPr spcFirstLastPara="1" vert="horz" wrap="square" lIns="91425" tIns="45700" rIns="91425" bIns="45700" rtlCol="0" anchor="t" anchorCtr="0">
            <a:normAutofit/>
          </a:bodyPr>
          <a:lstStyle/>
          <a:p>
            <a:pPr marL="342900" lvl="1" indent="-342900">
              <a:spcBef>
                <a:spcPts val="0"/>
              </a:spcBef>
              <a:buClr>
                <a:schemeClr val="dk1"/>
              </a:buClr>
              <a:buSzPts val="2800"/>
              <a:buFont typeface="Arial"/>
              <a:buChar char="•"/>
            </a:pPr>
            <a:r>
              <a:rPr lang="en-US" b="1"/>
              <a:t>Subscribe:</a:t>
            </a:r>
            <a:r>
              <a:rPr lang="en-US"/>
              <a:t> When the client receives the data from the server, then we call this operation a subscription.</a:t>
            </a:r>
            <a:endParaRPr/>
          </a:p>
          <a:p>
            <a:pPr marL="342900" indent="-139700">
              <a:spcBef>
                <a:spcPts val="640"/>
              </a:spcBef>
              <a:buClr>
                <a:schemeClr val="dk1"/>
              </a:buClr>
              <a:buSzPts val="3200"/>
              <a:buNone/>
            </a:pPr>
            <a:endParaRPr/>
          </a:p>
        </p:txBody>
      </p:sp>
      <p:pic>
        <p:nvPicPr>
          <p:cNvPr id="288" name="Google Shape;288;g242571989b7_0_67"/>
          <p:cNvPicPr preferRelativeResize="0"/>
          <p:nvPr/>
        </p:nvPicPr>
        <p:blipFill rotWithShape="1">
          <a:blip r:embed="rId3">
            <a:alphaModFix/>
          </a:blip>
          <a:srcRect/>
          <a:stretch/>
        </p:blipFill>
        <p:spPr>
          <a:xfrm>
            <a:off x="2444261" y="2540977"/>
            <a:ext cx="7192107" cy="3446167"/>
          </a:xfrm>
          <a:prstGeom prst="rect">
            <a:avLst/>
          </a:prstGeom>
          <a:noFill/>
          <a:ln>
            <a:noFill/>
          </a:ln>
        </p:spPr>
      </p:pic>
      <p:sp>
        <p:nvSpPr>
          <p:cNvPr id="289" name="Google Shape;289;g242571989b7_0_67"/>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4DAC1F7B-74B7-4E65-94A6-FCB285822D99}" type="datetime1">
              <a:rPr lang="en-US" smtClean="0"/>
              <a:t>9/10/2026</a:t>
            </a:fld>
            <a:endParaRPr/>
          </a:p>
        </p:txBody>
      </p:sp>
      <p:sp>
        <p:nvSpPr>
          <p:cNvPr id="290" name="Google Shape;290;g242571989b7_0_67"/>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91" name="Google Shape;291;g242571989b7_0_67"/>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29</a:t>
            </a:fld>
            <a:endParaRPr/>
          </a:p>
        </p:txBody>
      </p:sp>
    </p:spTree>
    <p:extLst>
      <p:ext uri="{BB962C8B-B14F-4D97-AF65-F5344CB8AC3E}">
        <p14:creationId xmlns:p14="http://schemas.microsoft.com/office/powerpoint/2010/main" val="2212212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242571989b7_0_58"/>
          <p:cNvSpPr txBox="1">
            <a:spLocks noGrp="1"/>
          </p:cNvSpPr>
          <p:nvPr>
            <p:ph type="title"/>
          </p:nvPr>
        </p:nvSpPr>
        <p:spPr>
          <a:xfrm>
            <a:off x="1981200" y="274638"/>
            <a:ext cx="8229600" cy="9447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Operations of MQTT Client</a:t>
            </a:r>
            <a:endParaRPr b="1"/>
          </a:p>
        </p:txBody>
      </p:sp>
      <p:sp>
        <p:nvSpPr>
          <p:cNvPr id="277" name="Google Shape;277;g242571989b7_0_58"/>
          <p:cNvSpPr txBox="1">
            <a:spLocks noGrp="1"/>
          </p:cNvSpPr>
          <p:nvPr>
            <p:ph type="body" idx="1"/>
          </p:nvPr>
        </p:nvSpPr>
        <p:spPr>
          <a:xfrm>
            <a:off x="1981200" y="1371600"/>
            <a:ext cx="8229600" cy="47547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chemeClr val="dk1"/>
              </a:buClr>
              <a:buSzPts val="3200"/>
            </a:pPr>
            <a:r>
              <a:rPr lang="en-US"/>
              <a:t>In MQTT, the client performs two operations:</a:t>
            </a:r>
            <a:endParaRPr/>
          </a:p>
          <a:p>
            <a:pPr marL="742950" lvl="1" indent="-285750" algn="just">
              <a:spcBef>
                <a:spcPts val="560"/>
              </a:spcBef>
              <a:buClr>
                <a:schemeClr val="dk1"/>
              </a:buClr>
              <a:buSzPts val="2800"/>
              <a:buChar char="–"/>
            </a:pPr>
            <a:r>
              <a:rPr lang="en-US" b="1"/>
              <a:t>Publish:</a:t>
            </a:r>
            <a:r>
              <a:rPr lang="en-US"/>
              <a:t> When the client sends the data to the server, then we call this operation as a publish.</a:t>
            </a:r>
            <a:endParaRPr/>
          </a:p>
          <a:p>
            <a:pPr marL="742950" lvl="1" indent="-107950" algn="just">
              <a:spcBef>
                <a:spcPts val="560"/>
              </a:spcBef>
              <a:buClr>
                <a:schemeClr val="dk1"/>
              </a:buClr>
              <a:buSzPts val="2800"/>
              <a:buNone/>
            </a:pPr>
            <a:endParaRPr/>
          </a:p>
          <a:p>
            <a:pPr marL="342900" indent="-139700">
              <a:spcBef>
                <a:spcPts val="640"/>
              </a:spcBef>
              <a:buClr>
                <a:schemeClr val="dk1"/>
              </a:buClr>
              <a:buSzPts val="3200"/>
              <a:buNone/>
            </a:pPr>
            <a:endParaRPr/>
          </a:p>
        </p:txBody>
      </p:sp>
      <p:pic>
        <p:nvPicPr>
          <p:cNvPr id="278" name="Google Shape;278;g242571989b7_0_58"/>
          <p:cNvPicPr preferRelativeResize="0"/>
          <p:nvPr/>
        </p:nvPicPr>
        <p:blipFill rotWithShape="1">
          <a:blip r:embed="rId3">
            <a:alphaModFix/>
          </a:blip>
          <a:srcRect/>
          <a:stretch/>
        </p:blipFill>
        <p:spPr>
          <a:xfrm>
            <a:off x="2743200" y="3048000"/>
            <a:ext cx="6858000" cy="3124200"/>
          </a:xfrm>
          <a:prstGeom prst="rect">
            <a:avLst/>
          </a:prstGeom>
          <a:noFill/>
          <a:ln>
            <a:noFill/>
          </a:ln>
        </p:spPr>
      </p:pic>
      <p:sp>
        <p:nvSpPr>
          <p:cNvPr id="279" name="Google Shape;279;g242571989b7_0_58"/>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C5A8B4E0-CF15-4D56-8B6A-BA54DDAA627F}" type="datetime1">
              <a:rPr lang="en-US" smtClean="0"/>
              <a:t>9/10/2026</a:t>
            </a:fld>
            <a:endParaRPr/>
          </a:p>
        </p:txBody>
      </p:sp>
      <p:sp>
        <p:nvSpPr>
          <p:cNvPr id="280" name="Google Shape;280;g242571989b7_0_58"/>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81" name="Google Shape;281;g242571989b7_0_58"/>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30</a:t>
            </a:fld>
            <a:endParaRPr/>
          </a:p>
        </p:txBody>
      </p:sp>
    </p:spTree>
    <p:extLst>
      <p:ext uri="{BB962C8B-B14F-4D97-AF65-F5344CB8AC3E}">
        <p14:creationId xmlns:p14="http://schemas.microsoft.com/office/powerpoint/2010/main" val="4093226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242571989b7_0_67"/>
          <p:cNvSpPr txBox="1">
            <a:spLocks noGrp="1"/>
          </p:cNvSpPr>
          <p:nvPr>
            <p:ph type="title"/>
          </p:nvPr>
        </p:nvSpPr>
        <p:spPr>
          <a:xfrm>
            <a:off x="1981200" y="274638"/>
            <a:ext cx="8229600" cy="8685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Operations of MQTT Client</a:t>
            </a:r>
            <a:endParaRPr b="1"/>
          </a:p>
        </p:txBody>
      </p:sp>
      <p:sp>
        <p:nvSpPr>
          <p:cNvPr id="287" name="Google Shape;287;g242571989b7_0_67"/>
          <p:cNvSpPr txBox="1">
            <a:spLocks noGrp="1"/>
          </p:cNvSpPr>
          <p:nvPr>
            <p:ph type="body" idx="1"/>
          </p:nvPr>
        </p:nvSpPr>
        <p:spPr>
          <a:xfrm>
            <a:off x="1981200" y="1219200"/>
            <a:ext cx="8229600" cy="4907100"/>
          </a:xfrm>
          <a:prstGeom prst="rect">
            <a:avLst/>
          </a:prstGeom>
          <a:noFill/>
          <a:ln>
            <a:noFill/>
          </a:ln>
        </p:spPr>
        <p:txBody>
          <a:bodyPr spcFirstLastPara="1" vert="horz" wrap="square" lIns="91425" tIns="45700" rIns="91425" bIns="45700" rtlCol="0" anchor="t" anchorCtr="0">
            <a:normAutofit/>
          </a:bodyPr>
          <a:lstStyle/>
          <a:p>
            <a:pPr marL="342900" lvl="1" indent="-342900">
              <a:spcBef>
                <a:spcPts val="0"/>
              </a:spcBef>
              <a:buClr>
                <a:schemeClr val="dk1"/>
              </a:buClr>
              <a:buSzPts val="2800"/>
              <a:buFont typeface="Arial"/>
              <a:buChar char="•"/>
            </a:pPr>
            <a:r>
              <a:rPr lang="en-US" b="1"/>
              <a:t>Subscribe:</a:t>
            </a:r>
            <a:r>
              <a:rPr lang="en-US"/>
              <a:t> When the client receives the data from the server, then we call this operation a subscription.</a:t>
            </a:r>
            <a:endParaRPr/>
          </a:p>
          <a:p>
            <a:pPr marL="342900" indent="-139700">
              <a:spcBef>
                <a:spcPts val="640"/>
              </a:spcBef>
              <a:buClr>
                <a:schemeClr val="dk1"/>
              </a:buClr>
              <a:buSzPts val="3200"/>
              <a:buNone/>
            </a:pPr>
            <a:endParaRPr/>
          </a:p>
        </p:txBody>
      </p:sp>
      <p:pic>
        <p:nvPicPr>
          <p:cNvPr id="288" name="Google Shape;288;g242571989b7_0_67"/>
          <p:cNvPicPr preferRelativeResize="0"/>
          <p:nvPr/>
        </p:nvPicPr>
        <p:blipFill rotWithShape="1">
          <a:blip r:embed="rId3">
            <a:alphaModFix/>
          </a:blip>
          <a:srcRect/>
          <a:stretch/>
        </p:blipFill>
        <p:spPr>
          <a:xfrm>
            <a:off x="2444261" y="2540977"/>
            <a:ext cx="7192107" cy="3446167"/>
          </a:xfrm>
          <a:prstGeom prst="rect">
            <a:avLst/>
          </a:prstGeom>
          <a:noFill/>
          <a:ln>
            <a:noFill/>
          </a:ln>
        </p:spPr>
      </p:pic>
      <p:sp>
        <p:nvSpPr>
          <p:cNvPr id="289" name="Google Shape;289;g242571989b7_0_67"/>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4DAC1F7B-74B7-4E65-94A6-FCB285822D99}" type="datetime1">
              <a:rPr lang="en-US" smtClean="0"/>
              <a:t>9/10/2026</a:t>
            </a:fld>
            <a:endParaRPr/>
          </a:p>
        </p:txBody>
      </p:sp>
      <p:sp>
        <p:nvSpPr>
          <p:cNvPr id="290" name="Google Shape;290;g242571989b7_0_67"/>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291" name="Google Shape;291;g242571989b7_0_67"/>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31</a:t>
            </a:fld>
            <a:endParaRPr/>
          </a:p>
        </p:txBody>
      </p:sp>
    </p:spTree>
    <p:extLst>
      <p:ext uri="{BB962C8B-B14F-4D97-AF65-F5344CB8AC3E}">
        <p14:creationId xmlns:p14="http://schemas.microsoft.com/office/powerpoint/2010/main" val="3322725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242571989b7_0_76"/>
          <p:cNvSpPr txBox="1">
            <a:spLocks noGrp="1"/>
          </p:cNvSpPr>
          <p:nvPr>
            <p:ph type="title"/>
          </p:nvPr>
        </p:nvSpPr>
        <p:spPr>
          <a:xfrm>
            <a:off x="2152650" y="228600"/>
            <a:ext cx="7886700" cy="764931"/>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dirty="0"/>
              <a:t>MQTT Broker:</a:t>
            </a:r>
            <a:endParaRPr dirty="0"/>
          </a:p>
        </p:txBody>
      </p:sp>
      <p:sp>
        <p:nvSpPr>
          <p:cNvPr id="297" name="Google Shape;297;g242571989b7_0_76"/>
          <p:cNvSpPr txBox="1">
            <a:spLocks noGrp="1"/>
          </p:cNvSpPr>
          <p:nvPr>
            <p:ph type="body" idx="1"/>
          </p:nvPr>
        </p:nvSpPr>
        <p:spPr>
          <a:xfrm>
            <a:off x="1905000" y="1066800"/>
            <a:ext cx="8458200" cy="5110200"/>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ct val="100000"/>
            </a:pPr>
            <a:r>
              <a:rPr lang="en-US" i="0" dirty="0">
                <a:solidFill>
                  <a:srgbClr val="333333"/>
                </a:solidFill>
                <a:latin typeface="Arial"/>
                <a:ea typeface="Arial"/>
                <a:cs typeface="Arial"/>
                <a:sym typeface="Arial"/>
              </a:rPr>
              <a:t>The counterpart of the MQTT client is the MQTT broker. Depending on the implementation, a broker can handle up to millions of concurrently connected MQTT clients</a:t>
            </a:r>
            <a:r>
              <a:rPr lang="en-US" i="0" dirty="0" smtClean="0">
                <a:solidFill>
                  <a:srgbClr val="333333"/>
                </a:solidFill>
                <a:latin typeface="Arial"/>
                <a:ea typeface="Arial"/>
                <a:cs typeface="Arial"/>
                <a:sym typeface="Arial"/>
              </a:rPr>
              <a:t>.</a:t>
            </a:r>
          </a:p>
          <a:p>
            <a:pPr marL="342900" indent="-342900" algn="just">
              <a:spcBef>
                <a:spcPts val="0"/>
              </a:spcBef>
              <a:buClr>
                <a:srgbClr val="333333"/>
              </a:buClr>
              <a:buSzPct val="100000"/>
            </a:pPr>
            <a:endParaRPr dirty="0"/>
          </a:p>
          <a:p>
            <a:pPr marL="342900" indent="-342900" algn="just">
              <a:spcBef>
                <a:spcPts val="544"/>
              </a:spcBef>
              <a:buClr>
                <a:srgbClr val="333333"/>
              </a:buClr>
              <a:buSzPct val="100000"/>
            </a:pPr>
            <a:r>
              <a:rPr lang="en-US" i="0" dirty="0">
                <a:solidFill>
                  <a:srgbClr val="333333"/>
                </a:solidFill>
                <a:latin typeface="Arial"/>
                <a:ea typeface="Arial"/>
                <a:cs typeface="Arial"/>
                <a:sym typeface="Arial"/>
              </a:rPr>
              <a:t>The broker is responsible for receiving all messages, filtering the messages, determining who is subscribed to each message, and sending the message to these subscribed clients. </a:t>
            </a:r>
            <a:endParaRPr lang="en-US" i="0" dirty="0" smtClean="0">
              <a:solidFill>
                <a:srgbClr val="333333"/>
              </a:solidFill>
              <a:latin typeface="Arial"/>
              <a:ea typeface="Arial"/>
              <a:cs typeface="Arial"/>
              <a:sym typeface="Arial"/>
            </a:endParaRPr>
          </a:p>
          <a:p>
            <a:pPr marL="342900" indent="-342900" algn="just">
              <a:spcBef>
                <a:spcPts val="544"/>
              </a:spcBef>
              <a:buClr>
                <a:srgbClr val="333333"/>
              </a:buClr>
              <a:buSzPct val="100000"/>
            </a:pPr>
            <a:endParaRPr i="0" dirty="0">
              <a:solidFill>
                <a:srgbClr val="333333"/>
              </a:solidFill>
              <a:latin typeface="Arial"/>
              <a:ea typeface="Arial"/>
              <a:cs typeface="Arial"/>
              <a:sym typeface="Arial"/>
            </a:endParaRPr>
          </a:p>
          <a:p>
            <a:pPr marL="342900" indent="-342900" algn="just">
              <a:spcBef>
                <a:spcPts val="544"/>
              </a:spcBef>
              <a:buClr>
                <a:srgbClr val="333333"/>
              </a:buClr>
              <a:buSzPct val="100000"/>
            </a:pPr>
            <a:r>
              <a:rPr lang="en-US" i="0" dirty="0">
                <a:solidFill>
                  <a:srgbClr val="333333"/>
                </a:solidFill>
                <a:latin typeface="Arial"/>
                <a:ea typeface="Arial"/>
                <a:cs typeface="Arial"/>
                <a:sym typeface="Arial"/>
              </a:rPr>
              <a:t>Another responsibility of the broker is the authentication and authorization of </a:t>
            </a:r>
            <a:r>
              <a:rPr lang="en-US" i="0" dirty="0" smtClean="0">
                <a:solidFill>
                  <a:srgbClr val="333333"/>
                </a:solidFill>
                <a:latin typeface="Arial"/>
                <a:ea typeface="Arial"/>
                <a:cs typeface="Arial"/>
                <a:sym typeface="Arial"/>
              </a:rPr>
              <a:t>client.</a:t>
            </a:r>
            <a:endParaRPr i="0" dirty="0">
              <a:solidFill>
                <a:srgbClr val="333333"/>
              </a:solidFill>
              <a:latin typeface="Arial"/>
              <a:ea typeface="Arial"/>
              <a:cs typeface="Arial"/>
              <a:sym typeface="Arial"/>
            </a:endParaRPr>
          </a:p>
        </p:txBody>
      </p:sp>
      <p:sp>
        <p:nvSpPr>
          <p:cNvPr id="2" name="Date Placeholder 1"/>
          <p:cNvSpPr>
            <a:spLocks noGrp="1"/>
          </p:cNvSpPr>
          <p:nvPr>
            <p:ph type="dt" sz="half" idx="10"/>
          </p:nvPr>
        </p:nvSpPr>
        <p:spPr/>
        <p:txBody>
          <a:bodyPr/>
          <a:lstStyle/>
          <a:p>
            <a:fld id="{53689AB8-7CCB-4EAA-8B38-0E3806DE4EBA}"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32</a:t>
            </a:fld>
            <a:endParaRPr lang="en-IN"/>
          </a:p>
        </p:txBody>
      </p:sp>
    </p:spTree>
    <p:extLst>
      <p:ext uri="{BB962C8B-B14F-4D97-AF65-F5344CB8AC3E}">
        <p14:creationId xmlns:p14="http://schemas.microsoft.com/office/powerpoint/2010/main" val="3465951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g242571989b7_0_89"/>
          <p:cNvSpPr txBox="1">
            <a:spLocks noGrp="1"/>
          </p:cNvSpPr>
          <p:nvPr>
            <p:ph type="title"/>
          </p:nvPr>
        </p:nvSpPr>
        <p:spPr>
          <a:xfrm>
            <a:off x="2152650" y="149469"/>
            <a:ext cx="7886700" cy="543319"/>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dirty="0"/>
              <a:t>MQTT Connection</a:t>
            </a:r>
            <a:endParaRPr dirty="0"/>
          </a:p>
        </p:txBody>
      </p:sp>
      <p:sp>
        <p:nvSpPr>
          <p:cNvPr id="312" name="Google Shape;312;g242571989b7_0_89"/>
          <p:cNvSpPr txBox="1">
            <a:spLocks noGrp="1"/>
          </p:cNvSpPr>
          <p:nvPr>
            <p:ph type="body" idx="1"/>
          </p:nvPr>
        </p:nvSpPr>
        <p:spPr>
          <a:xfrm>
            <a:off x="1406769" y="692788"/>
            <a:ext cx="9284677" cy="5484106"/>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ct val="100000"/>
            </a:pPr>
            <a:r>
              <a:rPr lang="en-US" b="0" i="0" dirty="0">
                <a:solidFill>
                  <a:srgbClr val="333333"/>
                </a:solidFill>
                <a:latin typeface="Arial"/>
                <a:ea typeface="Arial"/>
                <a:cs typeface="Arial"/>
                <a:sym typeface="Arial"/>
              </a:rPr>
              <a:t>The MQTT protocol is based on TCP/IP. Both the client and the broker need to have a TCP/IP stack.</a:t>
            </a:r>
            <a:endParaRPr dirty="0"/>
          </a:p>
          <a:p>
            <a:pPr marL="342900" indent="-342900" algn="just">
              <a:spcBef>
                <a:spcPts val="544"/>
              </a:spcBef>
              <a:buClr>
                <a:srgbClr val="333333"/>
              </a:buClr>
              <a:buSzPct val="100000"/>
            </a:pPr>
            <a:r>
              <a:rPr lang="en-US" b="0" i="0" dirty="0">
                <a:solidFill>
                  <a:srgbClr val="333333"/>
                </a:solidFill>
                <a:latin typeface="Arial"/>
                <a:ea typeface="Arial"/>
                <a:cs typeface="Arial"/>
                <a:sym typeface="Arial"/>
              </a:rPr>
              <a:t>The MQTT connection is always between one client and the broker. </a:t>
            </a:r>
            <a:endParaRPr b="0" i="0" dirty="0">
              <a:solidFill>
                <a:srgbClr val="333333"/>
              </a:solidFill>
              <a:latin typeface="Arial"/>
              <a:ea typeface="Arial"/>
              <a:cs typeface="Arial"/>
              <a:sym typeface="Arial"/>
            </a:endParaRPr>
          </a:p>
          <a:p>
            <a:pPr marL="342900" indent="-342900" algn="just">
              <a:spcBef>
                <a:spcPts val="544"/>
              </a:spcBef>
              <a:buClr>
                <a:srgbClr val="333333"/>
              </a:buClr>
              <a:buSzPct val="100000"/>
            </a:pPr>
            <a:r>
              <a:rPr lang="en-US" b="0" i="0" dirty="0">
                <a:solidFill>
                  <a:srgbClr val="333333"/>
                </a:solidFill>
                <a:latin typeface="Arial"/>
                <a:ea typeface="Arial"/>
                <a:cs typeface="Arial"/>
                <a:sym typeface="Arial"/>
              </a:rPr>
              <a:t>Clients never connect to each other directly. </a:t>
            </a:r>
            <a:endParaRPr b="0" i="0" dirty="0">
              <a:solidFill>
                <a:srgbClr val="333333"/>
              </a:solidFill>
              <a:latin typeface="Arial"/>
              <a:ea typeface="Arial"/>
              <a:cs typeface="Arial"/>
              <a:sym typeface="Arial"/>
            </a:endParaRPr>
          </a:p>
          <a:p>
            <a:pPr marL="342900" indent="-342900" algn="just">
              <a:spcBef>
                <a:spcPts val="544"/>
              </a:spcBef>
              <a:buClr>
                <a:srgbClr val="333333"/>
              </a:buClr>
              <a:buSzPct val="100000"/>
            </a:pPr>
            <a:r>
              <a:rPr lang="en-US" b="0" i="0" dirty="0">
                <a:solidFill>
                  <a:srgbClr val="333333"/>
                </a:solidFill>
                <a:latin typeface="Arial"/>
                <a:ea typeface="Arial"/>
                <a:cs typeface="Arial"/>
                <a:sym typeface="Arial"/>
              </a:rPr>
              <a:t>To initiate a connection, </a:t>
            </a:r>
            <a:r>
              <a:rPr lang="en-US" b="1" i="0" dirty="0">
                <a:solidFill>
                  <a:srgbClr val="333333"/>
                </a:solidFill>
                <a:latin typeface="Arial"/>
                <a:ea typeface="Arial"/>
                <a:cs typeface="Arial"/>
                <a:sym typeface="Arial"/>
              </a:rPr>
              <a:t>the client sends a CONNECT message to the broker. The broker responds with a CONNACK message</a:t>
            </a:r>
            <a:r>
              <a:rPr lang="en-US" b="0" i="0" dirty="0">
                <a:solidFill>
                  <a:srgbClr val="333333"/>
                </a:solidFill>
                <a:latin typeface="Arial"/>
                <a:ea typeface="Arial"/>
                <a:cs typeface="Arial"/>
                <a:sym typeface="Arial"/>
              </a:rPr>
              <a:t> and a status code.</a:t>
            </a:r>
            <a:endParaRPr dirty="0"/>
          </a:p>
          <a:p>
            <a:pPr marL="0" indent="0" algn="just">
              <a:spcBef>
                <a:spcPts val="544"/>
              </a:spcBef>
              <a:buClr>
                <a:srgbClr val="333333"/>
              </a:buClr>
              <a:buSzPct val="100000"/>
              <a:buNone/>
            </a:pPr>
            <a:endParaRPr dirty="0">
              <a:latin typeface="Arial"/>
              <a:ea typeface="Arial"/>
              <a:cs typeface="Arial"/>
              <a:sym typeface="Arial"/>
            </a:endParaRPr>
          </a:p>
        </p:txBody>
      </p:sp>
      <p:sp>
        <p:nvSpPr>
          <p:cNvPr id="2" name="Date Placeholder 1"/>
          <p:cNvSpPr>
            <a:spLocks noGrp="1"/>
          </p:cNvSpPr>
          <p:nvPr>
            <p:ph type="dt" sz="half" idx="10"/>
          </p:nvPr>
        </p:nvSpPr>
        <p:spPr/>
        <p:txBody>
          <a:bodyPr/>
          <a:lstStyle/>
          <a:p>
            <a:fld id="{D90E7FB0-2F40-4AAF-B460-EFACD87BEAF2}"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33</a:t>
            </a:fld>
            <a:endParaRPr lang="en-IN"/>
          </a:p>
        </p:txBody>
      </p:sp>
      <p:pic>
        <p:nvPicPr>
          <p:cNvPr id="7" name="Google Shape;318;g242571989b7_0_94"/>
          <p:cNvPicPr preferRelativeResize="0">
            <a:picLocks/>
          </p:cNvPicPr>
          <p:nvPr/>
        </p:nvPicPr>
        <p:blipFill rotWithShape="1">
          <a:blip r:embed="rId3">
            <a:alphaModFix/>
          </a:blip>
          <a:srcRect/>
          <a:stretch/>
        </p:blipFill>
        <p:spPr>
          <a:xfrm>
            <a:off x="2009515" y="4035222"/>
            <a:ext cx="3337200" cy="2231400"/>
          </a:xfrm>
          <a:prstGeom prst="rect">
            <a:avLst/>
          </a:prstGeom>
          <a:noFill/>
          <a:ln>
            <a:noFill/>
          </a:ln>
        </p:spPr>
      </p:pic>
      <p:pic>
        <p:nvPicPr>
          <p:cNvPr id="8" name="Google Shape;319;g242571989b7_0_94"/>
          <p:cNvPicPr preferRelativeResize="0"/>
          <p:nvPr/>
        </p:nvPicPr>
        <p:blipFill rotWithShape="1">
          <a:blip r:embed="rId4">
            <a:alphaModFix/>
          </a:blip>
          <a:srcRect/>
          <a:stretch/>
        </p:blipFill>
        <p:spPr>
          <a:xfrm>
            <a:off x="6049107" y="4198373"/>
            <a:ext cx="4262657" cy="1905098"/>
          </a:xfrm>
          <a:prstGeom prst="rect">
            <a:avLst/>
          </a:prstGeom>
          <a:noFill/>
          <a:ln>
            <a:noFill/>
          </a:ln>
        </p:spPr>
      </p:pic>
    </p:spTree>
    <p:extLst>
      <p:ext uri="{BB962C8B-B14F-4D97-AF65-F5344CB8AC3E}">
        <p14:creationId xmlns:p14="http://schemas.microsoft.com/office/powerpoint/2010/main" val="443583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242571989b7_0_100"/>
          <p:cNvSpPr txBox="1">
            <a:spLocks noGrp="1"/>
          </p:cNvSpPr>
          <p:nvPr>
            <p:ph type="title"/>
          </p:nvPr>
        </p:nvSpPr>
        <p:spPr>
          <a:xfrm>
            <a:off x="2152650" y="152401"/>
            <a:ext cx="7886700" cy="664335"/>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dirty="0">
                <a:latin typeface="Roboto"/>
                <a:ea typeface="Roboto"/>
                <a:cs typeface="Roboto"/>
                <a:sym typeface="Roboto"/>
              </a:rPr>
              <a:t/>
            </a:r>
            <a:br>
              <a:rPr lang="en-US" b="1" dirty="0">
                <a:latin typeface="Roboto"/>
                <a:ea typeface="Roboto"/>
                <a:cs typeface="Roboto"/>
                <a:sym typeface="Roboto"/>
              </a:rPr>
            </a:br>
            <a:r>
              <a:rPr lang="en-US" b="1" dirty="0">
                <a:latin typeface="Roboto"/>
                <a:ea typeface="Roboto"/>
                <a:cs typeface="Roboto"/>
                <a:sym typeface="Roboto"/>
              </a:rPr>
              <a:t>MQTT CONNECT</a:t>
            </a:r>
            <a:r>
              <a:rPr lang="en-US" b="1" i="0" dirty="0">
                <a:solidFill>
                  <a:srgbClr val="333333"/>
                </a:solidFill>
                <a:latin typeface="Roboto"/>
                <a:ea typeface="Roboto"/>
                <a:cs typeface="Roboto"/>
                <a:sym typeface="Roboto"/>
              </a:rPr>
              <a:t/>
            </a:r>
            <a:br>
              <a:rPr lang="en-US" b="1" i="0" dirty="0">
                <a:solidFill>
                  <a:srgbClr val="333333"/>
                </a:solidFill>
                <a:latin typeface="Roboto"/>
                <a:ea typeface="Roboto"/>
                <a:cs typeface="Roboto"/>
                <a:sym typeface="Roboto"/>
              </a:rPr>
            </a:br>
            <a:endParaRPr dirty="0"/>
          </a:p>
        </p:txBody>
      </p:sp>
      <p:sp>
        <p:nvSpPr>
          <p:cNvPr id="325" name="Google Shape;325;g242571989b7_0_100"/>
          <p:cNvSpPr txBox="1">
            <a:spLocks noGrp="1"/>
          </p:cNvSpPr>
          <p:nvPr>
            <p:ph type="body" idx="1"/>
          </p:nvPr>
        </p:nvSpPr>
        <p:spPr>
          <a:xfrm>
            <a:off x="1752600" y="816736"/>
            <a:ext cx="8610600" cy="5360307"/>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ts val="3200"/>
            </a:pPr>
            <a:r>
              <a:rPr lang="en-US" b="0" i="0" dirty="0">
                <a:solidFill>
                  <a:srgbClr val="333333"/>
                </a:solidFill>
                <a:latin typeface="Arial"/>
                <a:ea typeface="Arial"/>
                <a:cs typeface="Arial"/>
                <a:sym typeface="Arial"/>
              </a:rPr>
              <a:t>To initiate a connection, the client sends a command message to the broker. If this CONNECT message is malformed (according to the MQTT specification) or too much time passes between opening a network socket and sending the connect message, the broker closes the connection. </a:t>
            </a:r>
            <a:endParaRPr dirty="0">
              <a:latin typeface="Arial"/>
              <a:ea typeface="Arial"/>
              <a:cs typeface="Arial"/>
              <a:sym typeface="Arial"/>
            </a:endParaRPr>
          </a:p>
        </p:txBody>
      </p:sp>
      <p:sp>
        <p:nvSpPr>
          <p:cNvPr id="2" name="Date Placeholder 1"/>
          <p:cNvSpPr>
            <a:spLocks noGrp="1"/>
          </p:cNvSpPr>
          <p:nvPr>
            <p:ph type="dt" sz="half" idx="10"/>
          </p:nvPr>
        </p:nvSpPr>
        <p:spPr/>
        <p:txBody>
          <a:bodyPr/>
          <a:lstStyle/>
          <a:p>
            <a:fld id="{DF2B5659-26B1-406A-8DD2-9E194DE7FB8E}"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34</a:t>
            </a:fld>
            <a:endParaRPr lang="en-IN"/>
          </a:p>
        </p:txBody>
      </p:sp>
      <p:pic>
        <p:nvPicPr>
          <p:cNvPr id="7" name="Google Shape;334;g242571989b7_0_105"/>
          <p:cNvPicPr preferRelativeResize="0">
            <a:picLocks/>
          </p:cNvPicPr>
          <p:nvPr/>
        </p:nvPicPr>
        <p:blipFill rotWithShape="1">
          <a:blip r:embed="rId3">
            <a:alphaModFix/>
          </a:blip>
          <a:srcRect/>
          <a:stretch/>
        </p:blipFill>
        <p:spPr>
          <a:xfrm>
            <a:off x="3968263" y="3157157"/>
            <a:ext cx="6485792" cy="3109539"/>
          </a:xfrm>
          <a:prstGeom prst="rect">
            <a:avLst/>
          </a:prstGeom>
          <a:noFill/>
          <a:ln>
            <a:noFill/>
          </a:ln>
        </p:spPr>
      </p:pic>
    </p:spTree>
    <p:extLst>
      <p:ext uri="{BB962C8B-B14F-4D97-AF65-F5344CB8AC3E}">
        <p14:creationId xmlns:p14="http://schemas.microsoft.com/office/powerpoint/2010/main" val="23385685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242571989b7_0_113"/>
          <p:cNvSpPr txBox="1">
            <a:spLocks noGrp="1"/>
          </p:cNvSpPr>
          <p:nvPr>
            <p:ph type="title"/>
          </p:nvPr>
        </p:nvSpPr>
        <p:spPr>
          <a:xfrm>
            <a:off x="2152650" y="179615"/>
            <a:ext cx="7886700" cy="6204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a:latin typeface="Roboto"/>
                <a:ea typeface="Roboto"/>
                <a:cs typeface="Roboto"/>
                <a:sym typeface="Roboto"/>
              </a:rPr>
              <a:t/>
            </a:r>
            <a:br>
              <a:rPr lang="en-US" b="1">
                <a:latin typeface="Roboto"/>
                <a:ea typeface="Roboto"/>
                <a:cs typeface="Roboto"/>
                <a:sym typeface="Roboto"/>
              </a:rPr>
            </a:br>
            <a:r>
              <a:rPr lang="en-US" b="1">
                <a:latin typeface="Roboto"/>
                <a:ea typeface="Roboto"/>
                <a:cs typeface="Roboto"/>
                <a:sym typeface="Roboto"/>
              </a:rPr>
              <a:t>MQTT CONNECT</a:t>
            </a:r>
            <a:r>
              <a:rPr lang="en-US" b="1">
                <a:solidFill>
                  <a:srgbClr val="333333"/>
                </a:solidFill>
                <a:latin typeface="Roboto"/>
                <a:ea typeface="Roboto"/>
                <a:cs typeface="Roboto"/>
                <a:sym typeface="Roboto"/>
              </a:rPr>
              <a:t/>
            </a:r>
            <a:br>
              <a:rPr lang="en-US" b="1">
                <a:solidFill>
                  <a:srgbClr val="333333"/>
                </a:solidFill>
                <a:latin typeface="Roboto"/>
                <a:ea typeface="Roboto"/>
                <a:cs typeface="Roboto"/>
                <a:sym typeface="Roboto"/>
              </a:rPr>
            </a:br>
            <a:endParaRPr/>
          </a:p>
        </p:txBody>
      </p:sp>
      <p:sp>
        <p:nvSpPr>
          <p:cNvPr id="340" name="Google Shape;340;g242571989b7_0_113"/>
          <p:cNvSpPr txBox="1">
            <a:spLocks noGrp="1"/>
          </p:cNvSpPr>
          <p:nvPr>
            <p:ph type="body" idx="1"/>
          </p:nvPr>
        </p:nvSpPr>
        <p:spPr>
          <a:xfrm>
            <a:off x="2152650" y="832757"/>
            <a:ext cx="7886700" cy="53442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rgbClr val="333333"/>
              </a:buClr>
              <a:buSzPct val="100000"/>
            </a:pPr>
            <a:r>
              <a:rPr lang="en-US" b="1" i="0" dirty="0">
                <a:solidFill>
                  <a:srgbClr val="333333"/>
                </a:solidFill>
                <a:latin typeface="Arial"/>
                <a:ea typeface="Arial"/>
                <a:cs typeface="Arial"/>
                <a:sym typeface="Arial"/>
              </a:rPr>
              <a:t>Client Id:</a:t>
            </a:r>
            <a:endParaRPr b="1" i="0" dirty="0">
              <a:solidFill>
                <a:srgbClr val="333333"/>
              </a:solidFill>
              <a:latin typeface="Arial"/>
              <a:ea typeface="Arial"/>
              <a:cs typeface="Arial"/>
              <a:sym typeface="Arial"/>
            </a:endParaRPr>
          </a:p>
          <a:p>
            <a:pPr marL="742950" lvl="1" indent="-285750" algn="just">
              <a:spcBef>
                <a:spcPts val="476"/>
              </a:spcBef>
              <a:buClr>
                <a:srgbClr val="333333"/>
              </a:buClr>
              <a:buSzPct val="100000"/>
              <a:buChar char="–"/>
            </a:pPr>
            <a:r>
              <a:rPr lang="en-US" b="0" i="0" dirty="0">
                <a:solidFill>
                  <a:srgbClr val="333333"/>
                </a:solidFill>
                <a:latin typeface="Arial"/>
                <a:ea typeface="Arial"/>
                <a:cs typeface="Arial"/>
                <a:sym typeface="Arial"/>
              </a:rPr>
              <a:t>The client identifier (Client Id) </a:t>
            </a:r>
            <a:r>
              <a:rPr lang="en-US" b="1" i="0" dirty="0">
                <a:solidFill>
                  <a:srgbClr val="333333"/>
                </a:solidFill>
                <a:latin typeface="Arial"/>
                <a:ea typeface="Arial"/>
                <a:cs typeface="Arial"/>
                <a:sym typeface="Arial"/>
              </a:rPr>
              <a:t>identifies each MQTT client</a:t>
            </a:r>
            <a:r>
              <a:rPr lang="en-US" b="0" i="0" dirty="0">
                <a:solidFill>
                  <a:srgbClr val="333333"/>
                </a:solidFill>
                <a:latin typeface="Arial"/>
                <a:ea typeface="Arial"/>
                <a:cs typeface="Arial"/>
                <a:sym typeface="Arial"/>
              </a:rPr>
              <a:t> that connects to an MQTT broker. The broker uses the Client Id to identify the client and the current state of the client. Therefore, this Id should be </a:t>
            </a:r>
            <a:r>
              <a:rPr lang="en-US" b="1" i="0" dirty="0">
                <a:solidFill>
                  <a:srgbClr val="333333"/>
                </a:solidFill>
                <a:latin typeface="Arial"/>
                <a:ea typeface="Arial"/>
                <a:cs typeface="Arial"/>
                <a:sym typeface="Arial"/>
              </a:rPr>
              <a:t>unique</a:t>
            </a:r>
            <a:r>
              <a:rPr lang="en-US" b="0" i="0" dirty="0">
                <a:solidFill>
                  <a:srgbClr val="333333"/>
                </a:solidFill>
                <a:latin typeface="Arial"/>
                <a:ea typeface="Arial"/>
                <a:cs typeface="Arial"/>
                <a:sym typeface="Arial"/>
              </a:rPr>
              <a:t> per client and broker. </a:t>
            </a:r>
            <a:endParaRPr dirty="0"/>
          </a:p>
          <a:p>
            <a:pPr marL="342900" indent="-342900">
              <a:spcBef>
                <a:spcPts val="544"/>
              </a:spcBef>
              <a:buClr>
                <a:srgbClr val="333333"/>
              </a:buClr>
              <a:buSzPct val="100000"/>
            </a:pPr>
            <a:r>
              <a:rPr lang="en-US" b="1" i="0" dirty="0">
                <a:solidFill>
                  <a:srgbClr val="333333"/>
                </a:solidFill>
                <a:latin typeface="Arial"/>
                <a:ea typeface="Arial"/>
                <a:cs typeface="Arial"/>
                <a:sym typeface="Arial"/>
              </a:rPr>
              <a:t>Clean Session</a:t>
            </a:r>
            <a:endParaRPr dirty="0"/>
          </a:p>
          <a:p>
            <a:pPr marL="742950" lvl="1" indent="-285750" algn="just">
              <a:spcBef>
                <a:spcPts val="476"/>
              </a:spcBef>
              <a:buClr>
                <a:srgbClr val="333333"/>
              </a:buClr>
              <a:buSzPct val="100000"/>
              <a:buChar char="–"/>
            </a:pPr>
            <a:r>
              <a:rPr lang="en-US" b="0" i="0" dirty="0">
                <a:solidFill>
                  <a:srgbClr val="333333"/>
                </a:solidFill>
                <a:latin typeface="Arial"/>
                <a:ea typeface="Arial"/>
                <a:cs typeface="Arial"/>
                <a:sym typeface="Arial"/>
              </a:rPr>
              <a:t>The clean session flag tells the broker whether the client wants to establish a </a:t>
            </a:r>
            <a:r>
              <a:rPr lang="en-US" b="1" i="0" dirty="0">
                <a:solidFill>
                  <a:srgbClr val="333333"/>
                </a:solidFill>
                <a:latin typeface="Arial"/>
                <a:ea typeface="Arial"/>
                <a:cs typeface="Arial"/>
                <a:sym typeface="Arial"/>
              </a:rPr>
              <a:t>persistent</a:t>
            </a:r>
            <a:r>
              <a:rPr lang="en-US" b="0" i="0" dirty="0">
                <a:solidFill>
                  <a:srgbClr val="333333"/>
                </a:solidFill>
                <a:latin typeface="Arial"/>
                <a:ea typeface="Arial"/>
                <a:cs typeface="Arial"/>
                <a:sym typeface="Arial"/>
              </a:rPr>
              <a:t> session or not. In a persistent session (Clean Session = false), the broker stores all subscriptions for the client. If the session is </a:t>
            </a:r>
            <a:r>
              <a:rPr lang="en-US" b="1" i="0" dirty="0">
                <a:solidFill>
                  <a:srgbClr val="333333"/>
                </a:solidFill>
                <a:latin typeface="Arial"/>
                <a:ea typeface="Arial"/>
                <a:cs typeface="Arial"/>
                <a:sym typeface="Arial"/>
              </a:rPr>
              <a:t>not persistent</a:t>
            </a:r>
            <a:r>
              <a:rPr lang="en-US" b="0" i="0" dirty="0">
                <a:solidFill>
                  <a:srgbClr val="333333"/>
                </a:solidFill>
                <a:latin typeface="Arial"/>
                <a:ea typeface="Arial"/>
                <a:cs typeface="Arial"/>
                <a:sym typeface="Arial"/>
              </a:rPr>
              <a:t> (Clean Session = true), the broker does not store anything for the client and purges all information from any previous persistent session.</a:t>
            </a:r>
            <a:endParaRPr dirty="0"/>
          </a:p>
          <a:p>
            <a:pPr marL="342900" indent="-170180">
              <a:spcBef>
                <a:spcPts val="544"/>
              </a:spcBef>
              <a:buClr>
                <a:schemeClr val="dk1"/>
              </a:buClr>
              <a:buSzPct val="100000"/>
              <a:buNone/>
            </a:pPr>
            <a:endParaRPr dirty="0"/>
          </a:p>
        </p:txBody>
      </p:sp>
      <p:sp>
        <p:nvSpPr>
          <p:cNvPr id="2" name="Date Placeholder 1"/>
          <p:cNvSpPr>
            <a:spLocks noGrp="1"/>
          </p:cNvSpPr>
          <p:nvPr>
            <p:ph type="dt" sz="half" idx="10"/>
          </p:nvPr>
        </p:nvSpPr>
        <p:spPr/>
        <p:txBody>
          <a:bodyPr/>
          <a:lstStyle/>
          <a:p>
            <a:fld id="{2C4554A1-0796-491F-A411-D9DD517790B6}"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35</a:t>
            </a:fld>
            <a:endParaRPr lang="en-IN"/>
          </a:p>
        </p:txBody>
      </p:sp>
    </p:spTree>
    <p:extLst>
      <p:ext uri="{BB962C8B-B14F-4D97-AF65-F5344CB8AC3E}">
        <p14:creationId xmlns:p14="http://schemas.microsoft.com/office/powerpoint/2010/main" val="1347460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242571989b7_0_118"/>
          <p:cNvSpPr txBox="1">
            <a:spLocks noGrp="1"/>
          </p:cNvSpPr>
          <p:nvPr>
            <p:ph type="title"/>
          </p:nvPr>
        </p:nvSpPr>
        <p:spPr>
          <a:xfrm>
            <a:off x="2152650" y="365126"/>
            <a:ext cx="7886700" cy="6228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a:latin typeface="Roboto"/>
                <a:ea typeface="Roboto"/>
                <a:cs typeface="Roboto"/>
                <a:sym typeface="Roboto"/>
              </a:rPr>
              <a:t>MQTT CONNECT</a:t>
            </a:r>
            <a:endParaRPr/>
          </a:p>
        </p:txBody>
      </p:sp>
      <p:sp>
        <p:nvSpPr>
          <p:cNvPr id="346" name="Google Shape;346;g242571989b7_0_118"/>
          <p:cNvSpPr txBox="1">
            <a:spLocks noGrp="1"/>
          </p:cNvSpPr>
          <p:nvPr>
            <p:ph type="body" idx="1"/>
          </p:nvPr>
        </p:nvSpPr>
        <p:spPr>
          <a:xfrm>
            <a:off x="2152650" y="1061357"/>
            <a:ext cx="7886700" cy="5115600"/>
          </a:xfrm>
          <a:prstGeom prst="rect">
            <a:avLst/>
          </a:prstGeom>
          <a:noFill/>
          <a:ln>
            <a:noFill/>
          </a:ln>
        </p:spPr>
        <p:txBody>
          <a:bodyPr spcFirstLastPara="1" vert="horz" wrap="square" lIns="91425" tIns="45700" rIns="91425" bIns="45700" rtlCol="0" anchor="t" anchorCtr="0">
            <a:normAutofit lnSpcReduction="10000"/>
          </a:bodyPr>
          <a:lstStyle/>
          <a:p>
            <a:pPr marL="342900" indent="-342900">
              <a:spcBef>
                <a:spcPts val="0"/>
              </a:spcBef>
              <a:buClr>
                <a:srgbClr val="333333"/>
              </a:buClr>
              <a:buSzPct val="100000"/>
            </a:pPr>
            <a:r>
              <a:rPr lang="en-US" b="1" i="0" dirty="0">
                <a:solidFill>
                  <a:srgbClr val="333333"/>
                </a:solidFill>
                <a:latin typeface="Arial"/>
                <a:ea typeface="Arial"/>
                <a:cs typeface="Arial"/>
                <a:sym typeface="Arial"/>
              </a:rPr>
              <a:t>Username/Password</a:t>
            </a:r>
            <a:endParaRPr dirty="0"/>
          </a:p>
          <a:p>
            <a:pPr marL="742950" lvl="1" indent="-285750" algn="just">
              <a:spcBef>
                <a:spcPts val="434"/>
              </a:spcBef>
              <a:buClr>
                <a:srgbClr val="333333"/>
              </a:buClr>
              <a:buSzPct val="100000"/>
              <a:buChar char="–"/>
            </a:pPr>
            <a:r>
              <a:rPr lang="en-US" b="0" i="0" dirty="0">
                <a:solidFill>
                  <a:srgbClr val="333333"/>
                </a:solidFill>
                <a:latin typeface="Arial"/>
                <a:ea typeface="Arial"/>
                <a:cs typeface="Arial"/>
                <a:sym typeface="Arial"/>
              </a:rPr>
              <a:t>MQTT can send a </a:t>
            </a:r>
            <a:r>
              <a:rPr lang="en-US" b="1" i="0" dirty="0">
                <a:solidFill>
                  <a:srgbClr val="333333"/>
                </a:solidFill>
                <a:latin typeface="Arial"/>
                <a:ea typeface="Arial"/>
                <a:cs typeface="Arial"/>
                <a:sym typeface="Arial"/>
              </a:rPr>
              <a:t>user name and password for client authentication and authorization</a:t>
            </a:r>
            <a:r>
              <a:rPr lang="en-US" b="0" i="0" dirty="0" smtClean="0">
                <a:solidFill>
                  <a:srgbClr val="333333"/>
                </a:solidFill>
                <a:latin typeface="Arial"/>
                <a:ea typeface="Arial"/>
                <a:cs typeface="Arial"/>
                <a:sym typeface="Arial"/>
              </a:rPr>
              <a:t>. </a:t>
            </a:r>
            <a:r>
              <a:rPr lang="en-US" b="0" i="0" dirty="0">
                <a:solidFill>
                  <a:srgbClr val="333333"/>
                </a:solidFill>
                <a:latin typeface="Arial"/>
                <a:ea typeface="Arial"/>
                <a:cs typeface="Arial"/>
                <a:sym typeface="Arial"/>
              </a:rPr>
              <a:t>Brokers like Hive MQ can authenticate clients with an SSL certificate.</a:t>
            </a:r>
            <a:endParaRPr dirty="0"/>
          </a:p>
          <a:p>
            <a:pPr marL="342900" indent="-342900">
              <a:spcBef>
                <a:spcPts val="496"/>
              </a:spcBef>
              <a:buClr>
                <a:srgbClr val="333333"/>
              </a:buClr>
              <a:buSzPct val="100000"/>
            </a:pPr>
            <a:r>
              <a:rPr lang="en-US" b="1" dirty="0">
                <a:solidFill>
                  <a:srgbClr val="333333"/>
                </a:solidFill>
                <a:latin typeface="Arial"/>
                <a:ea typeface="Arial"/>
                <a:cs typeface="Arial"/>
                <a:sym typeface="Arial"/>
              </a:rPr>
              <a:t>Keep Alive</a:t>
            </a:r>
            <a:endParaRPr b="1" dirty="0">
              <a:solidFill>
                <a:srgbClr val="333333"/>
              </a:solidFill>
              <a:latin typeface="Arial"/>
              <a:ea typeface="Arial"/>
              <a:cs typeface="Arial"/>
              <a:sym typeface="Arial"/>
            </a:endParaRPr>
          </a:p>
          <a:p>
            <a:pPr marL="742950" lvl="1" indent="-285750" algn="just">
              <a:spcBef>
                <a:spcPts val="434"/>
              </a:spcBef>
              <a:buClr>
                <a:srgbClr val="333333"/>
              </a:buClr>
              <a:buSzPct val="100000"/>
              <a:buChar char="–"/>
            </a:pPr>
            <a:r>
              <a:rPr lang="en-US" dirty="0">
                <a:solidFill>
                  <a:srgbClr val="333333"/>
                </a:solidFill>
                <a:latin typeface="Arial"/>
                <a:ea typeface="Arial"/>
                <a:cs typeface="Arial"/>
                <a:sym typeface="Arial"/>
              </a:rPr>
              <a:t>The keep alive is </a:t>
            </a:r>
            <a:r>
              <a:rPr lang="en-US" b="1" dirty="0">
                <a:solidFill>
                  <a:srgbClr val="333333"/>
                </a:solidFill>
                <a:latin typeface="Arial"/>
                <a:ea typeface="Arial"/>
                <a:cs typeface="Arial"/>
                <a:sym typeface="Arial"/>
              </a:rPr>
              <a:t>a time interval in seconds</a:t>
            </a:r>
            <a:r>
              <a:rPr lang="en-US" dirty="0">
                <a:solidFill>
                  <a:srgbClr val="333333"/>
                </a:solidFill>
                <a:latin typeface="Arial"/>
                <a:ea typeface="Arial"/>
                <a:cs typeface="Arial"/>
                <a:sym typeface="Arial"/>
              </a:rPr>
              <a:t> that the client specifies and communicates to the broker when the connection established. This interval defines the longest period of time that the broker and client can endure without sending a message. The client commits to sending regular PING Request messages to the broker. The broker responds with a PING response. This method allows both sides to determine if the other one is still available. </a:t>
            </a:r>
            <a:endParaRPr b="0" i="0" dirty="0">
              <a:solidFill>
                <a:srgbClr val="333333"/>
              </a:solidFill>
              <a:latin typeface="Arial"/>
              <a:ea typeface="Arial"/>
              <a:cs typeface="Arial"/>
              <a:sym typeface="Arial"/>
            </a:endParaRPr>
          </a:p>
          <a:p>
            <a:pPr marL="342900" indent="-185420">
              <a:spcBef>
                <a:spcPts val="496"/>
              </a:spcBef>
              <a:buClr>
                <a:schemeClr val="dk1"/>
              </a:buClr>
              <a:buSzPct val="100000"/>
              <a:buNone/>
            </a:pPr>
            <a:endParaRPr dirty="0"/>
          </a:p>
        </p:txBody>
      </p:sp>
      <p:sp>
        <p:nvSpPr>
          <p:cNvPr id="2" name="Date Placeholder 1"/>
          <p:cNvSpPr>
            <a:spLocks noGrp="1"/>
          </p:cNvSpPr>
          <p:nvPr>
            <p:ph type="dt" sz="half" idx="10"/>
          </p:nvPr>
        </p:nvSpPr>
        <p:spPr/>
        <p:txBody>
          <a:bodyPr/>
          <a:lstStyle/>
          <a:p>
            <a:fld id="{1BEE3A87-7477-4712-9CCF-2524E90C6623}"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36</a:t>
            </a:fld>
            <a:endParaRPr lang="en-IN"/>
          </a:p>
        </p:txBody>
      </p:sp>
    </p:spTree>
    <p:extLst>
      <p:ext uri="{BB962C8B-B14F-4D97-AF65-F5344CB8AC3E}">
        <p14:creationId xmlns:p14="http://schemas.microsoft.com/office/powerpoint/2010/main" val="3880888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g242571989b7_0_123"/>
          <p:cNvSpPr txBox="1">
            <a:spLocks noGrp="1"/>
          </p:cNvSpPr>
          <p:nvPr>
            <p:ph type="title"/>
          </p:nvPr>
        </p:nvSpPr>
        <p:spPr>
          <a:xfrm>
            <a:off x="2152650" y="365126"/>
            <a:ext cx="7886700" cy="7698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Broker</a:t>
            </a:r>
            <a:endParaRPr b="1"/>
          </a:p>
        </p:txBody>
      </p:sp>
      <p:sp>
        <p:nvSpPr>
          <p:cNvPr id="352" name="Google Shape;352;g242571989b7_0_123"/>
          <p:cNvSpPr txBox="1">
            <a:spLocks noGrp="1"/>
          </p:cNvSpPr>
          <p:nvPr>
            <p:ph type="body" idx="1"/>
          </p:nvPr>
        </p:nvSpPr>
        <p:spPr>
          <a:xfrm>
            <a:off x="2152650" y="1159330"/>
            <a:ext cx="7886700" cy="5592600"/>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buClr>
                <a:srgbClr val="333333"/>
              </a:buClr>
              <a:buSzPts val="3200"/>
            </a:pPr>
            <a:r>
              <a:rPr lang="en-US" b="1" i="0">
                <a:solidFill>
                  <a:srgbClr val="333333"/>
                </a:solidFill>
                <a:latin typeface="Arial"/>
                <a:ea typeface="Arial"/>
                <a:cs typeface="Arial"/>
                <a:sym typeface="Arial"/>
              </a:rPr>
              <a:t>Broker responses with a CONNACK message</a:t>
            </a:r>
            <a:endParaRPr/>
          </a:p>
          <a:p>
            <a:pPr marL="342900" indent="-342900">
              <a:spcBef>
                <a:spcPts val="640"/>
              </a:spcBef>
              <a:buClr>
                <a:srgbClr val="333333"/>
              </a:buClr>
              <a:buSzPts val="3200"/>
            </a:pPr>
            <a:r>
              <a:rPr lang="en-US" b="0" i="0">
                <a:solidFill>
                  <a:srgbClr val="333333"/>
                </a:solidFill>
                <a:latin typeface="Arial"/>
                <a:ea typeface="Arial"/>
                <a:cs typeface="Arial"/>
                <a:sym typeface="Arial"/>
              </a:rPr>
              <a:t>When a broker receives a CONNECT message, it is obligated to respond with a CONNACK message.</a:t>
            </a:r>
            <a:endParaRPr/>
          </a:p>
          <a:p>
            <a:pPr marL="342900" indent="-342900">
              <a:spcBef>
                <a:spcPts val="640"/>
              </a:spcBef>
              <a:buClr>
                <a:srgbClr val="333333"/>
              </a:buClr>
              <a:buSzPts val="3200"/>
            </a:pPr>
            <a:r>
              <a:rPr lang="en-US" b="0" i="0">
                <a:solidFill>
                  <a:srgbClr val="333333"/>
                </a:solidFill>
                <a:latin typeface="Arial"/>
                <a:ea typeface="Arial"/>
                <a:cs typeface="Arial"/>
                <a:sym typeface="Arial"/>
              </a:rPr>
              <a:t>The CONNACK message contains two data entries:</a:t>
            </a:r>
            <a:endParaRPr/>
          </a:p>
          <a:p>
            <a:pPr marL="742950" lvl="1" indent="-285750">
              <a:spcBef>
                <a:spcPts val="560"/>
              </a:spcBef>
              <a:buClr>
                <a:srgbClr val="333333"/>
              </a:buClr>
              <a:buSzPts val="2800"/>
              <a:buChar char="–"/>
            </a:pPr>
            <a:r>
              <a:rPr lang="en-US" b="0" i="0">
                <a:solidFill>
                  <a:srgbClr val="333333"/>
                </a:solidFill>
                <a:latin typeface="Arial"/>
                <a:ea typeface="Arial"/>
                <a:cs typeface="Arial"/>
                <a:sym typeface="Arial"/>
              </a:rPr>
              <a:t>The session present flag</a:t>
            </a:r>
            <a:endParaRPr/>
          </a:p>
          <a:p>
            <a:pPr marL="742950" lvl="1" indent="-285750">
              <a:spcBef>
                <a:spcPts val="560"/>
              </a:spcBef>
              <a:buClr>
                <a:srgbClr val="333333"/>
              </a:buClr>
              <a:buSzPts val="2800"/>
              <a:buChar char="–"/>
            </a:pPr>
            <a:r>
              <a:rPr lang="en-US" b="0" i="0">
                <a:solidFill>
                  <a:srgbClr val="333333"/>
                </a:solidFill>
                <a:latin typeface="Arial"/>
                <a:ea typeface="Arial"/>
                <a:cs typeface="Arial"/>
                <a:sym typeface="Arial"/>
              </a:rPr>
              <a:t>A connect return code</a:t>
            </a:r>
            <a:endParaRPr/>
          </a:p>
          <a:p>
            <a:pPr marL="342900" indent="-139700">
              <a:spcBef>
                <a:spcPts val="640"/>
              </a:spcBef>
              <a:buClr>
                <a:schemeClr val="dk1"/>
              </a:buClr>
              <a:buSzPts val="3200"/>
              <a:buNone/>
            </a:pPr>
            <a:endParaRPr/>
          </a:p>
        </p:txBody>
      </p:sp>
      <p:sp>
        <p:nvSpPr>
          <p:cNvPr id="2" name="Date Placeholder 1"/>
          <p:cNvSpPr>
            <a:spLocks noGrp="1"/>
          </p:cNvSpPr>
          <p:nvPr>
            <p:ph type="dt" sz="half" idx="10"/>
          </p:nvPr>
        </p:nvSpPr>
        <p:spPr/>
        <p:txBody>
          <a:bodyPr/>
          <a:lstStyle/>
          <a:p>
            <a:fld id="{A8FE3D57-5AA3-4CEF-A254-9E027D4627A3}"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37</a:t>
            </a:fld>
            <a:endParaRPr lang="en-IN"/>
          </a:p>
        </p:txBody>
      </p:sp>
    </p:spTree>
    <p:extLst>
      <p:ext uri="{BB962C8B-B14F-4D97-AF65-F5344CB8AC3E}">
        <p14:creationId xmlns:p14="http://schemas.microsoft.com/office/powerpoint/2010/main" val="653635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242571989b7_0_12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a:t>Ex: CONNACK MSG</a:t>
            </a:r>
            <a:endParaRPr/>
          </a:p>
        </p:txBody>
      </p:sp>
      <p:sp>
        <p:nvSpPr>
          <p:cNvPr id="358" name="Google Shape;358;g242571989b7_0_128"/>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7AB6FB68-564F-4BF4-8669-9BD0D5CAF41B}" type="datetime1">
              <a:rPr lang="en-IN" smtClean="0"/>
              <a:t>10-09-2026</a:t>
            </a:fld>
            <a:endParaRPr/>
          </a:p>
        </p:txBody>
      </p:sp>
      <p:sp>
        <p:nvSpPr>
          <p:cNvPr id="359" name="Google Shape;359;g242571989b7_0_128"/>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360" name="Google Shape;360;g242571989b7_0_128"/>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38</a:t>
            </a:fld>
            <a:endParaRPr/>
          </a:p>
        </p:txBody>
      </p:sp>
      <p:pic>
        <p:nvPicPr>
          <p:cNvPr id="361" name="Google Shape;361;g242571989b7_0_128"/>
          <p:cNvPicPr preferRelativeResize="0">
            <a:picLocks noGrp="1"/>
          </p:cNvPicPr>
          <p:nvPr>
            <p:ph type="body" idx="1"/>
          </p:nvPr>
        </p:nvPicPr>
        <p:blipFill rotWithShape="1">
          <a:blip r:embed="rId3">
            <a:alphaModFix/>
          </a:blip>
          <a:srcRect/>
          <a:stretch/>
        </p:blipFill>
        <p:spPr>
          <a:xfrm>
            <a:off x="1752600" y="1676400"/>
            <a:ext cx="4267200" cy="4419600"/>
          </a:xfrm>
          <a:prstGeom prst="rect">
            <a:avLst/>
          </a:prstGeom>
          <a:noFill/>
          <a:ln>
            <a:noFill/>
          </a:ln>
        </p:spPr>
      </p:pic>
      <p:pic>
        <p:nvPicPr>
          <p:cNvPr id="362" name="Google Shape;362;g242571989b7_0_128"/>
          <p:cNvPicPr preferRelativeResize="0">
            <a:picLocks noGrp="1"/>
          </p:cNvPicPr>
          <p:nvPr>
            <p:ph type="body" idx="2"/>
          </p:nvPr>
        </p:nvPicPr>
        <p:blipFill rotWithShape="1">
          <a:blip r:embed="rId4">
            <a:alphaModFix/>
          </a:blip>
          <a:srcRect/>
          <a:stretch/>
        </p:blipFill>
        <p:spPr>
          <a:xfrm>
            <a:off x="6172200" y="1752600"/>
            <a:ext cx="4038600" cy="4114800"/>
          </a:xfrm>
          <a:prstGeom prst="rect">
            <a:avLst/>
          </a:prstGeom>
          <a:noFill/>
          <a:ln>
            <a:noFill/>
          </a:ln>
        </p:spPr>
      </p:pic>
    </p:spTree>
    <p:extLst>
      <p:ext uri="{BB962C8B-B14F-4D97-AF65-F5344CB8AC3E}">
        <p14:creationId xmlns:p14="http://schemas.microsoft.com/office/powerpoint/2010/main" val="3994330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242571989b7_0_137"/>
          <p:cNvSpPr txBox="1">
            <a:spLocks noGrp="1"/>
          </p:cNvSpPr>
          <p:nvPr>
            <p:ph type="title"/>
          </p:nvPr>
        </p:nvSpPr>
        <p:spPr>
          <a:xfrm>
            <a:off x="1817915" y="158262"/>
            <a:ext cx="8499000" cy="96363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ts val="3600"/>
            </a:pPr>
            <a:r>
              <a:rPr lang="en-US" sz="3600" dirty="0">
                <a:latin typeface="Arial"/>
                <a:ea typeface="Arial"/>
                <a:cs typeface="Arial"/>
                <a:sym typeface="Arial"/>
              </a:rPr>
              <a:t>MQTT </a:t>
            </a:r>
            <a:r>
              <a:rPr lang="en-US" sz="3600" dirty="0" smtClean="0">
                <a:latin typeface="Arial"/>
                <a:ea typeface="Arial"/>
                <a:cs typeface="Arial"/>
                <a:sym typeface="Arial"/>
              </a:rPr>
              <a:t>Messages</a:t>
            </a:r>
            <a:r>
              <a:rPr lang="en-US" sz="3600" dirty="0">
                <a:latin typeface="Arial"/>
                <a:ea typeface="Arial"/>
                <a:cs typeface="Arial"/>
                <a:sym typeface="Arial"/>
              </a:rPr>
              <a:t/>
            </a:r>
            <a:br>
              <a:rPr lang="en-US" sz="3600" dirty="0">
                <a:latin typeface="Arial"/>
                <a:ea typeface="Arial"/>
                <a:cs typeface="Arial"/>
                <a:sym typeface="Arial"/>
              </a:rPr>
            </a:br>
            <a:r>
              <a:rPr lang="en-US" sz="3600" dirty="0">
                <a:latin typeface="Arial"/>
                <a:ea typeface="Arial"/>
                <a:cs typeface="Arial"/>
                <a:sym typeface="Arial"/>
              </a:rPr>
              <a:t>Publish:</a:t>
            </a:r>
            <a:endParaRPr sz="3600" dirty="0">
              <a:latin typeface="Arial"/>
              <a:ea typeface="Arial"/>
              <a:cs typeface="Arial"/>
              <a:sym typeface="Arial"/>
            </a:endParaRPr>
          </a:p>
        </p:txBody>
      </p:sp>
      <p:sp>
        <p:nvSpPr>
          <p:cNvPr id="368" name="Google Shape;368;g242571989b7_0_137"/>
          <p:cNvSpPr txBox="1">
            <a:spLocks noGrp="1"/>
          </p:cNvSpPr>
          <p:nvPr>
            <p:ph type="body" idx="1"/>
          </p:nvPr>
        </p:nvSpPr>
        <p:spPr>
          <a:xfrm>
            <a:off x="1591408" y="1121892"/>
            <a:ext cx="9196754" cy="5055087"/>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ts val="3200"/>
            </a:pPr>
            <a:r>
              <a:rPr lang="en-US" b="0" i="0" dirty="0">
                <a:solidFill>
                  <a:srgbClr val="333333"/>
                </a:solidFill>
                <a:latin typeface="Arial"/>
                <a:ea typeface="Arial"/>
                <a:cs typeface="Arial"/>
                <a:sym typeface="Arial"/>
              </a:rPr>
              <a:t>An MQTT client can publish messages as soon as it connects to a broker. </a:t>
            </a:r>
            <a:endParaRPr b="0" i="0" dirty="0">
              <a:solidFill>
                <a:srgbClr val="333333"/>
              </a:solidFill>
              <a:latin typeface="Arial"/>
              <a:ea typeface="Arial"/>
              <a:cs typeface="Arial"/>
              <a:sym typeface="Arial"/>
            </a:endParaRPr>
          </a:p>
          <a:p>
            <a:pPr marL="342900" indent="-342900" algn="just">
              <a:spcBef>
                <a:spcPts val="640"/>
              </a:spcBef>
              <a:buClr>
                <a:srgbClr val="333333"/>
              </a:buClr>
              <a:buSzPts val="3200"/>
            </a:pPr>
            <a:r>
              <a:rPr lang="en-US" b="0" i="0" dirty="0">
                <a:solidFill>
                  <a:srgbClr val="333333"/>
                </a:solidFill>
                <a:latin typeface="Arial"/>
                <a:ea typeface="Arial"/>
                <a:cs typeface="Arial"/>
                <a:sym typeface="Arial"/>
              </a:rPr>
              <a:t>MQTT utilizes topic-based filtering of the messages on the broker. </a:t>
            </a:r>
            <a:endParaRPr dirty="0">
              <a:solidFill>
                <a:srgbClr val="333333"/>
              </a:solidFill>
              <a:latin typeface="Arial"/>
              <a:ea typeface="Arial"/>
              <a:cs typeface="Arial"/>
              <a:sym typeface="Arial"/>
            </a:endParaRPr>
          </a:p>
          <a:p>
            <a:pPr marL="342900" indent="-342900" algn="just">
              <a:spcBef>
                <a:spcPts val="640"/>
              </a:spcBef>
              <a:buClr>
                <a:srgbClr val="333333"/>
              </a:buClr>
              <a:buSzPts val="3200"/>
            </a:pPr>
            <a:r>
              <a:rPr lang="en-US" i="0" dirty="0">
                <a:solidFill>
                  <a:srgbClr val="333333"/>
                </a:solidFill>
                <a:latin typeface="Arial"/>
                <a:ea typeface="Arial"/>
                <a:cs typeface="Arial"/>
                <a:sym typeface="Arial"/>
              </a:rPr>
              <a:t>Each message must contain a topic that the broker can use to forward the message to interested clients. </a:t>
            </a:r>
            <a:endParaRPr i="0" dirty="0">
              <a:solidFill>
                <a:srgbClr val="333333"/>
              </a:solidFill>
              <a:latin typeface="Arial"/>
              <a:ea typeface="Arial"/>
              <a:cs typeface="Arial"/>
              <a:sym typeface="Arial"/>
            </a:endParaRPr>
          </a:p>
          <a:p>
            <a:pPr marL="342900" indent="-139700" algn="just">
              <a:spcBef>
                <a:spcPts val="640"/>
              </a:spcBef>
              <a:buClr>
                <a:schemeClr val="dk1"/>
              </a:buClr>
              <a:buSzPts val="3200"/>
              <a:buNone/>
            </a:pPr>
            <a:endParaRPr dirty="0"/>
          </a:p>
        </p:txBody>
      </p:sp>
      <p:sp>
        <p:nvSpPr>
          <p:cNvPr id="2" name="Date Placeholder 1"/>
          <p:cNvSpPr>
            <a:spLocks noGrp="1"/>
          </p:cNvSpPr>
          <p:nvPr>
            <p:ph type="dt" sz="half" idx="10"/>
          </p:nvPr>
        </p:nvSpPr>
        <p:spPr/>
        <p:txBody>
          <a:bodyPr/>
          <a:lstStyle/>
          <a:p>
            <a:fld id="{99AAF2AB-7C08-4F0F-B67D-632B462D1275}"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39</a:t>
            </a:fld>
            <a:endParaRPr lang="en-IN"/>
          </a:p>
        </p:txBody>
      </p:sp>
      <p:pic>
        <p:nvPicPr>
          <p:cNvPr id="7" name="Google Shape;377;g242571989b7_0_142"/>
          <p:cNvPicPr preferRelativeResize="0">
            <a:picLocks/>
          </p:cNvPicPr>
          <p:nvPr/>
        </p:nvPicPr>
        <p:blipFill rotWithShape="1">
          <a:blip r:embed="rId3">
            <a:alphaModFix/>
          </a:blip>
          <a:srcRect/>
          <a:stretch/>
        </p:blipFill>
        <p:spPr>
          <a:xfrm>
            <a:off x="5354515" y="3717383"/>
            <a:ext cx="4895904" cy="2549281"/>
          </a:xfrm>
          <a:prstGeom prst="rect">
            <a:avLst/>
          </a:prstGeom>
          <a:noFill/>
          <a:ln>
            <a:noFill/>
          </a:ln>
        </p:spPr>
      </p:pic>
    </p:spTree>
    <p:extLst>
      <p:ext uri="{BB962C8B-B14F-4D97-AF65-F5344CB8AC3E}">
        <p14:creationId xmlns:p14="http://schemas.microsoft.com/office/powerpoint/2010/main" val="2963749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g242571989b7_0_150"/>
          <p:cNvSpPr txBox="1">
            <a:spLocks noGrp="1"/>
          </p:cNvSpPr>
          <p:nvPr>
            <p:ph type="title"/>
          </p:nvPr>
        </p:nvSpPr>
        <p:spPr>
          <a:xfrm>
            <a:off x="2152650" y="167054"/>
            <a:ext cx="7886700" cy="553915"/>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ts val="4400"/>
            </a:pPr>
            <a:r>
              <a:rPr lang="en-US" b="1" dirty="0"/>
              <a:t>MQTT Publish</a:t>
            </a:r>
            <a:endParaRPr b="1" dirty="0"/>
          </a:p>
        </p:txBody>
      </p:sp>
      <p:sp>
        <p:nvSpPr>
          <p:cNvPr id="383" name="Google Shape;383;g242571989b7_0_150"/>
          <p:cNvSpPr txBox="1">
            <a:spLocks noGrp="1"/>
          </p:cNvSpPr>
          <p:nvPr>
            <p:ph type="body" idx="1"/>
          </p:nvPr>
        </p:nvSpPr>
        <p:spPr>
          <a:xfrm>
            <a:off x="905609" y="720969"/>
            <a:ext cx="10339754" cy="5635381"/>
          </a:xfrm>
          <a:prstGeom prst="rect">
            <a:avLst/>
          </a:prstGeom>
          <a:noFill/>
          <a:ln>
            <a:noFill/>
          </a:ln>
        </p:spPr>
        <p:txBody>
          <a:bodyPr spcFirstLastPara="1" vert="horz" wrap="square" lIns="91425" tIns="45700" rIns="91425" bIns="45700" rtlCol="0" anchor="t" anchorCtr="0">
            <a:normAutofit/>
          </a:bodyPr>
          <a:lstStyle/>
          <a:p>
            <a:pPr marL="342900" indent="-327660" algn="just">
              <a:spcBef>
                <a:spcPts val="0"/>
              </a:spcBef>
              <a:buClr>
                <a:srgbClr val="333333"/>
              </a:buClr>
              <a:buSzPct val="100000"/>
            </a:pPr>
            <a:r>
              <a:rPr lang="en-US" b="1" i="0" dirty="0">
                <a:solidFill>
                  <a:srgbClr val="333333"/>
                </a:solidFill>
                <a:latin typeface="Arial"/>
                <a:ea typeface="Arial"/>
                <a:cs typeface="Arial"/>
                <a:sym typeface="Arial"/>
              </a:rPr>
              <a:t>Packet Identifier:</a:t>
            </a:r>
            <a:r>
              <a:rPr lang="en-US" b="0" i="0" dirty="0">
                <a:solidFill>
                  <a:srgbClr val="333333"/>
                </a:solidFill>
                <a:latin typeface="Arial"/>
                <a:ea typeface="Arial"/>
                <a:cs typeface="Arial"/>
                <a:sym typeface="Arial"/>
              </a:rPr>
              <a:t> This uniquely identifies a message as it flows between the client and broker. The packet identifier is only relevant for </a:t>
            </a:r>
            <a:r>
              <a:rPr lang="en-US" b="0" i="0" dirty="0" err="1">
                <a:solidFill>
                  <a:srgbClr val="333333"/>
                </a:solidFill>
                <a:latin typeface="Arial"/>
                <a:ea typeface="Arial"/>
                <a:cs typeface="Arial"/>
                <a:sym typeface="Arial"/>
              </a:rPr>
              <a:t>QoS</a:t>
            </a:r>
            <a:r>
              <a:rPr lang="en-US" b="0" i="0" dirty="0">
                <a:solidFill>
                  <a:srgbClr val="333333"/>
                </a:solidFill>
                <a:latin typeface="Arial"/>
                <a:ea typeface="Arial"/>
                <a:cs typeface="Arial"/>
                <a:sym typeface="Arial"/>
              </a:rPr>
              <a:t> levels greater than zero. </a:t>
            </a:r>
            <a:endParaRPr lang="en-US" b="0" i="0" dirty="0" smtClean="0">
              <a:solidFill>
                <a:srgbClr val="333333"/>
              </a:solidFill>
              <a:latin typeface="Arial"/>
              <a:ea typeface="Arial"/>
              <a:cs typeface="Arial"/>
              <a:sym typeface="Arial"/>
            </a:endParaRPr>
          </a:p>
          <a:p>
            <a:pPr marL="342900" indent="-327660" algn="just">
              <a:spcBef>
                <a:spcPts val="0"/>
              </a:spcBef>
              <a:buClr>
                <a:srgbClr val="333333"/>
              </a:buClr>
              <a:buSzPct val="100000"/>
            </a:pPr>
            <a:r>
              <a:rPr lang="en-US" b="1" i="0" dirty="0" smtClean="0">
                <a:solidFill>
                  <a:srgbClr val="333333"/>
                </a:solidFill>
                <a:latin typeface="Arial"/>
                <a:ea typeface="Arial"/>
                <a:cs typeface="Arial"/>
                <a:sym typeface="Arial"/>
              </a:rPr>
              <a:t>Topic </a:t>
            </a:r>
            <a:r>
              <a:rPr lang="en-US" b="1" i="0" dirty="0">
                <a:solidFill>
                  <a:srgbClr val="333333"/>
                </a:solidFill>
                <a:latin typeface="Arial"/>
                <a:ea typeface="Arial"/>
                <a:cs typeface="Arial"/>
                <a:sym typeface="Arial"/>
              </a:rPr>
              <a:t>Name</a:t>
            </a:r>
            <a:r>
              <a:rPr lang="en-US" b="0" i="0" dirty="0">
                <a:solidFill>
                  <a:srgbClr val="333333"/>
                </a:solidFill>
                <a:latin typeface="Arial"/>
                <a:ea typeface="Arial"/>
                <a:cs typeface="Arial"/>
                <a:sym typeface="Arial"/>
              </a:rPr>
              <a:t> The topic name is a simple string that is hierarchically structured with forward slashes as delimiters. For example, “</a:t>
            </a:r>
            <a:r>
              <a:rPr lang="en-US" b="0" i="0" dirty="0" err="1">
                <a:solidFill>
                  <a:srgbClr val="333333"/>
                </a:solidFill>
                <a:latin typeface="Arial"/>
                <a:ea typeface="Arial"/>
                <a:cs typeface="Arial"/>
                <a:sym typeface="Arial"/>
              </a:rPr>
              <a:t>myhome</a:t>
            </a:r>
            <a:r>
              <a:rPr lang="en-US" b="0" i="0" dirty="0" smtClean="0">
                <a:solidFill>
                  <a:srgbClr val="333333"/>
                </a:solidFill>
                <a:latin typeface="Arial"/>
                <a:ea typeface="Arial"/>
                <a:cs typeface="Arial"/>
                <a:sym typeface="Arial"/>
              </a:rPr>
              <a:t>/ </a:t>
            </a:r>
            <a:r>
              <a:rPr lang="en-US" b="0" i="0" dirty="0" err="1" smtClean="0">
                <a:solidFill>
                  <a:srgbClr val="333333"/>
                </a:solidFill>
                <a:latin typeface="Arial"/>
                <a:ea typeface="Arial"/>
                <a:cs typeface="Arial"/>
                <a:sym typeface="Arial"/>
              </a:rPr>
              <a:t>livingroom</a:t>
            </a:r>
            <a:r>
              <a:rPr lang="en-US" b="0" i="0" dirty="0" smtClean="0">
                <a:solidFill>
                  <a:srgbClr val="333333"/>
                </a:solidFill>
                <a:latin typeface="Arial"/>
                <a:ea typeface="Arial"/>
                <a:cs typeface="Arial"/>
                <a:sym typeface="Arial"/>
              </a:rPr>
              <a:t>/ temperature</a:t>
            </a:r>
            <a:r>
              <a:rPr lang="en-US" b="0" i="0" dirty="0">
                <a:solidFill>
                  <a:srgbClr val="333333"/>
                </a:solidFill>
                <a:latin typeface="Arial"/>
                <a:ea typeface="Arial"/>
                <a:cs typeface="Arial"/>
                <a:sym typeface="Arial"/>
              </a:rPr>
              <a:t>”.</a:t>
            </a:r>
            <a:endParaRPr b="0" i="0" dirty="0">
              <a:solidFill>
                <a:srgbClr val="333333"/>
              </a:solidFill>
              <a:latin typeface="Arial"/>
              <a:ea typeface="Arial"/>
              <a:cs typeface="Arial"/>
              <a:sym typeface="Arial"/>
            </a:endParaRPr>
          </a:p>
          <a:p>
            <a:pPr marL="342900" indent="-327660" algn="just">
              <a:spcBef>
                <a:spcPts val="448"/>
              </a:spcBef>
              <a:buClr>
                <a:srgbClr val="333333"/>
              </a:buClr>
              <a:buSzPct val="100000"/>
            </a:pPr>
            <a:r>
              <a:rPr lang="en-US" b="1" i="0" dirty="0" err="1">
                <a:solidFill>
                  <a:srgbClr val="333333"/>
                </a:solidFill>
                <a:latin typeface="Arial"/>
                <a:ea typeface="Arial"/>
                <a:cs typeface="Arial"/>
                <a:sym typeface="Arial"/>
              </a:rPr>
              <a:t>QoS</a:t>
            </a:r>
            <a:r>
              <a:rPr lang="en-US" b="0" i="0" dirty="0">
                <a:solidFill>
                  <a:srgbClr val="333333"/>
                </a:solidFill>
                <a:latin typeface="Arial"/>
                <a:ea typeface="Arial"/>
                <a:cs typeface="Arial"/>
                <a:sym typeface="Arial"/>
              </a:rPr>
              <a:t> This number indicates the Quality of Service Level (</a:t>
            </a:r>
            <a:r>
              <a:rPr lang="en-US" b="0" i="0" dirty="0" err="1">
                <a:solidFill>
                  <a:srgbClr val="333333"/>
                </a:solidFill>
                <a:latin typeface="Arial"/>
                <a:ea typeface="Arial"/>
                <a:cs typeface="Arial"/>
                <a:sym typeface="Arial"/>
              </a:rPr>
              <a:t>QoS</a:t>
            </a:r>
            <a:r>
              <a:rPr lang="en-US" b="0" i="0" dirty="0">
                <a:solidFill>
                  <a:srgbClr val="333333"/>
                </a:solidFill>
                <a:latin typeface="Arial"/>
                <a:ea typeface="Arial"/>
                <a:cs typeface="Arial"/>
                <a:sym typeface="Arial"/>
              </a:rPr>
              <a:t>) of the message. There are three levels: 0, 1, and 2. The service level determines what kind of guarantee a message has for reaching the intended recipient (client or broker). </a:t>
            </a:r>
            <a:endParaRPr b="0" i="0" dirty="0">
              <a:solidFill>
                <a:srgbClr val="333333"/>
              </a:solidFill>
              <a:latin typeface="Arial"/>
              <a:ea typeface="Arial"/>
              <a:cs typeface="Arial"/>
              <a:sym typeface="Arial"/>
            </a:endParaRPr>
          </a:p>
          <a:p>
            <a:pPr marL="342900" indent="-327660" algn="just">
              <a:spcBef>
                <a:spcPts val="448"/>
              </a:spcBef>
              <a:buClr>
                <a:srgbClr val="333333"/>
              </a:buClr>
              <a:buSzPct val="100000"/>
            </a:pPr>
            <a:r>
              <a:rPr lang="en-US" b="1" i="0" dirty="0">
                <a:solidFill>
                  <a:srgbClr val="333333"/>
                </a:solidFill>
                <a:latin typeface="Arial"/>
                <a:ea typeface="Arial"/>
                <a:cs typeface="Arial"/>
                <a:sym typeface="Arial"/>
              </a:rPr>
              <a:t>Retain Flag</a:t>
            </a:r>
            <a:r>
              <a:rPr lang="en-US" b="0" i="0" dirty="0">
                <a:solidFill>
                  <a:srgbClr val="333333"/>
                </a:solidFill>
                <a:latin typeface="Arial"/>
                <a:ea typeface="Arial"/>
                <a:cs typeface="Arial"/>
                <a:sym typeface="Arial"/>
              </a:rPr>
              <a:t> This flag defines whether the message is saved by the broker </a:t>
            </a:r>
            <a:r>
              <a:rPr lang="en-US" b="0" i="0" dirty="0" smtClean="0">
                <a:solidFill>
                  <a:srgbClr val="333333"/>
                </a:solidFill>
                <a:latin typeface="Arial"/>
                <a:ea typeface="Arial"/>
                <a:cs typeface="Arial"/>
                <a:sym typeface="Arial"/>
              </a:rPr>
              <a:t>for </a:t>
            </a:r>
            <a:r>
              <a:rPr lang="en-US" b="0" i="0" dirty="0">
                <a:solidFill>
                  <a:srgbClr val="333333"/>
                </a:solidFill>
                <a:latin typeface="Arial"/>
                <a:ea typeface="Arial"/>
                <a:cs typeface="Arial"/>
                <a:sym typeface="Arial"/>
              </a:rPr>
              <a:t>a specified topic. When a new client subscribes to a topic, they receive the last message that is retained on that topic. </a:t>
            </a:r>
            <a:endParaRPr dirty="0"/>
          </a:p>
          <a:p>
            <a:pPr marL="342900" indent="-200660">
              <a:spcBef>
                <a:spcPts val="448"/>
              </a:spcBef>
              <a:buClr>
                <a:schemeClr val="dk1"/>
              </a:buClr>
              <a:buSzPct val="100000"/>
              <a:buNone/>
            </a:pPr>
            <a:endParaRPr dirty="0"/>
          </a:p>
        </p:txBody>
      </p:sp>
      <p:sp>
        <p:nvSpPr>
          <p:cNvPr id="2" name="Date Placeholder 1"/>
          <p:cNvSpPr>
            <a:spLocks noGrp="1"/>
          </p:cNvSpPr>
          <p:nvPr>
            <p:ph type="dt" sz="half" idx="10"/>
          </p:nvPr>
        </p:nvSpPr>
        <p:spPr/>
        <p:txBody>
          <a:bodyPr/>
          <a:lstStyle/>
          <a:p>
            <a:fld id="{B3279164-5F93-4935-A946-7C59B6A71BD2}"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40</a:t>
            </a:fld>
            <a:endParaRPr lang="en-IN"/>
          </a:p>
        </p:txBody>
      </p:sp>
    </p:spTree>
    <p:extLst>
      <p:ext uri="{BB962C8B-B14F-4D97-AF65-F5344CB8AC3E}">
        <p14:creationId xmlns:p14="http://schemas.microsoft.com/office/powerpoint/2010/main" val="10253204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g242571989b7_0_155"/>
          <p:cNvSpPr txBox="1">
            <a:spLocks noGrp="1"/>
          </p:cNvSpPr>
          <p:nvPr>
            <p:ph type="title"/>
          </p:nvPr>
        </p:nvSpPr>
        <p:spPr>
          <a:xfrm>
            <a:off x="2152650" y="167054"/>
            <a:ext cx="7886700" cy="682298"/>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chemeClr val="dk1"/>
              </a:buClr>
              <a:buSzPct val="100000"/>
            </a:pPr>
            <a:r>
              <a:rPr lang="en-US" b="1" dirty="0"/>
              <a:t>MQTT Publish</a:t>
            </a:r>
            <a:endParaRPr dirty="0"/>
          </a:p>
        </p:txBody>
      </p:sp>
      <p:sp>
        <p:nvSpPr>
          <p:cNvPr id="389" name="Google Shape;389;g242571989b7_0_155"/>
          <p:cNvSpPr txBox="1">
            <a:spLocks noGrp="1"/>
          </p:cNvSpPr>
          <p:nvPr>
            <p:ph type="body" idx="1"/>
          </p:nvPr>
        </p:nvSpPr>
        <p:spPr>
          <a:xfrm>
            <a:off x="1063869" y="849352"/>
            <a:ext cx="9847385" cy="5327649"/>
          </a:xfrm>
          <a:prstGeom prst="rect">
            <a:avLst/>
          </a:prstGeom>
          <a:noFill/>
          <a:ln>
            <a:noFill/>
          </a:ln>
        </p:spPr>
        <p:txBody>
          <a:bodyPr spcFirstLastPara="1" vert="horz" wrap="square" lIns="91425" tIns="45700" rIns="91425" bIns="45700" rtlCol="0" anchor="t" anchorCtr="0">
            <a:normAutofit/>
          </a:bodyPr>
          <a:lstStyle/>
          <a:p>
            <a:pPr marL="342900" indent="-327660" algn="just">
              <a:spcBef>
                <a:spcPts val="0"/>
              </a:spcBef>
              <a:buClr>
                <a:srgbClr val="333333"/>
              </a:buClr>
              <a:buSzPct val="100000"/>
            </a:pPr>
            <a:r>
              <a:rPr lang="en-US" b="1" i="0" dirty="0">
                <a:solidFill>
                  <a:srgbClr val="333333"/>
                </a:solidFill>
                <a:latin typeface="Arial"/>
                <a:ea typeface="Arial"/>
                <a:cs typeface="Arial"/>
                <a:sym typeface="Arial"/>
              </a:rPr>
              <a:t>Payload</a:t>
            </a:r>
            <a:r>
              <a:rPr lang="en-US" b="0" i="0" dirty="0">
                <a:solidFill>
                  <a:srgbClr val="333333"/>
                </a:solidFill>
                <a:latin typeface="Arial"/>
                <a:ea typeface="Arial"/>
                <a:cs typeface="Arial"/>
                <a:sym typeface="Arial"/>
              </a:rPr>
              <a:t> This is the actual content of the message</a:t>
            </a:r>
            <a:r>
              <a:rPr lang="en-US" b="0" i="0" dirty="0" smtClean="0">
                <a:solidFill>
                  <a:srgbClr val="333333"/>
                </a:solidFill>
                <a:latin typeface="Arial"/>
                <a:ea typeface="Arial"/>
                <a:cs typeface="Arial"/>
                <a:sym typeface="Arial"/>
              </a:rPr>
              <a:t>. </a:t>
            </a:r>
            <a:r>
              <a:rPr lang="en-US" b="0" i="0" dirty="0">
                <a:solidFill>
                  <a:srgbClr val="333333"/>
                </a:solidFill>
                <a:latin typeface="Arial"/>
                <a:ea typeface="Arial"/>
                <a:cs typeface="Arial"/>
                <a:sym typeface="Arial"/>
              </a:rPr>
              <a:t>It is possible to send images, text in any encoding, encrypted data, and virtually every data in binary.</a:t>
            </a:r>
            <a:endParaRPr dirty="0"/>
          </a:p>
          <a:p>
            <a:pPr marL="342900" indent="-327660" algn="just">
              <a:spcBef>
                <a:spcPts val="496"/>
              </a:spcBef>
              <a:buClr>
                <a:srgbClr val="333333"/>
              </a:buClr>
              <a:buSzPct val="100000"/>
            </a:pPr>
            <a:r>
              <a:rPr lang="en-US" b="1" i="0" dirty="0">
                <a:solidFill>
                  <a:srgbClr val="333333"/>
                </a:solidFill>
                <a:latin typeface="Arial"/>
                <a:ea typeface="Arial"/>
                <a:cs typeface="Arial"/>
                <a:sym typeface="Arial"/>
              </a:rPr>
              <a:t>DUP flag</a:t>
            </a:r>
            <a:r>
              <a:rPr lang="en-US" b="0" i="0" dirty="0">
                <a:solidFill>
                  <a:srgbClr val="333333"/>
                </a:solidFill>
                <a:latin typeface="Arial"/>
                <a:ea typeface="Arial"/>
                <a:cs typeface="Arial"/>
                <a:sym typeface="Arial"/>
              </a:rPr>
              <a:t> The flag indicates that the message is a duplicate and was resent because the intended recipient (client or broker) did not acknowledge the original message. This is only relevant for </a:t>
            </a:r>
            <a:r>
              <a:rPr lang="en-US" b="0" i="0" dirty="0" err="1">
                <a:solidFill>
                  <a:srgbClr val="333333"/>
                </a:solidFill>
                <a:latin typeface="Arial"/>
                <a:ea typeface="Arial"/>
                <a:cs typeface="Arial"/>
                <a:sym typeface="Arial"/>
              </a:rPr>
              <a:t>QoS</a:t>
            </a:r>
            <a:r>
              <a:rPr lang="en-US" b="0" i="0" dirty="0">
                <a:solidFill>
                  <a:srgbClr val="333333"/>
                </a:solidFill>
                <a:latin typeface="Arial"/>
                <a:ea typeface="Arial"/>
                <a:cs typeface="Arial"/>
                <a:sym typeface="Arial"/>
              </a:rPr>
              <a:t> greater than 0.</a:t>
            </a:r>
            <a:endParaRPr b="0" i="0" dirty="0">
              <a:solidFill>
                <a:srgbClr val="333333"/>
              </a:solidFill>
              <a:latin typeface="Arial"/>
              <a:ea typeface="Arial"/>
              <a:cs typeface="Arial"/>
              <a:sym typeface="Arial"/>
            </a:endParaRPr>
          </a:p>
          <a:p>
            <a:pPr marL="342900" indent="-185420">
              <a:spcBef>
                <a:spcPts val="496"/>
              </a:spcBef>
              <a:buClr>
                <a:schemeClr val="dk1"/>
              </a:buClr>
              <a:buSzPct val="100000"/>
              <a:buNone/>
            </a:pPr>
            <a:endParaRPr dirty="0"/>
          </a:p>
        </p:txBody>
      </p:sp>
      <p:sp>
        <p:nvSpPr>
          <p:cNvPr id="2" name="Date Placeholder 1"/>
          <p:cNvSpPr>
            <a:spLocks noGrp="1"/>
          </p:cNvSpPr>
          <p:nvPr>
            <p:ph type="dt" sz="half" idx="10"/>
          </p:nvPr>
        </p:nvSpPr>
        <p:spPr/>
        <p:txBody>
          <a:bodyPr/>
          <a:lstStyle/>
          <a:p>
            <a:fld id="{F53D71A4-0C6F-4A75-9DA1-5781479745C0}"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41</a:t>
            </a:fld>
            <a:endParaRPr lang="en-IN"/>
          </a:p>
        </p:txBody>
      </p:sp>
    </p:spTree>
    <p:extLst>
      <p:ext uri="{BB962C8B-B14F-4D97-AF65-F5344CB8AC3E}">
        <p14:creationId xmlns:p14="http://schemas.microsoft.com/office/powerpoint/2010/main" val="1529179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g242571989b7_0_160"/>
          <p:cNvSpPr txBox="1">
            <a:spLocks noGrp="1"/>
          </p:cNvSpPr>
          <p:nvPr>
            <p:ph type="title"/>
          </p:nvPr>
        </p:nvSpPr>
        <p:spPr>
          <a:xfrm>
            <a:off x="2152650" y="365126"/>
            <a:ext cx="7886700" cy="7044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ct val="100000"/>
            </a:pPr>
            <a:r>
              <a:rPr lang="en-US" b="1"/>
              <a:t>MQTT Publish</a:t>
            </a:r>
            <a:endParaRPr/>
          </a:p>
        </p:txBody>
      </p:sp>
      <p:sp>
        <p:nvSpPr>
          <p:cNvPr id="395" name="Google Shape;395;g242571989b7_0_160"/>
          <p:cNvSpPr txBox="1">
            <a:spLocks noGrp="1"/>
          </p:cNvSpPr>
          <p:nvPr>
            <p:ph type="body" idx="1"/>
          </p:nvPr>
        </p:nvSpPr>
        <p:spPr>
          <a:xfrm>
            <a:off x="1380392" y="1200151"/>
            <a:ext cx="8968154" cy="4976700"/>
          </a:xfrm>
          <a:prstGeom prst="rect">
            <a:avLst/>
          </a:prstGeom>
          <a:noFill/>
          <a:ln>
            <a:noFill/>
          </a:ln>
        </p:spPr>
        <p:txBody>
          <a:bodyPr spcFirstLastPara="1" vert="horz" wrap="square" lIns="91425" tIns="45700" rIns="91425" bIns="45700" rtlCol="0" anchor="t" anchorCtr="0">
            <a:normAutofit/>
          </a:bodyPr>
          <a:lstStyle/>
          <a:p>
            <a:pPr marL="342900" indent="-358140" algn="just">
              <a:spcBef>
                <a:spcPts val="0"/>
              </a:spcBef>
              <a:buClr>
                <a:srgbClr val="333333"/>
              </a:buClr>
              <a:buSzPts val="3200"/>
            </a:pPr>
            <a:r>
              <a:rPr lang="en-US" b="0" i="0" dirty="0">
                <a:solidFill>
                  <a:srgbClr val="333333"/>
                </a:solidFill>
                <a:latin typeface="Arial"/>
                <a:ea typeface="Arial"/>
                <a:cs typeface="Arial"/>
                <a:sym typeface="Arial"/>
              </a:rPr>
              <a:t>The client that initially publishes the message is only concerned about delivering the PUBLISH message to the broker. </a:t>
            </a:r>
            <a:endParaRPr lang="en-US" b="0" i="0" dirty="0" smtClean="0">
              <a:solidFill>
                <a:srgbClr val="333333"/>
              </a:solidFill>
              <a:latin typeface="Arial"/>
              <a:ea typeface="Arial"/>
              <a:cs typeface="Arial"/>
              <a:sym typeface="Arial"/>
            </a:endParaRPr>
          </a:p>
          <a:p>
            <a:pPr marL="342900" indent="-358140" algn="just">
              <a:spcBef>
                <a:spcPts val="0"/>
              </a:spcBef>
              <a:buClr>
                <a:srgbClr val="333333"/>
              </a:buClr>
              <a:buSzPts val="3200"/>
            </a:pPr>
            <a:r>
              <a:rPr lang="en-US" b="0" i="0" dirty="0" smtClean="0">
                <a:solidFill>
                  <a:srgbClr val="333333"/>
                </a:solidFill>
                <a:latin typeface="Arial"/>
                <a:ea typeface="Arial"/>
                <a:cs typeface="Arial"/>
                <a:sym typeface="Arial"/>
              </a:rPr>
              <a:t>Once </a:t>
            </a:r>
            <a:r>
              <a:rPr lang="en-US" b="0" i="0" dirty="0">
                <a:solidFill>
                  <a:srgbClr val="333333"/>
                </a:solidFill>
                <a:latin typeface="Arial"/>
                <a:ea typeface="Arial"/>
                <a:cs typeface="Arial"/>
                <a:sym typeface="Arial"/>
              </a:rPr>
              <a:t>the broker receives the PUBLISH message, it is the responsibility of the broker to deliver the message to all subscribers. </a:t>
            </a:r>
            <a:endParaRPr lang="en-US" b="0" i="0" dirty="0" smtClean="0">
              <a:solidFill>
                <a:srgbClr val="333333"/>
              </a:solidFill>
              <a:latin typeface="Arial"/>
              <a:ea typeface="Arial"/>
              <a:cs typeface="Arial"/>
              <a:sym typeface="Arial"/>
            </a:endParaRPr>
          </a:p>
          <a:p>
            <a:pPr marL="342900" indent="-358140" algn="just">
              <a:spcBef>
                <a:spcPts val="0"/>
              </a:spcBef>
              <a:buClr>
                <a:srgbClr val="333333"/>
              </a:buClr>
              <a:buSzPts val="3200"/>
            </a:pPr>
            <a:r>
              <a:rPr lang="en-US" b="0" i="0" dirty="0" smtClean="0">
                <a:solidFill>
                  <a:srgbClr val="333333"/>
                </a:solidFill>
                <a:latin typeface="Arial"/>
                <a:ea typeface="Arial"/>
                <a:cs typeface="Arial"/>
                <a:sym typeface="Arial"/>
              </a:rPr>
              <a:t>The </a:t>
            </a:r>
            <a:r>
              <a:rPr lang="en-US" b="0" i="0" dirty="0">
                <a:solidFill>
                  <a:srgbClr val="333333"/>
                </a:solidFill>
                <a:latin typeface="Arial"/>
                <a:ea typeface="Arial"/>
                <a:cs typeface="Arial"/>
                <a:sym typeface="Arial"/>
              </a:rPr>
              <a:t>publishing client does not get any feedback about whether anyone is interested in the published message or how many clients received the message from the broker.</a:t>
            </a:r>
            <a:endParaRPr dirty="0">
              <a:latin typeface="Arial"/>
              <a:ea typeface="Arial"/>
              <a:cs typeface="Arial"/>
              <a:sym typeface="Arial"/>
            </a:endParaRPr>
          </a:p>
        </p:txBody>
      </p:sp>
      <p:sp>
        <p:nvSpPr>
          <p:cNvPr id="2" name="Date Placeholder 1"/>
          <p:cNvSpPr>
            <a:spLocks noGrp="1"/>
          </p:cNvSpPr>
          <p:nvPr>
            <p:ph type="dt" sz="half" idx="10"/>
          </p:nvPr>
        </p:nvSpPr>
        <p:spPr/>
        <p:txBody>
          <a:bodyPr/>
          <a:lstStyle/>
          <a:p>
            <a:fld id="{2AF95509-16A6-49BC-A0C9-30FAA1D7D126}"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42</a:t>
            </a:fld>
            <a:endParaRPr lang="en-IN"/>
          </a:p>
        </p:txBody>
      </p:sp>
    </p:spTree>
    <p:extLst>
      <p:ext uri="{BB962C8B-B14F-4D97-AF65-F5344CB8AC3E}">
        <p14:creationId xmlns:p14="http://schemas.microsoft.com/office/powerpoint/2010/main" val="4647228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242571989b7_0_16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Ex: PUBLISH</a:t>
            </a:r>
            <a:endParaRPr b="1"/>
          </a:p>
        </p:txBody>
      </p:sp>
      <p:sp>
        <p:nvSpPr>
          <p:cNvPr id="401" name="Google Shape;401;g242571989b7_0_165"/>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05C8D9FA-A6FB-4ACA-BCC0-6634355839E9}" type="datetime1">
              <a:rPr lang="en-IN" smtClean="0"/>
              <a:t>10-09-2026</a:t>
            </a:fld>
            <a:endParaRPr/>
          </a:p>
        </p:txBody>
      </p:sp>
      <p:sp>
        <p:nvSpPr>
          <p:cNvPr id="402" name="Google Shape;402;g242571989b7_0_165"/>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403" name="Google Shape;403;g242571989b7_0_165"/>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43</a:t>
            </a:fld>
            <a:endParaRPr/>
          </a:p>
        </p:txBody>
      </p:sp>
      <p:pic>
        <p:nvPicPr>
          <p:cNvPr id="404" name="Google Shape;404;g242571989b7_0_165"/>
          <p:cNvPicPr preferRelativeResize="0">
            <a:picLocks noGrp="1"/>
          </p:cNvPicPr>
          <p:nvPr>
            <p:ph type="body" idx="1"/>
          </p:nvPr>
        </p:nvPicPr>
        <p:blipFill rotWithShape="1">
          <a:blip r:embed="rId3">
            <a:alphaModFix/>
          </a:blip>
          <a:srcRect/>
          <a:stretch/>
        </p:blipFill>
        <p:spPr>
          <a:xfrm>
            <a:off x="2667000" y="2133600"/>
            <a:ext cx="6934200" cy="3048000"/>
          </a:xfrm>
          <a:prstGeom prst="rect">
            <a:avLst/>
          </a:prstGeom>
          <a:noFill/>
          <a:ln>
            <a:noFill/>
          </a:ln>
        </p:spPr>
      </p:pic>
    </p:spTree>
    <p:extLst>
      <p:ext uri="{BB962C8B-B14F-4D97-AF65-F5344CB8AC3E}">
        <p14:creationId xmlns:p14="http://schemas.microsoft.com/office/powerpoint/2010/main" val="303016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242571989b7_0_173"/>
          <p:cNvSpPr txBox="1">
            <a:spLocks noGrp="1"/>
          </p:cNvSpPr>
          <p:nvPr>
            <p:ph type="title"/>
          </p:nvPr>
        </p:nvSpPr>
        <p:spPr>
          <a:xfrm>
            <a:off x="2152650" y="365126"/>
            <a:ext cx="7886700" cy="7779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Subscribe</a:t>
            </a:r>
            <a:endParaRPr b="1"/>
          </a:p>
        </p:txBody>
      </p:sp>
      <p:sp>
        <p:nvSpPr>
          <p:cNvPr id="410" name="Google Shape;410;g242571989b7_0_173"/>
          <p:cNvSpPr txBox="1">
            <a:spLocks noGrp="1"/>
          </p:cNvSpPr>
          <p:nvPr>
            <p:ph type="body" idx="1"/>
          </p:nvPr>
        </p:nvSpPr>
        <p:spPr>
          <a:xfrm>
            <a:off x="1591407" y="1216479"/>
            <a:ext cx="8792307" cy="4960500"/>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ts val="3200"/>
            </a:pPr>
            <a:r>
              <a:rPr lang="en-US" b="0" i="0" dirty="0">
                <a:solidFill>
                  <a:srgbClr val="333333"/>
                </a:solidFill>
                <a:latin typeface="Arial"/>
                <a:ea typeface="Arial"/>
                <a:cs typeface="Arial"/>
                <a:sym typeface="Arial"/>
              </a:rPr>
              <a:t>Publishing a message doesn’t make sense if no one ever receives it. In other words, if there are no clients to subscribe to the topics of the messages. </a:t>
            </a:r>
            <a:endParaRPr lang="en-US" b="0" i="0" dirty="0" smtClean="0">
              <a:solidFill>
                <a:srgbClr val="333333"/>
              </a:solidFill>
              <a:latin typeface="Arial"/>
              <a:ea typeface="Arial"/>
              <a:cs typeface="Arial"/>
              <a:sym typeface="Arial"/>
            </a:endParaRPr>
          </a:p>
          <a:p>
            <a:pPr marL="342900" indent="-342900" algn="just">
              <a:spcBef>
                <a:spcPts val="0"/>
              </a:spcBef>
              <a:buClr>
                <a:srgbClr val="333333"/>
              </a:buClr>
              <a:buSzPts val="3200"/>
            </a:pPr>
            <a:r>
              <a:rPr lang="en-US" b="0" i="0" dirty="0" smtClean="0">
                <a:solidFill>
                  <a:srgbClr val="333333"/>
                </a:solidFill>
                <a:latin typeface="Arial"/>
                <a:ea typeface="Arial"/>
                <a:cs typeface="Arial"/>
                <a:sym typeface="Arial"/>
              </a:rPr>
              <a:t>To </a:t>
            </a:r>
            <a:r>
              <a:rPr lang="en-US" b="0" i="0" dirty="0">
                <a:solidFill>
                  <a:srgbClr val="333333"/>
                </a:solidFill>
                <a:latin typeface="Arial"/>
                <a:ea typeface="Arial"/>
                <a:cs typeface="Arial"/>
                <a:sym typeface="Arial"/>
              </a:rPr>
              <a:t>receive messages on topics of interest, the client sends a </a:t>
            </a:r>
            <a:r>
              <a:rPr lang="en-US" b="1" i="0" u="sng" strike="noStrike" dirty="0">
                <a:solidFill>
                  <a:srgbClr val="0060AA"/>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SUBSCRIBE</a:t>
            </a:r>
            <a:r>
              <a:rPr lang="en-US" b="0" i="0" dirty="0">
                <a:solidFill>
                  <a:srgbClr val="333333"/>
                </a:solidFill>
                <a:latin typeface="Arial"/>
                <a:ea typeface="Arial"/>
                <a:cs typeface="Arial"/>
                <a:sym typeface="Arial"/>
              </a:rPr>
              <a:t> message to the MQTT broker. </a:t>
            </a:r>
            <a:endParaRPr dirty="0">
              <a:latin typeface="Arial"/>
              <a:ea typeface="Arial"/>
              <a:cs typeface="Arial"/>
              <a:sym typeface="Arial"/>
            </a:endParaRPr>
          </a:p>
        </p:txBody>
      </p:sp>
      <p:sp>
        <p:nvSpPr>
          <p:cNvPr id="2" name="Date Placeholder 1"/>
          <p:cNvSpPr>
            <a:spLocks noGrp="1"/>
          </p:cNvSpPr>
          <p:nvPr>
            <p:ph type="dt" sz="half" idx="10"/>
          </p:nvPr>
        </p:nvSpPr>
        <p:spPr/>
        <p:txBody>
          <a:bodyPr/>
          <a:lstStyle/>
          <a:p>
            <a:fld id="{6ED3FA4A-2777-4E44-B00D-D03361C3711A}"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44</a:t>
            </a:fld>
            <a:endParaRPr lang="en-IN"/>
          </a:p>
        </p:txBody>
      </p:sp>
      <p:pic>
        <p:nvPicPr>
          <p:cNvPr id="7" name="Google Shape;419;g242571989b7_0_178"/>
          <p:cNvPicPr preferRelativeResize="0">
            <a:picLocks/>
          </p:cNvPicPr>
          <p:nvPr/>
        </p:nvPicPr>
        <p:blipFill rotWithShape="1">
          <a:blip r:embed="rId4">
            <a:alphaModFix/>
          </a:blip>
          <a:srcRect/>
          <a:stretch/>
        </p:blipFill>
        <p:spPr>
          <a:xfrm>
            <a:off x="5065721" y="3367918"/>
            <a:ext cx="5035175" cy="2650799"/>
          </a:xfrm>
          <a:prstGeom prst="rect">
            <a:avLst/>
          </a:prstGeom>
          <a:noFill/>
          <a:ln>
            <a:noFill/>
          </a:ln>
        </p:spPr>
      </p:pic>
    </p:spTree>
    <p:extLst>
      <p:ext uri="{BB962C8B-B14F-4D97-AF65-F5344CB8AC3E}">
        <p14:creationId xmlns:p14="http://schemas.microsoft.com/office/powerpoint/2010/main" val="17754551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g242571989b7_0_186"/>
          <p:cNvSpPr txBox="1">
            <a:spLocks noGrp="1"/>
          </p:cNvSpPr>
          <p:nvPr>
            <p:ph type="title"/>
          </p:nvPr>
        </p:nvSpPr>
        <p:spPr>
          <a:xfrm>
            <a:off x="2152650" y="365126"/>
            <a:ext cx="7886700" cy="8433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Subscribe</a:t>
            </a:r>
            <a:endParaRPr/>
          </a:p>
        </p:txBody>
      </p:sp>
      <p:sp>
        <p:nvSpPr>
          <p:cNvPr id="425" name="Google Shape;425;g242571989b7_0_186"/>
          <p:cNvSpPr txBox="1">
            <a:spLocks noGrp="1"/>
          </p:cNvSpPr>
          <p:nvPr>
            <p:ph type="body" idx="1"/>
          </p:nvPr>
        </p:nvSpPr>
        <p:spPr>
          <a:xfrm>
            <a:off x="2152650" y="1257300"/>
            <a:ext cx="7886700" cy="4919700"/>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ts val="3200"/>
            </a:pPr>
            <a:r>
              <a:rPr lang="en-US" b="1" i="0">
                <a:solidFill>
                  <a:srgbClr val="333333"/>
                </a:solidFill>
                <a:latin typeface="Arial"/>
                <a:ea typeface="Arial"/>
                <a:cs typeface="Arial"/>
                <a:sym typeface="Arial"/>
              </a:rPr>
              <a:t>Packet Identifier</a:t>
            </a:r>
            <a:r>
              <a:rPr lang="en-US" b="0" i="0">
                <a:solidFill>
                  <a:srgbClr val="333333"/>
                </a:solidFill>
                <a:latin typeface="Arial"/>
                <a:ea typeface="Arial"/>
                <a:cs typeface="Arial"/>
                <a:sym typeface="Arial"/>
              </a:rPr>
              <a:t> The packet identifier uniquely identifies a message as it flows between the client and broker. The client library and/or the broker is responsible for setting this internal MQTT identifier.</a:t>
            </a:r>
            <a:endParaRPr/>
          </a:p>
          <a:p>
            <a:pPr marL="342900" indent="-342900" algn="just">
              <a:spcBef>
                <a:spcPts val="640"/>
              </a:spcBef>
              <a:buClr>
                <a:srgbClr val="333333"/>
              </a:buClr>
              <a:buSzPts val="3200"/>
            </a:pPr>
            <a:r>
              <a:rPr lang="en-US" b="1" i="0">
                <a:solidFill>
                  <a:srgbClr val="333333"/>
                </a:solidFill>
                <a:latin typeface="Arial"/>
                <a:ea typeface="Arial"/>
                <a:cs typeface="Arial"/>
                <a:sym typeface="Arial"/>
              </a:rPr>
              <a:t>List of Subscriptions</a:t>
            </a:r>
            <a:r>
              <a:rPr lang="en-US" b="0" i="0">
                <a:solidFill>
                  <a:srgbClr val="333333"/>
                </a:solidFill>
                <a:latin typeface="Arial"/>
                <a:ea typeface="Arial"/>
                <a:cs typeface="Arial"/>
                <a:sym typeface="Arial"/>
              </a:rPr>
              <a:t> A SUBSCRIBE message can contain multiple subscriptions for a client. Each subscription is made up of a topic and a QoS level. </a:t>
            </a:r>
            <a:endParaRPr/>
          </a:p>
        </p:txBody>
      </p:sp>
      <p:sp>
        <p:nvSpPr>
          <p:cNvPr id="2" name="Date Placeholder 1"/>
          <p:cNvSpPr>
            <a:spLocks noGrp="1"/>
          </p:cNvSpPr>
          <p:nvPr>
            <p:ph type="dt" sz="half" idx="10"/>
          </p:nvPr>
        </p:nvSpPr>
        <p:spPr/>
        <p:txBody>
          <a:bodyPr/>
          <a:lstStyle/>
          <a:p>
            <a:fld id="{742CD44B-CB5E-4D71-9556-C976D8175BE2}"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45</a:t>
            </a:fld>
            <a:endParaRPr lang="en-IN"/>
          </a:p>
        </p:txBody>
      </p:sp>
    </p:spTree>
    <p:extLst>
      <p:ext uri="{BB962C8B-B14F-4D97-AF65-F5344CB8AC3E}">
        <p14:creationId xmlns:p14="http://schemas.microsoft.com/office/powerpoint/2010/main" val="40725884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242571989b7_0_191"/>
          <p:cNvSpPr txBox="1">
            <a:spLocks noGrp="1"/>
          </p:cNvSpPr>
          <p:nvPr>
            <p:ph type="title"/>
          </p:nvPr>
        </p:nvSpPr>
        <p:spPr>
          <a:xfrm>
            <a:off x="2152650" y="365126"/>
            <a:ext cx="7886700" cy="9003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SUBACK</a:t>
            </a:r>
            <a:endParaRPr b="1"/>
          </a:p>
        </p:txBody>
      </p:sp>
      <p:sp>
        <p:nvSpPr>
          <p:cNvPr id="431" name="Google Shape;431;g242571989b7_0_191"/>
          <p:cNvSpPr txBox="1">
            <a:spLocks noGrp="1"/>
          </p:cNvSpPr>
          <p:nvPr>
            <p:ph type="body" idx="1"/>
          </p:nvPr>
        </p:nvSpPr>
        <p:spPr>
          <a:xfrm>
            <a:off x="1617785" y="1134208"/>
            <a:ext cx="8985737" cy="5042706"/>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ts val="3200"/>
            </a:pPr>
            <a:r>
              <a:rPr lang="en-US" b="0" i="0" dirty="0">
                <a:solidFill>
                  <a:srgbClr val="333333"/>
                </a:solidFill>
                <a:latin typeface="Arial"/>
                <a:ea typeface="Arial"/>
                <a:cs typeface="Arial"/>
                <a:sym typeface="Arial"/>
              </a:rPr>
              <a:t>To confirm each subscription, the broker sends a </a:t>
            </a:r>
            <a:r>
              <a:rPr lang="en-US" b="1" i="0" u="sng" strike="noStrike" dirty="0">
                <a:solidFill>
                  <a:srgbClr val="0060AA"/>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SUBACK</a:t>
            </a:r>
            <a:r>
              <a:rPr lang="en-US" b="0" i="0" dirty="0">
                <a:solidFill>
                  <a:srgbClr val="333333"/>
                </a:solidFill>
                <a:latin typeface="Arial"/>
                <a:ea typeface="Arial"/>
                <a:cs typeface="Arial"/>
                <a:sym typeface="Arial"/>
              </a:rPr>
              <a:t> acknowledgement message to the client. This message contains the packet identifier of the original Subscribe message (to clearly identify the message) and a list of return codes.</a:t>
            </a:r>
            <a:endParaRPr dirty="0"/>
          </a:p>
          <a:p>
            <a:pPr marL="342900" indent="-139700">
              <a:spcBef>
                <a:spcPts val="640"/>
              </a:spcBef>
              <a:buClr>
                <a:schemeClr val="dk1"/>
              </a:buClr>
              <a:buSzPts val="3200"/>
              <a:buNone/>
            </a:pPr>
            <a:endParaRPr dirty="0"/>
          </a:p>
        </p:txBody>
      </p:sp>
      <p:sp>
        <p:nvSpPr>
          <p:cNvPr id="2" name="Date Placeholder 1"/>
          <p:cNvSpPr>
            <a:spLocks noGrp="1"/>
          </p:cNvSpPr>
          <p:nvPr>
            <p:ph type="dt" sz="half" idx="10"/>
          </p:nvPr>
        </p:nvSpPr>
        <p:spPr/>
        <p:txBody>
          <a:bodyPr/>
          <a:lstStyle/>
          <a:p>
            <a:fld id="{6802B756-9EC1-4647-8531-C999B53863C9}"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46</a:t>
            </a:fld>
            <a:endParaRPr lang="en-IN"/>
          </a:p>
        </p:txBody>
      </p:sp>
      <p:pic>
        <p:nvPicPr>
          <p:cNvPr id="7" name="Google Shape;440;g242571989b7_0_196"/>
          <p:cNvPicPr preferRelativeResize="0">
            <a:picLocks/>
          </p:cNvPicPr>
          <p:nvPr/>
        </p:nvPicPr>
        <p:blipFill rotWithShape="1">
          <a:blip r:embed="rId4">
            <a:alphaModFix/>
          </a:blip>
          <a:srcRect/>
          <a:stretch/>
        </p:blipFill>
        <p:spPr>
          <a:xfrm>
            <a:off x="6085698" y="3209192"/>
            <a:ext cx="3953652" cy="2625969"/>
          </a:xfrm>
          <a:prstGeom prst="rect">
            <a:avLst/>
          </a:prstGeom>
          <a:noFill/>
          <a:ln>
            <a:noFill/>
          </a:ln>
        </p:spPr>
      </p:pic>
    </p:spTree>
    <p:extLst>
      <p:ext uri="{BB962C8B-B14F-4D97-AF65-F5344CB8AC3E}">
        <p14:creationId xmlns:p14="http://schemas.microsoft.com/office/powerpoint/2010/main" val="11009018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242571989b7_0_204"/>
          <p:cNvSpPr txBox="1">
            <a:spLocks noGrp="1"/>
          </p:cNvSpPr>
          <p:nvPr>
            <p:ph type="title"/>
          </p:nvPr>
        </p:nvSpPr>
        <p:spPr>
          <a:xfrm>
            <a:off x="2152650" y="365126"/>
            <a:ext cx="7886700" cy="729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ct val="100000"/>
            </a:pPr>
            <a:r>
              <a:rPr lang="en-US" b="1"/>
              <a:t>MQTT SUBACK</a:t>
            </a:r>
            <a:endParaRPr/>
          </a:p>
        </p:txBody>
      </p:sp>
      <p:sp>
        <p:nvSpPr>
          <p:cNvPr id="446" name="Google Shape;446;g242571989b7_0_204"/>
          <p:cNvSpPr txBox="1">
            <a:spLocks noGrp="1"/>
          </p:cNvSpPr>
          <p:nvPr>
            <p:ph type="body" idx="1"/>
          </p:nvPr>
        </p:nvSpPr>
        <p:spPr>
          <a:xfrm>
            <a:off x="1301262" y="1249137"/>
            <a:ext cx="9381392" cy="4927800"/>
          </a:xfrm>
          <a:prstGeom prst="rect">
            <a:avLst/>
          </a:prstGeom>
          <a:noFill/>
          <a:ln>
            <a:noFill/>
          </a:ln>
        </p:spPr>
        <p:txBody>
          <a:bodyPr spcFirstLastPara="1" vert="horz" wrap="square" lIns="91425" tIns="45700" rIns="91425" bIns="45700" rtlCol="0" anchor="t" anchorCtr="0">
            <a:normAutofit fontScale="92500"/>
          </a:bodyPr>
          <a:lstStyle/>
          <a:p>
            <a:pPr marL="342900" indent="-342900" algn="just">
              <a:spcBef>
                <a:spcPts val="0"/>
              </a:spcBef>
              <a:buClr>
                <a:srgbClr val="333333"/>
              </a:buClr>
              <a:buSzPct val="100000"/>
            </a:pPr>
            <a:r>
              <a:rPr lang="en-US" b="1" i="0" dirty="0">
                <a:solidFill>
                  <a:srgbClr val="333333"/>
                </a:solidFill>
                <a:latin typeface="Arial"/>
                <a:ea typeface="Arial"/>
                <a:cs typeface="Arial"/>
                <a:sym typeface="Arial"/>
              </a:rPr>
              <a:t>Packet Identifier</a:t>
            </a:r>
            <a:r>
              <a:rPr lang="en-US" b="0" i="0" dirty="0">
                <a:solidFill>
                  <a:srgbClr val="333333"/>
                </a:solidFill>
                <a:latin typeface="Arial"/>
                <a:ea typeface="Arial"/>
                <a:cs typeface="Arial"/>
                <a:sym typeface="Arial"/>
              </a:rPr>
              <a:t> The packet identifier is a unique identifier used to identify a message. It is the same as in the SUBSCRIBE message.</a:t>
            </a:r>
            <a:endParaRPr dirty="0"/>
          </a:p>
          <a:p>
            <a:pPr marL="342900" indent="-342900" algn="just">
              <a:spcBef>
                <a:spcPts val="496"/>
              </a:spcBef>
              <a:buClr>
                <a:srgbClr val="333333"/>
              </a:buClr>
              <a:buSzPct val="100000"/>
            </a:pPr>
            <a:r>
              <a:rPr lang="en-US" b="1" i="0" dirty="0">
                <a:solidFill>
                  <a:srgbClr val="333333"/>
                </a:solidFill>
                <a:latin typeface="Arial"/>
                <a:ea typeface="Arial"/>
                <a:cs typeface="Arial"/>
                <a:sym typeface="Arial"/>
              </a:rPr>
              <a:t>Return Code</a:t>
            </a:r>
            <a:r>
              <a:rPr lang="en-US" b="0" i="0" dirty="0">
                <a:solidFill>
                  <a:srgbClr val="333333"/>
                </a:solidFill>
                <a:latin typeface="Arial"/>
                <a:ea typeface="Arial"/>
                <a:cs typeface="Arial"/>
                <a:sym typeface="Arial"/>
              </a:rPr>
              <a:t> The broker sends one return code for each topic/</a:t>
            </a:r>
            <a:r>
              <a:rPr lang="en-US" b="0" i="0" dirty="0" err="1">
                <a:solidFill>
                  <a:srgbClr val="333333"/>
                </a:solidFill>
                <a:latin typeface="Arial"/>
                <a:ea typeface="Arial"/>
                <a:cs typeface="Arial"/>
                <a:sym typeface="Arial"/>
              </a:rPr>
              <a:t>QoS</a:t>
            </a:r>
            <a:r>
              <a:rPr lang="en-US" b="0" i="0" dirty="0">
                <a:solidFill>
                  <a:srgbClr val="333333"/>
                </a:solidFill>
                <a:latin typeface="Arial"/>
                <a:ea typeface="Arial"/>
                <a:cs typeface="Arial"/>
                <a:sym typeface="Arial"/>
              </a:rPr>
              <a:t>-pair that it receives in the SUBSCRIBE message. For example, if the SUBSCRIBE message has five subscriptions, the SUBACK message contains five return codes. The return code acknowledges each topic and shows the </a:t>
            </a:r>
            <a:r>
              <a:rPr lang="en-US" b="0" i="0" dirty="0" err="1">
                <a:solidFill>
                  <a:srgbClr val="333333"/>
                </a:solidFill>
                <a:latin typeface="Arial"/>
                <a:ea typeface="Arial"/>
                <a:cs typeface="Arial"/>
                <a:sym typeface="Arial"/>
              </a:rPr>
              <a:t>QoS</a:t>
            </a:r>
            <a:r>
              <a:rPr lang="en-US" b="0" i="0" dirty="0">
                <a:solidFill>
                  <a:srgbClr val="333333"/>
                </a:solidFill>
                <a:latin typeface="Arial"/>
                <a:ea typeface="Arial"/>
                <a:cs typeface="Arial"/>
                <a:sym typeface="Arial"/>
              </a:rPr>
              <a:t> level that is granted by the broker. If the broker refuses a subscription, the SUBACK message contains a failure return code for that specific topic. For example, if the client has insufficient permission to subscribe to the topic or the topic is malformed.</a:t>
            </a:r>
            <a:endParaRPr dirty="0"/>
          </a:p>
          <a:p>
            <a:pPr marL="342900" indent="-185420">
              <a:spcBef>
                <a:spcPts val="496"/>
              </a:spcBef>
              <a:buClr>
                <a:schemeClr val="dk1"/>
              </a:buClr>
              <a:buSzPct val="100000"/>
              <a:buNone/>
            </a:pPr>
            <a:endParaRPr dirty="0"/>
          </a:p>
        </p:txBody>
      </p:sp>
      <p:sp>
        <p:nvSpPr>
          <p:cNvPr id="2" name="Date Placeholder 1"/>
          <p:cNvSpPr>
            <a:spLocks noGrp="1"/>
          </p:cNvSpPr>
          <p:nvPr>
            <p:ph type="dt" sz="half" idx="10"/>
          </p:nvPr>
        </p:nvSpPr>
        <p:spPr/>
        <p:txBody>
          <a:bodyPr/>
          <a:lstStyle/>
          <a:p>
            <a:fld id="{17E912B5-2798-44DC-A931-71CFF4F4A21B}"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47</a:t>
            </a:fld>
            <a:endParaRPr lang="en-IN"/>
          </a:p>
        </p:txBody>
      </p:sp>
    </p:spTree>
    <p:extLst>
      <p:ext uri="{BB962C8B-B14F-4D97-AF65-F5344CB8AC3E}">
        <p14:creationId xmlns:p14="http://schemas.microsoft.com/office/powerpoint/2010/main" val="21093254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g242571989b7_0_209"/>
          <p:cNvSpPr txBox="1">
            <a:spLocks noGrp="1"/>
          </p:cNvSpPr>
          <p:nvPr>
            <p:ph type="title"/>
          </p:nvPr>
        </p:nvSpPr>
        <p:spPr>
          <a:xfrm>
            <a:off x="2152650" y="365126"/>
            <a:ext cx="7886700" cy="8187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SUBACK</a:t>
            </a:r>
            <a:endParaRPr/>
          </a:p>
        </p:txBody>
      </p:sp>
      <p:pic>
        <p:nvPicPr>
          <p:cNvPr id="452" name="Google Shape;452;g242571989b7_0_209"/>
          <p:cNvPicPr preferRelativeResize="0">
            <a:picLocks noGrp="1"/>
          </p:cNvPicPr>
          <p:nvPr>
            <p:ph type="body" idx="1"/>
          </p:nvPr>
        </p:nvPicPr>
        <p:blipFill rotWithShape="1">
          <a:blip r:embed="rId3">
            <a:alphaModFix/>
          </a:blip>
          <a:srcRect/>
          <a:stretch/>
        </p:blipFill>
        <p:spPr>
          <a:xfrm>
            <a:off x="1752600" y="1524000"/>
            <a:ext cx="3276600" cy="3886200"/>
          </a:xfrm>
          <a:prstGeom prst="rect">
            <a:avLst/>
          </a:prstGeom>
          <a:noFill/>
          <a:ln>
            <a:noFill/>
          </a:ln>
        </p:spPr>
      </p:pic>
      <p:pic>
        <p:nvPicPr>
          <p:cNvPr id="453" name="Google Shape;453;g242571989b7_0_209"/>
          <p:cNvPicPr preferRelativeResize="0"/>
          <p:nvPr/>
        </p:nvPicPr>
        <p:blipFill rotWithShape="1">
          <a:blip r:embed="rId4">
            <a:alphaModFix/>
          </a:blip>
          <a:srcRect/>
          <a:stretch/>
        </p:blipFill>
        <p:spPr>
          <a:xfrm>
            <a:off x="5548901" y="1524000"/>
            <a:ext cx="4628509" cy="2514600"/>
          </a:xfrm>
          <a:prstGeom prst="rect">
            <a:avLst/>
          </a:prstGeom>
          <a:noFill/>
          <a:ln>
            <a:noFill/>
          </a:ln>
        </p:spPr>
      </p:pic>
      <p:sp>
        <p:nvSpPr>
          <p:cNvPr id="454" name="Google Shape;454;g242571989b7_0_209"/>
          <p:cNvSpPr txBox="1"/>
          <p:nvPr/>
        </p:nvSpPr>
        <p:spPr>
          <a:xfrm>
            <a:off x="5264017" y="4253365"/>
            <a:ext cx="4913400" cy="1754700"/>
          </a:xfrm>
          <a:prstGeom prst="rect">
            <a:avLst/>
          </a:prstGeom>
          <a:noFill/>
          <a:ln>
            <a:noFill/>
          </a:ln>
        </p:spPr>
        <p:txBody>
          <a:bodyPr spcFirstLastPara="1" wrap="square" lIns="91425" tIns="45700" rIns="91425" bIns="45700" anchor="t" anchorCtr="0">
            <a:spAutoFit/>
          </a:bodyPr>
          <a:lstStyle/>
          <a:p>
            <a:pPr algn="just"/>
            <a:r>
              <a:rPr lang="en-US" dirty="0">
                <a:solidFill>
                  <a:srgbClr val="333333"/>
                </a:solidFill>
                <a:latin typeface="Arial"/>
                <a:ea typeface="Arial"/>
                <a:cs typeface="Arial"/>
                <a:sym typeface="Arial"/>
              </a:rPr>
              <a:t>After a client successfully sends the SUBSCRIBE message and receives the SUBACK message, it gets every published message that matches a topic in the subscriptions that the SUBSCRIBE message contained.</a:t>
            </a:r>
            <a:endParaRPr dirty="0">
              <a:solidFill>
                <a:schemeClr val="dk1"/>
              </a:solidFill>
              <a:latin typeface="Arial"/>
              <a:ea typeface="Arial"/>
              <a:cs typeface="Arial"/>
              <a:sym typeface="Arial"/>
            </a:endParaRPr>
          </a:p>
        </p:txBody>
      </p:sp>
      <p:sp>
        <p:nvSpPr>
          <p:cNvPr id="2" name="Date Placeholder 1"/>
          <p:cNvSpPr>
            <a:spLocks noGrp="1"/>
          </p:cNvSpPr>
          <p:nvPr>
            <p:ph type="dt" sz="half" idx="10"/>
          </p:nvPr>
        </p:nvSpPr>
        <p:spPr/>
        <p:txBody>
          <a:bodyPr/>
          <a:lstStyle/>
          <a:p>
            <a:fld id="{A595BF85-C102-462F-A2E3-566432F9A9A8}"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48</a:t>
            </a:fld>
            <a:endParaRPr lang="en-IN"/>
          </a:p>
        </p:txBody>
      </p:sp>
    </p:spTree>
    <p:extLst>
      <p:ext uri="{BB962C8B-B14F-4D97-AF65-F5344CB8AC3E}">
        <p14:creationId xmlns:p14="http://schemas.microsoft.com/office/powerpoint/2010/main" val="4150374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g242571989b7_0_216"/>
          <p:cNvSpPr txBox="1">
            <a:spLocks noGrp="1"/>
          </p:cNvSpPr>
          <p:nvPr>
            <p:ph type="title"/>
          </p:nvPr>
        </p:nvSpPr>
        <p:spPr>
          <a:xfrm>
            <a:off x="2152650" y="365126"/>
            <a:ext cx="7886700" cy="7698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UNSUBSCRIBE</a:t>
            </a:r>
            <a:endParaRPr b="1"/>
          </a:p>
        </p:txBody>
      </p:sp>
      <p:sp>
        <p:nvSpPr>
          <p:cNvPr id="460" name="Google Shape;460;g242571989b7_0_216"/>
          <p:cNvSpPr txBox="1">
            <a:spLocks noGrp="1"/>
          </p:cNvSpPr>
          <p:nvPr>
            <p:ph type="body" idx="1"/>
          </p:nvPr>
        </p:nvSpPr>
        <p:spPr>
          <a:xfrm>
            <a:off x="2152650" y="1249137"/>
            <a:ext cx="7886700" cy="4927800"/>
          </a:xfrm>
          <a:prstGeom prst="rect">
            <a:avLst/>
          </a:prstGeom>
          <a:noFill/>
          <a:ln>
            <a:noFill/>
          </a:ln>
        </p:spPr>
        <p:txBody>
          <a:bodyPr spcFirstLastPara="1" vert="horz" wrap="square" lIns="91425" tIns="45700" rIns="91425" bIns="45700" rtlCol="0" anchor="t" anchorCtr="0">
            <a:normAutofit/>
          </a:bodyPr>
          <a:lstStyle/>
          <a:p>
            <a:pPr marL="342900" indent="-342900" algn="just">
              <a:spcBef>
                <a:spcPts val="0"/>
              </a:spcBef>
              <a:buClr>
                <a:srgbClr val="333333"/>
              </a:buClr>
              <a:buSzPts val="3200"/>
            </a:pPr>
            <a:r>
              <a:rPr lang="en-US" b="0" i="0" dirty="0">
                <a:solidFill>
                  <a:srgbClr val="333333"/>
                </a:solidFill>
                <a:latin typeface="Arial"/>
                <a:ea typeface="Arial"/>
                <a:cs typeface="Arial"/>
                <a:sym typeface="Arial"/>
              </a:rPr>
              <a:t>The counterpart of the SUBSCRIBE message  is the </a:t>
            </a:r>
            <a:r>
              <a:rPr lang="en-US" b="1" i="0" u="sng" strike="noStrike" dirty="0">
                <a:solidFill>
                  <a:srgbClr val="0060AA"/>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UNSUBSCRIBE</a:t>
            </a:r>
            <a:r>
              <a:rPr lang="en-US" b="0" i="0" dirty="0">
                <a:solidFill>
                  <a:srgbClr val="333333"/>
                </a:solidFill>
                <a:latin typeface="Arial"/>
                <a:ea typeface="Arial"/>
                <a:cs typeface="Arial"/>
                <a:sym typeface="Arial"/>
              </a:rPr>
              <a:t> message. </a:t>
            </a:r>
            <a:endParaRPr lang="en-US" b="0" i="0" dirty="0" smtClean="0">
              <a:solidFill>
                <a:srgbClr val="333333"/>
              </a:solidFill>
              <a:latin typeface="Arial"/>
              <a:ea typeface="Arial"/>
              <a:cs typeface="Arial"/>
              <a:sym typeface="Arial"/>
            </a:endParaRPr>
          </a:p>
          <a:p>
            <a:pPr marL="342900" indent="-342900" algn="just">
              <a:spcBef>
                <a:spcPts val="0"/>
              </a:spcBef>
              <a:buClr>
                <a:srgbClr val="333333"/>
              </a:buClr>
              <a:buSzPts val="3200"/>
            </a:pPr>
            <a:r>
              <a:rPr lang="en-US" b="0" i="0" dirty="0" smtClean="0">
                <a:solidFill>
                  <a:srgbClr val="333333"/>
                </a:solidFill>
                <a:latin typeface="Arial"/>
                <a:ea typeface="Arial"/>
                <a:cs typeface="Arial"/>
                <a:sym typeface="Arial"/>
              </a:rPr>
              <a:t>This </a:t>
            </a:r>
            <a:r>
              <a:rPr lang="en-US" b="0" i="0" dirty="0">
                <a:solidFill>
                  <a:srgbClr val="333333"/>
                </a:solidFill>
                <a:latin typeface="Arial"/>
                <a:ea typeface="Arial"/>
                <a:cs typeface="Arial"/>
                <a:sym typeface="Arial"/>
              </a:rPr>
              <a:t>message deletes existing subscriptions of a client on the broker. The UNSUBSCRIBE message is similar to the SUBSCRIBE message and has a packet identifier and a list of topics.</a:t>
            </a:r>
            <a:endParaRPr dirty="0">
              <a:latin typeface="Arial"/>
              <a:ea typeface="Arial"/>
              <a:cs typeface="Arial"/>
              <a:sym typeface="Arial"/>
            </a:endParaRPr>
          </a:p>
        </p:txBody>
      </p:sp>
      <p:sp>
        <p:nvSpPr>
          <p:cNvPr id="2" name="Date Placeholder 1"/>
          <p:cNvSpPr>
            <a:spLocks noGrp="1"/>
          </p:cNvSpPr>
          <p:nvPr>
            <p:ph type="dt" sz="half" idx="10"/>
          </p:nvPr>
        </p:nvSpPr>
        <p:spPr/>
        <p:txBody>
          <a:bodyPr/>
          <a:lstStyle/>
          <a:p>
            <a:fld id="{285CD334-6206-4527-845D-7D8DFC99BB50}"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49</a:t>
            </a:fld>
            <a:endParaRPr lang="en-IN"/>
          </a:p>
        </p:txBody>
      </p:sp>
      <p:pic>
        <p:nvPicPr>
          <p:cNvPr id="7" name="Google Shape;469;g242571989b7_0_221"/>
          <p:cNvPicPr preferRelativeResize="0">
            <a:picLocks/>
          </p:cNvPicPr>
          <p:nvPr/>
        </p:nvPicPr>
        <p:blipFill rotWithShape="1">
          <a:blip r:embed="rId4">
            <a:alphaModFix/>
          </a:blip>
          <a:srcRect/>
          <a:stretch/>
        </p:blipFill>
        <p:spPr>
          <a:xfrm>
            <a:off x="5512777" y="3604846"/>
            <a:ext cx="4185138" cy="2154115"/>
          </a:xfrm>
          <a:prstGeom prst="rect">
            <a:avLst/>
          </a:prstGeom>
          <a:noFill/>
          <a:ln>
            <a:noFill/>
          </a:ln>
        </p:spPr>
      </p:pic>
    </p:spTree>
    <p:extLst>
      <p:ext uri="{BB962C8B-B14F-4D97-AF65-F5344CB8AC3E}">
        <p14:creationId xmlns:p14="http://schemas.microsoft.com/office/powerpoint/2010/main" val="12131372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242571989b7_0_229"/>
          <p:cNvSpPr txBox="1">
            <a:spLocks noGrp="1"/>
          </p:cNvSpPr>
          <p:nvPr>
            <p:ph type="title"/>
          </p:nvPr>
        </p:nvSpPr>
        <p:spPr>
          <a:xfrm>
            <a:off x="2152650" y="365126"/>
            <a:ext cx="7886700" cy="9492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UNSUBSCRIBE</a:t>
            </a:r>
            <a:endParaRPr/>
          </a:p>
        </p:txBody>
      </p:sp>
      <p:sp>
        <p:nvSpPr>
          <p:cNvPr id="475" name="Google Shape;475;g242571989b7_0_229"/>
          <p:cNvSpPr txBox="1">
            <a:spLocks noGrp="1"/>
          </p:cNvSpPr>
          <p:nvPr>
            <p:ph type="body" idx="1"/>
          </p:nvPr>
        </p:nvSpPr>
        <p:spPr>
          <a:xfrm>
            <a:off x="2152650" y="1387929"/>
            <a:ext cx="7886700" cy="4788900"/>
          </a:xfrm>
          <a:prstGeom prst="rect">
            <a:avLst/>
          </a:prstGeom>
          <a:noFill/>
          <a:ln>
            <a:noFill/>
          </a:ln>
        </p:spPr>
        <p:txBody>
          <a:bodyPr spcFirstLastPara="1" vert="horz" wrap="square" lIns="91425" tIns="45700" rIns="91425" bIns="45700" rtlCol="0" anchor="t" anchorCtr="0">
            <a:normAutofit/>
          </a:bodyPr>
          <a:lstStyle/>
          <a:p>
            <a:pPr marL="342900" indent="-327660" algn="just">
              <a:spcBef>
                <a:spcPts val="0"/>
              </a:spcBef>
              <a:buClr>
                <a:srgbClr val="333333"/>
              </a:buClr>
              <a:buSzPct val="100000"/>
            </a:pPr>
            <a:r>
              <a:rPr lang="en-US" b="1" i="0" dirty="0">
                <a:solidFill>
                  <a:srgbClr val="333333"/>
                </a:solidFill>
                <a:latin typeface="Arial"/>
                <a:ea typeface="Arial"/>
                <a:cs typeface="Arial"/>
                <a:sym typeface="Arial"/>
              </a:rPr>
              <a:t>Packet Identifier</a:t>
            </a:r>
            <a:r>
              <a:rPr lang="en-US" b="0" i="0" dirty="0">
                <a:solidFill>
                  <a:srgbClr val="333333"/>
                </a:solidFill>
                <a:latin typeface="Arial"/>
                <a:ea typeface="Arial"/>
                <a:cs typeface="Arial"/>
                <a:sym typeface="Arial"/>
              </a:rPr>
              <a:t> The packet identifier uniquely identifies a message as it flows between the client and broker. The client library and/or the broker is responsible for setting this internal MQTT identifier.</a:t>
            </a:r>
            <a:endParaRPr dirty="0"/>
          </a:p>
          <a:p>
            <a:pPr marL="342900" indent="-327660" algn="just">
              <a:spcBef>
                <a:spcPts val="592"/>
              </a:spcBef>
              <a:buClr>
                <a:srgbClr val="333333"/>
              </a:buClr>
              <a:buSzPct val="100000"/>
            </a:pPr>
            <a:r>
              <a:rPr lang="en-US" b="1" i="0" dirty="0">
                <a:solidFill>
                  <a:srgbClr val="333333"/>
                </a:solidFill>
                <a:latin typeface="Arial"/>
                <a:ea typeface="Arial"/>
                <a:cs typeface="Arial"/>
                <a:sym typeface="Arial"/>
              </a:rPr>
              <a:t>List of Topic</a:t>
            </a:r>
            <a:r>
              <a:rPr lang="en-US" b="0" i="0" dirty="0">
                <a:solidFill>
                  <a:srgbClr val="333333"/>
                </a:solidFill>
                <a:latin typeface="Arial"/>
                <a:ea typeface="Arial"/>
                <a:cs typeface="Arial"/>
                <a:sym typeface="Arial"/>
              </a:rPr>
              <a:t> The list of topics can contain multiple topics from which the client wants to unsubscribe. It is only necessary to send the topic (without </a:t>
            </a:r>
            <a:r>
              <a:rPr lang="en-US" b="0" i="0" dirty="0" err="1">
                <a:solidFill>
                  <a:srgbClr val="333333"/>
                </a:solidFill>
                <a:latin typeface="Arial"/>
                <a:ea typeface="Arial"/>
                <a:cs typeface="Arial"/>
                <a:sym typeface="Arial"/>
              </a:rPr>
              <a:t>QoS</a:t>
            </a:r>
            <a:r>
              <a:rPr lang="en-US" b="0" i="0" dirty="0">
                <a:solidFill>
                  <a:srgbClr val="333333"/>
                </a:solidFill>
                <a:latin typeface="Arial"/>
                <a:ea typeface="Arial"/>
                <a:cs typeface="Arial"/>
                <a:sym typeface="Arial"/>
              </a:rPr>
              <a:t>). </a:t>
            </a:r>
            <a:endParaRPr dirty="0"/>
          </a:p>
        </p:txBody>
      </p:sp>
      <p:sp>
        <p:nvSpPr>
          <p:cNvPr id="2" name="Date Placeholder 1"/>
          <p:cNvSpPr>
            <a:spLocks noGrp="1"/>
          </p:cNvSpPr>
          <p:nvPr>
            <p:ph type="dt" sz="half" idx="10"/>
          </p:nvPr>
        </p:nvSpPr>
        <p:spPr/>
        <p:txBody>
          <a:bodyPr/>
          <a:lstStyle/>
          <a:p>
            <a:fld id="{857D91C4-B352-43AA-B51D-944D00180696}"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50</a:t>
            </a:fld>
            <a:endParaRPr lang="en-IN"/>
          </a:p>
        </p:txBody>
      </p:sp>
    </p:spTree>
    <p:extLst>
      <p:ext uri="{BB962C8B-B14F-4D97-AF65-F5344CB8AC3E}">
        <p14:creationId xmlns:p14="http://schemas.microsoft.com/office/powerpoint/2010/main" val="35257538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g242571989b7_0_234"/>
          <p:cNvSpPr txBox="1">
            <a:spLocks noGrp="1"/>
          </p:cNvSpPr>
          <p:nvPr>
            <p:ph type="title"/>
          </p:nvPr>
        </p:nvSpPr>
        <p:spPr>
          <a:xfrm>
            <a:off x="2152650" y="365126"/>
            <a:ext cx="7886700" cy="8025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MQTT UNSUBACK</a:t>
            </a:r>
            <a:endParaRPr/>
          </a:p>
        </p:txBody>
      </p:sp>
      <p:sp>
        <p:nvSpPr>
          <p:cNvPr id="481" name="Google Shape;481;g242571989b7_0_234"/>
          <p:cNvSpPr txBox="1">
            <a:spLocks noGrp="1"/>
          </p:cNvSpPr>
          <p:nvPr>
            <p:ph type="body" idx="1"/>
          </p:nvPr>
        </p:nvSpPr>
        <p:spPr>
          <a:xfrm>
            <a:off x="2152650" y="1143001"/>
            <a:ext cx="7886700" cy="5034000"/>
          </a:xfrm>
          <a:prstGeom prst="rect">
            <a:avLst/>
          </a:prstGeom>
          <a:noFill/>
          <a:ln>
            <a:noFill/>
          </a:ln>
        </p:spPr>
        <p:txBody>
          <a:bodyPr spcFirstLastPara="1" vert="horz" wrap="square" lIns="91425" tIns="45700" rIns="91425" bIns="45700" rtlCol="0" anchor="t" anchorCtr="0">
            <a:normAutofit/>
          </a:bodyPr>
          <a:lstStyle/>
          <a:p>
            <a:pPr marL="342900" indent="-358140" algn="just">
              <a:spcBef>
                <a:spcPts val="0"/>
              </a:spcBef>
              <a:buClr>
                <a:srgbClr val="333333"/>
              </a:buClr>
              <a:buSzPts val="3200"/>
            </a:pPr>
            <a:r>
              <a:rPr lang="en-US" b="0" i="0">
                <a:solidFill>
                  <a:srgbClr val="333333"/>
                </a:solidFill>
                <a:latin typeface="Arial"/>
                <a:ea typeface="Arial"/>
                <a:cs typeface="Arial"/>
                <a:sym typeface="Arial"/>
              </a:rPr>
              <a:t>To confirm the unsubscribe, the broker sends an </a:t>
            </a:r>
            <a:r>
              <a:rPr lang="en-US" b="1" i="0" u="sng" strike="noStrike">
                <a:solidFill>
                  <a:srgbClr val="0060AA"/>
                </a:solidFill>
                <a:latin typeface="Arial"/>
                <a:ea typeface="Arial"/>
                <a:cs typeface="Arial"/>
                <a:sym typeface="Aria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UNSUBACK</a:t>
            </a:r>
            <a:r>
              <a:rPr lang="en-US" b="0" i="0">
                <a:solidFill>
                  <a:srgbClr val="333333"/>
                </a:solidFill>
                <a:latin typeface="Arial"/>
                <a:ea typeface="Arial"/>
                <a:cs typeface="Arial"/>
                <a:sym typeface="Arial"/>
              </a:rPr>
              <a:t> acknowledgement message to the client. This message contains only the packet identifier of the original UNSUBSCRIBE message (to clearly identify the message).</a:t>
            </a:r>
            <a:endParaRPr/>
          </a:p>
          <a:p>
            <a:pPr marL="342900" indent="-358140" algn="just">
              <a:spcBef>
                <a:spcPts val="592"/>
              </a:spcBef>
              <a:buClr>
                <a:srgbClr val="333333"/>
              </a:buClr>
              <a:buSzPts val="3200"/>
            </a:pPr>
            <a:r>
              <a:rPr lang="en-US" b="1" i="0">
                <a:solidFill>
                  <a:srgbClr val="333333"/>
                </a:solidFill>
                <a:latin typeface="Arial"/>
                <a:ea typeface="Arial"/>
                <a:cs typeface="Arial"/>
                <a:sym typeface="Arial"/>
              </a:rPr>
              <a:t>Packet Identifier</a:t>
            </a:r>
            <a:r>
              <a:rPr lang="en-US" b="0" i="0">
                <a:solidFill>
                  <a:srgbClr val="333333"/>
                </a:solidFill>
                <a:latin typeface="Arial"/>
                <a:ea typeface="Arial"/>
                <a:cs typeface="Arial"/>
                <a:sym typeface="Arial"/>
              </a:rPr>
              <a:t> The packet identifier uniquely identifies the message. As already mentioned, this is the same packet identifier that is in the UNSUBSCRIBE message.</a:t>
            </a:r>
            <a:endParaRPr>
              <a:latin typeface="Arial"/>
              <a:ea typeface="Arial"/>
              <a:cs typeface="Arial"/>
              <a:sym typeface="Arial"/>
            </a:endParaRPr>
          </a:p>
        </p:txBody>
      </p:sp>
      <p:sp>
        <p:nvSpPr>
          <p:cNvPr id="2" name="Date Placeholder 1"/>
          <p:cNvSpPr>
            <a:spLocks noGrp="1"/>
          </p:cNvSpPr>
          <p:nvPr>
            <p:ph type="dt" sz="half" idx="10"/>
          </p:nvPr>
        </p:nvSpPr>
        <p:spPr/>
        <p:txBody>
          <a:bodyPr/>
          <a:lstStyle/>
          <a:p>
            <a:fld id="{99F12D7D-44FE-4B47-A1E3-7BE129C74AAC}" type="datetime1">
              <a:rPr lang="en-IN" smtClean="0"/>
              <a:t>10-09-2026</a:t>
            </a:fld>
            <a:endParaRPr lang="en-IN"/>
          </a:p>
        </p:txBody>
      </p:sp>
      <p:sp>
        <p:nvSpPr>
          <p:cNvPr id="3" name="Footer Placeholder 2"/>
          <p:cNvSpPr>
            <a:spLocks noGrp="1"/>
          </p:cNvSpPr>
          <p:nvPr>
            <p:ph type="ftr" sz="quarter" idx="11"/>
          </p:nvPr>
        </p:nvSpPr>
        <p:spPr/>
        <p:txBody>
          <a:bodyPr/>
          <a:lstStyle/>
          <a:p>
            <a:r>
              <a:rPr lang="en-IN" smtClean="0"/>
              <a:t>Internet of Things</a:t>
            </a:r>
            <a:endParaRPr lang="en-IN"/>
          </a:p>
        </p:txBody>
      </p:sp>
      <p:sp>
        <p:nvSpPr>
          <p:cNvPr id="4" name="Slide Number Placeholder 3"/>
          <p:cNvSpPr>
            <a:spLocks noGrp="1"/>
          </p:cNvSpPr>
          <p:nvPr>
            <p:ph type="sldNum" sz="quarter" idx="12"/>
          </p:nvPr>
        </p:nvSpPr>
        <p:spPr/>
        <p:txBody>
          <a:bodyPr/>
          <a:lstStyle/>
          <a:p>
            <a:fld id="{5FDBCEB4-CAA2-4975-B77B-719E163E142D}" type="slidenum">
              <a:rPr lang="en-IN" smtClean="0"/>
              <a:t>51</a:t>
            </a:fld>
            <a:endParaRPr lang="en-IN"/>
          </a:p>
        </p:txBody>
      </p:sp>
    </p:spTree>
    <p:extLst>
      <p:ext uri="{BB962C8B-B14F-4D97-AF65-F5344CB8AC3E}">
        <p14:creationId xmlns:p14="http://schemas.microsoft.com/office/powerpoint/2010/main" val="20475667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g242571989b7_0_23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spcBef>
                <a:spcPts val="0"/>
              </a:spcBef>
              <a:buClr>
                <a:schemeClr val="dk1"/>
              </a:buClr>
              <a:buSzPts val="4400"/>
            </a:pPr>
            <a:r>
              <a:rPr lang="en-US" b="1"/>
              <a:t>Ex: UNSUBSCRIBE</a:t>
            </a:r>
            <a:endParaRPr b="1"/>
          </a:p>
        </p:txBody>
      </p:sp>
      <p:sp>
        <p:nvSpPr>
          <p:cNvPr id="487" name="Google Shape;487;g242571989b7_0_239"/>
          <p:cNvSpPr txBox="1">
            <a:spLocks noGrp="1"/>
          </p:cNvSpPr>
          <p:nvPr>
            <p:ph type="body" idx="1"/>
          </p:nvPr>
        </p:nvSpPr>
        <p:spPr>
          <a:xfrm>
            <a:off x="1981200" y="1600200"/>
            <a:ext cx="8229600" cy="4526100"/>
          </a:xfrm>
          <a:prstGeom prst="rect">
            <a:avLst/>
          </a:prstGeom>
          <a:noFill/>
          <a:ln>
            <a:noFill/>
          </a:ln>
        </p:spPr>
        <p:txBody>
          <a:bodyPr spcFirstLastPara="1" vert="horz" wrap="square" lIns="91425" tIns="45700" rIns="91425" bIns="45700" rtlCol="0" anchor="t" anchorCtr="0">
            <a:normAutofit/>
          </a:bodyPr>
          <a:lstStyle/>
          <a:p>
            <a:pPr marL="342900" indent="-139700">
              <a:spcBef>
                <a:spcPts val="0"/>
              </a:spcBef>
              <a:buClr>
                <a:schemeClr val="dk1"/>
              </a:buClr>
              <a:buSzPts val="3200"/>
              <a:buNone/>
            </a:pPr>
            <a:endParaRPr/>
          </a:p>
        </p:txBody>
      </p:sp>
      <p:sp>
        <p:nvSpPr>
          <p:cNvPr id="488" name="Google Shape;488;g242571989b7_0_239"/>
          <p:cNvSpPr txBox="1">
            <a:spLocks noGrp="1"/>
          </p:cNvSpPr>
          <p:nvPr>
            <p:ph type="dt" idx="10"/>
          </p:nvPr>
        </p:nvSpPr>
        <p:spPr>
          <a:xfrm>
            <a:off x="1981200" y="6356350"/>
            <a:ext cx="2133600" cy="365100"/>
          </a:xfrm>
          <a:prstGeom prst="rect">
            <a:avLst/>
          </a:prstGeom>
          <a:noFill/>
          <a:ln>
            <a:noFill/>
          </a:ln>
        </p:spPr>
        <p:txBody>
          <a:bodyPr spcFirstLastPara="1" vert="horz" wrap="square" lIns="91425" tIns="45700" rIns="91425" bIns="45700" rtlCol="0" anchor="ctr" anchorCtr="0">
            <a:noAutofit/>
          </a:bodyPr>
          <a:lstStyle/>
          <a:p>
            <a:fld id="{B418BAB6-62D9-4CFE-A144-E7B07A399268}" type="datetime1">
              <a:rPr lang="en-IN" smtClean="0"/>
              <a:t>10-09-2026</a:t>
            </a:fld>
            <a:endParaRPr/>
          </a:p>
        </p:txBody>
      </p:sp>
      <p:sp>
        <p:nvSpPr>
          <p:cNvPr id="489" name="Google Shape;489;g242571989b7_0_239"/>
          <p:cNvSpPr txBox="1">
            <a:spLocks noGrp="1"/>
          </p:cNvSpPr>
          <p:nvPr>
            <p:ph type="ftr" idx="11"/>
          </p:nvPr>
        </p:nvSpPr>
        <p:spPr>
          <a:xfrm>
            <a:off x="4648200" y="6356350"/>
            <a:ext cx="2895600" cy="365100"/>
          </a:xfrm>
          <a:prstGeom prst="rect">
            <a:avLst/>
          </a:prstGeom>
          <a:noFill/>
          <a:ln>
            <a:noFill/>
          </a:ln>
        </p:spPr>
        <p:txBody>
          <a:bodyPr spcFirstLastPara="1" vert="horz" wrap="square" lIns="91425" tIns="45700" rIns="91425" bIns="45700" rtlCol="0" anchor="ctr" anchorCtr="0">
            <a:noAutofit/>
          </a:bodyPr>
          <a:lstStyle/>
          <a:p>
            <a:r>
              <a:rPr lang="en-US"/>
              <a:t>Internet of Things</a:t>
            </a:r>
            <a:endParaRPr/>
          </a:p>
        </p:txBody>
      </p:sp>
      <p:sp>
        <p:nvSpPr>
          <p:cNvPr id="490" name="Google Shape;490;g242571989b7_0_239"/>
          <p:cNvSpPr txBox="1">
            <a:spLocks noGrp="1"/>
          </p:cNvSpPr>
          <p:nvPr>
            <p:ph type="sldNum" idx="12"/>
          </p:nvPr>
        </p:nvSpPr>
        <p:spPr>
          <a:xfrm>
            <a:off x="8077200" y="6356350"/>
            <a:ext cx="2133600" cy="365100"/>
          </a:xfrm>
          <a:prstGeom prst="rect">
            <a:avLst/>
          </a:prstGeom>
          <a:noFill/>
          <a:ln>
            <a:noFill/>
          </a:ln>
        </p:spPr>
        <p:txBody>
          <a:bodyPr spcFirstLastPara="1" vert="horz" wrap="square" lIns="91425" tIns="45700" rIns="91425" bIns="45700" rtlCol="0" anchor="ctr" anchorCtr="0">
            <a:noAutofit/>
          </a:bodyPr>
          <a:lstStyle/>
          <a:p>
            <a:pPr>
              <a:buClr>
                <a:srgbClr val="000000"/>
              </a:buClr>
            </a:pPr>
            <a:fld id="{00000000-1234-1234-1234-123412341234}" type="slidenum">
              <a:rPr lang="en-US"/>
              <a:pPr>
                <a:buClr>
                  <a:srgbClr val="000000"/>
                </a:buClr>
              </a:pPr>
              <a:t>52</a:t>
            </a:fld>
            <a:endParaRPr/>
          </a:p>
        </p:txBody>
      </p:sp>
      <p:pic>
        <p:nvPicPr>
          <p:cNvPr id="491" name="Google Shape;491;g242571989b7_0_239"/>
          <p:cNvPicPr preferRelativeResize="0"/>
          <p:nvPr/>
        </p:nvPicPr>
        <p:blipFill rotWithShape="1">
          <a:blip r:embed="rId3">
            <a:alphaModFix/>
          </a:blip>
          <a:srcRect/>
          <a:stretch/>
        </p:blipFill>
        <p:spPr>
          <a:xfrm>
            <a:off x="3276600" y="2438401"/>
            <a:ext cx="4888418" cy="2083341"/>
          </a:xfrm>
          <a:prstGeom prst="rect">
            <a:avLst/>
          </a:prstGeom>
          <a:noFill/>
          <a:ln>
            <a:noFill/>
          </a:ln>
        </p:spPr>
      </p:pic>
    </p:spTree>
    <p:extLst>
      <p:ext uri="{BB962C8B-B14F-4D97-AF65-F5344CB8AC3E}">
        <p14:creationId xmlns:p14="http://schemas.microsoft.com/office/powerpoint/2010/main" val="870439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1317</TotalTime>
  <Words>1867</Words>
  <Application>Microsoft Office PowerPoint</Application>
  <PresentationFormat>Widescreen</PresentationFormat>
  <Paragraphs>356</Paragraphs>
  <Slides>52</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Calibri Light</vt:lpstr>
      <vt:lpstr>Roboto</vt:lpstr>
      <vt:lpstr>Office Theme</vt:lpstr>
      <vt:lpstr>Internet of Things: Protocols for IoT- Messaging and Transport Lect # 13 - 15</vt:lpstr>
      <vt:lpstr>Introduction</vt:lpstr>
      <vt:lpstr>MQTT</vt:lpstr>
      <vt:lpstr>MQTT</vt:lpstr>
      <vt:lpstr>Example: MQTT broker</vt:lpstr>
      <vt:lpstr> Characteristics of MQTT </vt:lpstr>
      <vt:lpstr>MQTT Architecture</vt:lpstr>
      <vt:lpstr>Message</vt:lpstr>
      <vt:lpstr> MQTT Message Format </vt:lpstr>
      <vt:lpstr>MQTT Packet Structure</vt:lpstr>
      <vt:lpstr>Fixed Header -2 bytes</vt:lpstr>
      <vt:lpstr>MQTT Control Packet Types (4 bits)</vt:lpstr>
      <vt:lpstr>Fixed Header: Remaining Length </vt:lpstr>
      <vt:lpstr>Variable Header</vt:lpstr>
      <vt:lpstr>Example: Packet identifier field</vt:lpstr>
      <vt:lpstr>Key points related to the packet identifier field:</vt:lpstr>
      <vt:lpstr>Payload</vt:lpstr>
      <vt:lpstr>PowerPoint Presentation</vt:lpstr>
      <vt:lpstr>Client</vt:lpstr>
      <vt:lpstr>Example: Client &amp; Broker Architecture</vt:lpstr>
      <vt:lpstr>Example: MQTT implementation</vt:lpstr>
      <vt:lpstr>MQTT Public / Subscribe Pattern</vt:lpstr>
      <vt:lpstr>Ex: MQTT Pub/Sub Architecture</vt:lpstr>
      <vt:lpstr>Ex: MQTT Pub/Sub Architecture</vt:lpstr>
      <vt:lpstr>Public / Subscribe Pattern</vt:lpstr>
      <vt:lpstr>Message Filtering</vt:lpstr>
      <vt:lpstr>TOPIC</vt:lpstr>
      <vt:lpstr>Operations of MQTT Client</vt:lpstr>
      <vt:lpstr>Operations of MQTT Client</vt:lpstr>
      <vt:lpstr>Operations of MQTT Client</vt:lpstr>
      <vt:lpstr>Operations of MQTT Client</vt:lpstr>
      <vt:lpstr>MQTT Broker:</vt:lpstr>
      <vt:lpstr>MQTT Connection</vt:lpstr>
      <vt:lpstr> MQTT CONNECT </vt:lpstr>
      <vt:lpstr> MQTT CONNECT </vt:lpstr>
      <vt:lpstr>MQTT CONNECT</vt:lpstr>
      <vt:lpstr>MQTT Broker</vt:lpstr>
      <vt:lpstr>Ex: CONNACK MSG</vt:lpstr>
      <vt:lpstr>MQTT Messages Publish:</vt:lpstr>
      <vt:lpstr>MQTT Publish</vt:lpstr>
      <vt:lpstr>MQTT Publish</vt:lpstr>
      <vt:lpstr>MQTT Publish</vt:lpstr>
      <vt:lpstr>Ex: PUBLISH</vt:lpstr>
      <vt:lpstr>MQTT Subscribe</vt:lpstr>
      <vt:lpstr>MQTT Subscribe</vt:lpstr>
      <vt:lpstr>MQTT SUBACK</vt:lpstr>
      <vt:lpstr>MQTT SUBACK</vt:lpstr>
      <vt:lpstr>MQTT SUBACK</vt:lpstr>
      <vt:lpstr>MQTT UNSUBSCRIBE</vt:lpstr>
      <vt:lpstr>MQTT UNSUBSCRIBE</vt:lpstr>
      <vt:lpstr>MQTT UNSUBACK</vt:lpstr>
      <vt:lpstr>Ex: UNSUBSCRIBE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ARM Microcontroller Lect #8</dc:title>
  <dc:creator>suchismita chinara</dc:creator>
  <cp:lastModifiedBy>admin</cp:lastModifiedBy>
  <cp:revision>12</cp:revision>
  <dcterms:created xsi:type="dcterms:W3CDTF">2021-09-23T10:31:20Z</dcterms:created>
  <dcterms:modified xsi:type="dcterms:W3CDTF">2026-09-10T08:41:29Z</dcterms:modified>
</cp:coreProperties>
</file>